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448" r:id="rId5"/>
    <p:sldId id="523" r:id="rId6"/>
    <p:sldId id="524" r:id="rId7"/>
    <p:sldId id="452" r:id="rId8"/>
    <p:sldId id="525" r:id="rId9"/>
    <p:sldId id="473" r:id="rId10"/>
    <p:sldId id="537" r:id="rId11"/>
    <p:sldId id="263" r:id="rId12"/>
    <p:sldId id="468" r:id="rId13"/>
    <p:sldId id="476" r:id="rId14"/>
    <p:sldId id="538" r:id="rId15"/>
    <p:sldId id="527" r:id="rId16"/>
    <p:sldId id="267" r:id="rId17"/>
    <p:sldId id="520" r:id="rId18"/>
    <p:sldId id="539" r:id="rId19"/>
    <p:sldId id="531" r:id="rId20"/>
    <p:sldId id="530" r:id="rId21"/>
    <p:sldId id="298" r:id="rId22"/>
    <p:sldId id="270" r:id="rId23"/>
    <p:sldId id="528" r:id="rId24"/>
    <p:sldId id="540" r:id="rId25"/>
    <p:sldId id="301" r:id="rId26"/>
    <p:sldId id="469" r:id="rId27"/>
    <p:sldId id="529" r:id="rId28"/>
    <p:sldId id="479" r:id="rId29"/>
    <p:sldId id="449" r:id="rId30"/>
    <p:sldId id="466" r:id="rId31"/>
    <p:sldId id="547" r:id="rId32"/>
    <p:sldId id="500" r:id="rId33"/>
    <p:sldId id="501" r:id="rId34"/>
    <p:sldId id="499" r:id="rId35"/>
    <p:sldId id="541" r:id="rId36"/>
    <p:sldId id="542" r:id="rId37"/>
    <p:sldId id="509" r:id="rId38"/>
    <p:sldId id="510" r:id="rId39"/>
    <p:sldId id="467" r:id="rId40"/>
    <p:sldId id="548" r:id="rId41"/>
    <p:sldId id="544" r:id="rId42"/>
    <p:sldId id="543" r:id="rId43"/>
    <p:sldId id="534" r:id="rId44"/>
    <p:sldId id="535" r:id="rId45"/>
    <p:sldId id="536" r:id="rId46"/>
    <p:sldId id="549" r:id="rId47"/>
    <p:sldId id="545" r:id="rId48"/>
    <p:sldId id="489" r:id="rId49"/>
    <p:sldId id="495" r:id="rId50"/>
    <p:sldId id="546" r:id="rId51"/>
    <p:sldId id="496" r:id="rId52"/>
    <p:sldId id="457" r:id="rId53"/>
    <p:sldId id="551" r:id="rId54"/>
    <p:sldId id="553" r:id="rId55"/>
    <p:sldId id="554" r:id="rId56"/>
    <p:sldId id="459" r:id="rId57"/>
    <p:sldId id="505" r:id="rId58"/>
    <p:sldId id="506" r:id="rId59"/>
    <p:sldId id="507" r:id="rId60"/>
    <p:sldId id="508" r:id="rId6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6224" autoAdjust="0"/>
  </p:normalViewPr>
  <p:slideViewPr>
    <p:cSldViewPr snapToGrid="0">
      <p:cViewPr varScale="1">
        <p:scale>
          <a:sx n="77" d="100"/>
          <a:sy n="77" d="100"/>
        </p:scale>
        <p:origin x="67" y="1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200" d="100"/>
          <a:sy n="200" d="100"/>
        </p:scale>
        <p:origin x="-52" y="-1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AC0557F-B127-4289-83F6-F07BDED6678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2024/11/1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AAB5006-37C4-4F15-A229-F117EDDCF8C7}" type="datetime1">
              <a:rPr lang="zh-CN" altLang="en-US" smtClean="0"/>
              <a:pPr/>
              <a:t>2024/11/1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530193B-564F-4854-8A52-728F3FB19C8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5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51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06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246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084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39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32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737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64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715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5721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621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4854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60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744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563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699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235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593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78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843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55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601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293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189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130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5413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50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5849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632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784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730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057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9787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0543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1919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3911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827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2638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5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6492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6669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695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600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890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7374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658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包含小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-9832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36464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1904" y="4640707"/>
            <a:ext cx="3401478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84477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-9832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00453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长方形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5" y="31844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单击以编辑母版副标题样式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包含大图像的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照片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 rtlCol="0"/>
          <a:lstStyle>
            <a:lvl1pPr marL="0" indent="0" algn="r">
              <a:buNone/>
              <a:defRPr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照片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9" name="图片占位符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 rtlCol="0"/>
          <a:lstStyle>
            <a:lvl1pPr marL="0" indent="0">
              <a:buNone/>
              <a:defRPr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副标题的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</a:p>
        </p:txBody>
      </p:sp>
      <p:sp>
        <p:nvSpPr>
          <p:cNvPr id="3" name="比较左侧占位符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500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12" name="比较左侧占位符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8" name="文本占位符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2020359"/>
            <a:ext cx="4500000" cy="417089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CN" altLang="en-US" noProof="0"/>
              <a:t>输入题注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感谢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谢谢！</a:t>
            </a:r>
            <a:endParaRPr lang="zh-CN" altLang="en-ZA" noProof="0"/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占位符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 rtlCol="0"/>
          <a:lstStyle>
            <a:lvl1pPr marL="0" indent="0" algn="r">
              <a:buNone/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全名</a:t>
            </a:r>
            <a:endParaRPr lang="zh-CN" altLang="en-ZA" noProof="0"/>
          </a:p>
        </p:txBody>
      </p: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电话号码</a:t>
            </a:r>
            <a:endParaRPr lang="zh-CN" altLang="en-ZA" noProof="0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电子邮件或社交媒体图柄</a:t>
            </a:r>
            <a:endParaRPr lang="zh-CN" altLang="en-ZA" noProof="0"/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公司网站</a:t>
            </a:r>
            <a:endParaRPr lang="zh-CN" altLang="en-ZA" noProof="0"/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副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  <a:endParaRPr lang="zh-CN" altLang="en-ZA" noProof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  <a:endParaRPr lang="zh-CN" altLang="en-ZA" noProof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  <a:endParaRPr lang="zh-CN" altLang="en-ZA" noProof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13" name="文本占位符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15" name="文本占位符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17" name="文本占位符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ZA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​​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CN" altLang="en-US" noProof="0"/>
              <a:t>副标题</a:t>
            </a:r>
            <a:endParaRPr lang="zh-CN" altLang="en-ZA" noProof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 userDrawn="1"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ZA" noProof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75" y="993303"/>
            <a:ext cx="5053936" cy="2513468"/>
          </a:xfrm>
        </p:spPr>
        <p:txBody>
          <a:bodyPr rtlCol="0"/>
          <a:lstStyle>
            <a:lvl1pPr>
              <a:defRPr sz="5400" cap="none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777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046375"/>
            <a:ext cx="9198000" cy="513058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00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046376"/>
            <a:ext cx="4435831" cy="513058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94169" y="1046376"/>
            <a:ext cx="4435831" cy="5130588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43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8" name="文本占位符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内容占位符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1" y="2096752"/>
            <a:ext cx="4434840" cy="4092911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195160" y="2096752"/>
            <a:ext cx="4434840" cy="4092911"/>
          </a:xfrm>
        </p:spPr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346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0722" y="457201"/>
            <a:ext cx="6023727" cy="5726784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72000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2" name="图片占位符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788021" y="457201"/>
            <a:ext cx="5949868" cy="5726784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</p:spTree>
    <p:extLst>
      <p:ext uri="{BB962C8B-B14F-4D97-AF65-F5344CB8AC3E}">
        <p14:creationId xmlns:p14="http://schemas.microsoft.com/office/powerpoint/2010/main" val="3021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53779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添加页脚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45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t">
              <a:defRPr/>
            </a:pPr>
            <a:fld id="{BB962C8B-B14F-4D97-AF65-F5344CB8AC3E}" type="datetime1">
              <a:rPr lang="zh-CN" altLang="en-US" smtClean="0"/>
              <a:pPr fontAlgn="t">
                <a:defRPr/>
              </a:pPr>
              <a:t>2024/11/1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t"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t">
              <a:defRPr/>
            </a:pPr>
            <a:fld id="{D49A12FA-B72D-4FDB-8FDC-56B7188F2B65}" type="slidenum">
              <a:rPr lang="zh-CN" altLang="en-US" smtClean="0"/>
              <a:pPr fontAlgn="t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51289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 userDrawn="1"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zh-CN" altLang="en-US" noProof="0"/>
              <a:t>单击以编辑页标题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0"/>
              <a:t>添加页脚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9B51A1E-902D-48AF-9020-955120F399B6}" type="slidenum">
              <a:rPr lang="en-ZA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长方形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6" r:id="rId10"/>
    <p:sldLayoutId id="2147483657" r:id="rId11"/>
    <p:sldLayoutId id="2147483654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55" r:id="rId20"/>
    <p:sldLayoutId id="2147483673" r:id="rId21"/>
    <p:sldLayoutId id="2147483674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2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2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2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2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aike.baidu.com/item/%E5%BC%A0%E4%B8%98%E5%BB%BA/10246238?fromModule=lemma_inlink" TargetMode="External"/><Relationship Id="rId4" Type="http://schemas.openxmlformats.org/officeDocument/2006/relationships/image" Target="../media/image12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2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12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12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CD0F35-73BA-42C0-BBCA-DD084CDC5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87" y="207168"/>
            <a:ext cx="23431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414489D-ADC0-4B70-AEC4-1297459E84C6}"/>
              </a:ext>
            </a:extLst>
          </p:cNvPr>
          <p:cNvSpPr txBox="1"/>
          <p:nvPr/>
        </p:nvSpPr>
        <p:spPr>
          <a:xfrm>
            <a:off x="1328738" y="1753100"/>
            <a:ext cx="4721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 </a:t>
            </a:r>
            <a:r>
              <a:rPr lang="zh-CN" altLang="en-US" sz="5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分支与循环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7F9669-9F70-4906-BBBB-35F8E1280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49" y="3233520"/>
            <a:ext cx="10683802" cy="1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8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C3F2D8D-9A41-4A79-BCF8-9E8084623AE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388736" y="506259"/>
            <a:ext cx="9197975" cy="431800"/>
          </a:xfrm>
        </p:spPr>
        <p:txBody>
          <a:bodyPr/>
          <a:lstStyle/>
          <a:p>
            <a:r>
              <a:rPr lang="zh-CN" altLang="en-US" sz="2400" b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算法的基本控制结构</a:t>
            </a:r>
            <a:endParaRPr lang="zh-CN" altLang="en-US" sz="2400" b="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026" name="Picture 2" descr="03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8" y="1309368"/>
            <a:ext cx="10891758" cy="500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9481932" y="6254637"/>
            <a:ext cx="2504661" cy="52879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53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010477" y="1349124"/>
            <a:ext cx="875968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sym typeface="+mn-ea"/>
              </a:rPr>
              <a:t>算法的描述方法</a:t>
            </a:r>
            <a:endParaRPr lang="en-US" altLang="zh-CN" sz="2800" dirty="0">
              <a:solidFill>
                <a:schemeClr val="tx2"/>
              </a:solidFill>
              <a:sym typeface="+mn-ea"/>
            </a:endParaRPr>
          </a:p>
          <a:p>
            <a:pPr lvl="1"/>
            <a:endParaRPr lang="en-US" altLang="zh-CN" sz="2800" dirty="0">
              <a:sym typeface="+mn-ea"/>
            </a:endParaRPr>
          </a:p>
          <a:p>
            <a:pPr lvl="1"/>
            <a:r>
              <a:rPr lang="zh-CN" altLang="en-US" sz="2800" dirty="0">
                <a:sym typeface="+mn-ea"/>
              </a:rPr>
              <a:t>流程图</a:t>
            </a:r>
            <a:endParaRPr lang="en-US" altLang="zh-CN" sz="2800" dirty="0">
              <a:sym typeface="+mn-ea"/>
            </a:endParaRPr>
          </a:p>
          <a:p>
            <a:pPr lvl="1"/>
            <a:endParaRPr lang="en-US" altLang="zh-CN" sz="3200" dirty="0">
              <a:sym typeface="+mn-ea"/>
            </a:endParaRPr>
          </a:p>
          <a:p>
            <a:pPr lvl="1"/>
            <a:endParaRPr lang="en-US" altLang="zh-CN" dirty="0">
              <a:sym typeface="+mn-ea"/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开始/结束                  执行                                             判断                           联系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n-ZA" altLang="zh-CN" noProof="0" smtClean="0"/>
              <a:pPr rtl="0"/>
              <a:t>3</a:t>
            </a:fld>
            <a:endParaRPr lang="zh-CN" altLang="en-US" noProof="0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2388736" y="506259"/>
            <a:ext cx="9197975" cy="431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算法的基本控制结构</a:t>
            </a:r>
            <a:endParaRPr lang="zh-CN" altLang="en-US" sz="2400" b="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9481932" y="6254637"/>
            <a:ext cx="2504661" cy="52879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153480" y="2795736"/>
            <a:ext cx="1447800" cy="609600"/>
          </a:xfrm>
          <a:prstGeom prst="flowChartAlternate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latin typeface="Tahoma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3058480" y="2795736"/>
            <a:ext cx="1828800" cy="609600"/>
          </a:xfrm>
          <a:prstGeom prst="flowChartProcess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latin typeface="Tahoma" pitchFamily="34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344480" y="2723728"/>
            <a:ext cx="2590800" cy="762000"/>
          </a:xfrm>
          <a:prstGeom prst="flowChartDecision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latin typeface="Tahoma" pitchFamily="34" charset="0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8544880" y="2867744"/>
            <a:ext cx="457200" cy="457200"/>
          </a:xfrm>
          <a:prstGeom prst="flowChartConnector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64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143125" y="408623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else</a:t>
            </a: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0C64D8E-BEF6-4064-A4C3-5AB550B5A7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133683"/>
              </p:ext>
            </p:extLst>
          </p:nvPr>
        </p:nvGraphicFramePr>
        <p:xfrm>
          <a:off x="1363464" y="1406995"/>
          <a:ext cx="3311723" cy="99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" r:id="rId6" imgW="1854200" imgH="457200" progId="Equation.DSMT4">
                  <p:embed/>
                </p:oleObj>
              </mc:Choice>
              <mc:Fallback>
                <p:oleObj r:id="rId6" imgW="1854200" imgH="457200" progId="Equation.DSMT4">
                  <p:embed/>
                  <p:pic>
                    <p:nvPicPr>
                      <p:cNvPr id="26629" name="对象 266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63464" y="1406995"/>
                        <a:ext cx="3311723" cy="99781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>
            <a:extLst>
              <a:ext uri="{FF2B5EF4-FFF2-40B4-BE49-F238E27FC236}">
                <a16:creationId xmlns:a16="http://schemas.microsoft.com/office/drawing/2014/main" id="{40AB5E52-C093-4347-80E5-54E493587299}"/>
              </a:ext>
            </a:extLst>
          </p:cNvPr>
          <p:cNvGrpSpPr/>
          <p:nvPr/>
        </p:nvGrpSpPr>
        <p:grpSpPr>
          <a:xfrm>
            <a:off x="539536" y="2768631"/>
            <a:ext cx="5476973" cy="3757165"/>
            <a:chOff x="986797" y="2933700"/>
            <a:chExt cx="5476973" cy="3757165"/>
          </a:xfrm>
        </p:grpSpPr>
        <p:sp>
          <p:nvSpPr>
            <p:cNvPr id="23" name="AutoShape 4">
              <a:extLst>
                <a:ext uri="{FF2B5EF4-FFF2-40B4-BE49-F238E27FC236}">
                  <a16:creationId xmlns:a16="http://schemas.microsoft.com/office/drawing/2014/main" id="{AFC5D0D4-2A07-44A8-BDDE-1E1DF40A3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402" y="2933700"/>
              <a:ext cx="1447800" cy="609600"/>
            </a:xfrm>
            <a:prstGeom prst="flowChartAlternateProcess">
              <a:avLst/>
            </a:prstGeom>
            <a:solidFill>
              <a:schemeClr val="accent1"/>
            </a:solidFill>
            <a:ln w="349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zh-CN" altLang="en-US" dirty="0">
                  <a:latin typeface="Tahoma" pitchFamily="34" charset="0"/>
                </a:rPr>
                <a:t>    输入</a:t>
              </a:r>
              <a:r>
                <a:rPr lang="en-US" altLang="zh-CN" dirty="0">
                  <a:latin typeface="Tahoma" pitchFamily="34" charset="0"/>
                </a:rPr>
                <a:t> x</a:t>
              </a:r>
              <a:endParaRPr lang="zh-CN" altLang="en-US" dirty="0">
                <a:latin typeface="Tahoma" pitchFamily="34" charset="0"/>
              </a:endParaRPr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08548266-525F-4870-AE17-1C80C72BC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970" y="4959029"/>
              <a:ext cx="1828800" cy="609600"/>
            </a:xfrm>
            <a:prstGeom prst="flowChartProcess">
              <a:avLst/>
            </a:prstGeom>
            <a:solidFill>
              <a:schemeClr val="accent1"/>
            </a:solidFill>
            <a:ln w="349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 dirty="0">
                  <a:latin typeface="Tahoma" pitchFamily="34" charset="0"/>
                </a:rPr>
                <a:t>Y=x*x+10*x+20</a:t>
              </a:r>
              <a:endParaRPr lang="zh-CN" altLang="en-US" dirty="0">
                <a:latin typeface="Tahoma" pitchFamily="34" charset="0"/>
              </a:endParaRPr>
            </a:p>
          </p:txBody>
        </p:sp>
        <p:sp>
          <p:nvSpPr>
            <p:cNvPr id="25" name="AutoShape 6">
              <a:extLst>
                <a:ext uri="{FF2B5EF4-FFF2-40B4-BE49-F238E27FC236}">
                  <a16:creationId xmlns:a16="http://schemas.microsoft.com/office/drawing/2014/main" id="{064E39C0-F98D-4A57-9CCD-E65FBBFE5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334" y="3891898"/>
              <a:ext cx="2590800" cy="762000"/>
            </a:xfrm>
            <a:prstGeom prst="flowChartDecision">
              <a:avLst/>
            </a:prstGeom>
            <a:solidFill>
              <a:schemeClr val="accent1"/>
            </a:solidFill>
            <a:ln w="349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 dirty="0">
                  <a:latin typeface="Tahoma" pitchFamily="34" charset="0"/>
                </a:rPr>
                <a:t>   X&gt;=0</a:t>
              </a:r>
              <a:endParaRPr lang="zh-CN" altLang="en-US" dirty="0">
                <a:latin typeface="Tahoma" pitchFamily="34" charset="0"/>
              </a:endParaRPr>
            </a:p>
          </p:txBody>
        </p:sp>
        <p:sp>
          <p:nvSpPr>
            <p:cNvPr id="26" name="AutoShape 5">
              <a:extLst>
                <a:ext uri="{FF2B5EF4-FFF2-40B4-BE49-F238E27FC236}">
                  <a16:creationId xmlns:a16="http://schemas.microsoft.com/office/drawing/2014/main" id="{506D577B-ADA1-46C0-9D87-A37662A47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7480" y="6081265"/>
              <a:ext cx="1828800" cy="609600"/>
            </a:xfrm>
            <a:prstGeom prst="flowChartProcess">
              <a:avLst/>
            </a:prstGeom>
            <a:solidFill>
              <a:schemeClr val="accent1"/>
            </a:solidFill>
            <a:ln w="349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Tahoma" pitchFamily="34" charset="0"/>
                </a:rPr>
                <a:t>输出</a:t>
              </a:r>
              <a:r>
                <a:rPr lang="en-US" altLang="zh-CN" dirty="0">
                  <a:latin typeface="Tahoma" pitchFamily="34" charset="0"/>
                </a:rPr>
                <a:t>y</a:t>
              </a:r>
              <a:endParaRPr lang="zh-CN" altLang="en-US" dirty="0">
                <a:latin typeface="Tahoma" pitchFamily="34" charset="0"/>
              </a:endParaRPr>
            </a:p>
          </p:txBody>
        </p:sp>
        <p:sp>
          <p:nvSpPr>
            <p:cNvPr id="27" name="AutoShape 5">
              <a:extLst>
                <a:ext uri="{FF2B5EF4-FFF2-40B4-BE49-F238E27FC236}">
                  <a16:creationId xmlns:a16="http://schemas.microsoft.com/office/drawing/2014/main" id="{A9E55A74-E96F-4510-A558-FF1E07308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797" y="4859359"/>
              <a:ext cx="1828800" cy="609600"/>
            </a:xfrm>
            <a:prstGeom prst="flowChartProcess">
              <a:avLst/>
            </a:prstGeom>
            <a:solidFill>
              <a:schemeClr val="accent1"/>
            </a:solidFill>
            <a:ln w="34925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en-US" altLang="zh-CN" dirty="0">
                  <a:latin typeface="Tahoma" pitchFamily="34" charset="0"/>
                </a:rPr>
                <a:t>Y=0</a:t>
              </a:r>
              <a:endParaRPr lang="zh-CN" altLang="en-US" dirty="0">
                <a:latin typeface="Tahoma" pitchFamily="34" charset="0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5EC29BF-67EE-4E35-8B45-A99B91758C8F}"/>
                </a:ext>
              </a:extLst>
            </p:cNvPr>
            <p:cNvCxnSpPr>
              <a:stCxn id="23" idx="2"/>
              <a:endCxn id="25" idx="0"/>
            </p:cNvCxnSpPr>
            <p:nvPr/>
          </p:nvCxnSpPr>
          <p:spPr>
            <a:xfrm flipH="1">
              <a:off x="3610734" y="3543300"/>
              <a:ext cx="15568" cy="348598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C8E92F9-1D63-4BDA-AF44-867FE5449AFB}"/>
                </a:ext>
              </a:extLst>
            </p:cNvPr>
            <p:cNvCxnSpPr>
              <a:stCxn id="25" idx="3"/>
            </p:cNvCxnSpPr>
            <p:nvPr/>
          </p:nvCxnSpPr>
          <p:spPr>
            <a:xfrm>
              <a:off x="4906134" y="4272898"/>
              <a:ext cx="778229" cy="0"/>
            </a:xfrm>
            <a:prstGeom prst="straightConnector1">
              <a:avLst/>
            </a:prstGeom>
            <a:ln w="349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4CB19E2-C881-403C-B7F3-CC919FFA8997}"/>
                </a:ext>
              </a:extLst>
            </p:cNvPr>
            <p:cNvCxnSpPr>
              <a:cxnSpLocks/>
            </p:cNvCxnSpPr>
            <p:nvPr/>
          </p:nvCxnSpPr>
          <p:spPr>
            <a:xfrm>
              <a:off x="1901196" y="4277025"/>
              <a:ext cx="389115" cy="0"/>
            </a:xfrm>
            <a:prstGeom prst="straightConnector1">
              <a:avLst/>
            </a:prstGeom>
            <a:ln w="349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69E91B8-1568-4BCE-86FC-BA743C243F12}"/>
                </a:ext>
              </a:extLst>
            </p:cNvPr>
            <p:cNvCxnSpPr>
              <a:cxnSpLocks/>
            </p:cNvCxnSpPr>
            <p:nvPr/>
          </p:nvCxnSpPr>
          <p:spPr>
            <a:xfrm>
              <a:off x="5684363" y="4256819"/>
              <a:ext cx="0" cy="63622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8173DE9-5CC6-49F0-BC66-CB58BE7B1629}"/>
                </a:ext>
              </a:extLst>
            </p:cNvPr>
            <p:cNvCxnSpPr>
              <a:cxnSpLocks/>
            </p:cNvCxnSpPr>
            <p:nvPr/>
          </p:nvCxnSpPr>
          <p:spPr>
            <a:xfrm>
              <a:off x="1929013" y="4272898"/>
              <a:ext cx="0" cy="58646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F7C365D-0B51-4F2D-B010-09BD18089A65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1901196" y="5468959"/>
              <a:ext cx="1" cy="385086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731FDC7-2E9C-4B01-8A6B-08B1917ABC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4364" y="5584519"/>
              <a:ext cx="1" cy="28924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B15602B7-6616-4310-8CA9-8E2F236DB2FF}"/>
                </a:ext>
              </a:extLst>
            </p:cNvPr>
            <p:cNvCxnSpPr/>
            <p:nvPr/>
          </p:nvCxnSpPr>
          <p:spPr>
            <a:xfrm>
              <a:off x="1901196" y="5854045"/>
              <a:ext cx="3783167" cy="0"/>
            </a:xfrm>
            <a:prstGeom prst="line">
              <a:avLst/>
            </a:prstGeom>
            <a:ln w="349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5EBAB63C-18B9-45D5-B37C-135448A06C56}"/>
                </a:ext>
              </a:extLst>
            </p:cNvPr>
            <p:cNvCxnSpPr>
              <a:endCxn id="26" idx="0"/>
            </p:cNvCxnSpPr>
            <p:nvPr/>
          </p:nvCxnSpPr>
          <p:spPr>
            <a:xfrm>
              <a:off x="3591880" y="5854045"/>
              <a:ext cx="0" cy="22722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占位符 26626">
            <a:extLst>
              <a:ext uri="{FF2B5EF4-FFF2-40B4-BE49-F238E27FC236}">
                <a16:creationId xmlns:a16="http://schemas.microsoft.com/office/drawing/2014/main" id="{1912EA1E-C745-49EF-A0F6-ABBCE85E2819}"/>
              </a:ext>
            </a:extLst>
          </p:cNvPr>
          <p:cNvSpPr txBox="1">
            <a:spLocks/>
          </p:cNvSpPr>
          <p:nvPr/>
        </p:nvSpPr>
        <p:spPr>
          <a:xfrm>
            <a:off x="6902322" y="1406995"/>
            <a:ext cx="2773478" cy="23221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i="0" dirty="0">
                <a:solidFill>
                  <a:schemeClr val="tx1"/>
                </a:solidFill>
              </a:rPr>
              <a:t>if</a:t>
            </a:r>
            <a:r>
              <a:rPr lang="en-US" altLang="zh-CN" sz="2800" i="0" dirty="0">
                <a:solidFill>
                  <a:srgbClr val="FF0000"/>
                </a:solidFill>
              </a:rPr>
              <a:t>(</a:t>
            </a:r>
            <a:r>
              <a:rPr lang="zh-CN" altLang="en-US" sz="2800" i="0" dirty="0">
                <a:solidFill>
                  <a:schemeClr val="tx1"/>
                </a:solidFill>
              </a:rPr>
              <a:t>表达式</a:t>
            </a:r>
            <a:r>
              <a:rPr lang="en-US" altLang="zh-CN" sz="2800" i="0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zh-CN" sz="2800" i="0" dirty="0">
                <a:solidFill>
                  <a:schemeClr val="tx1"/>
                </a:solidFill>
              </a:rPr>
              <a:t>    	     </a:t>
            </a:r>
            <a:r>
              <a:rPr lang="zh-CN" altLang="en-US" sz="2800" i="0" dirty="0">
                <a:solidFill>
                  <a:schemeClr val="tx1"/>
                </a:solidFill>
              </a:rPr>
              <a:t>语句</a:t>
            </a:r>
            <a:r>
              <a:rPr lang="en-US" altLang="zh-CN" sz="2800" i="0" dirty="0">
                <a:solidFill>
                  <a:schemeClr val="tx1"/>
                </a:solidFill>
              </a:rPr>
              <a:t>1</a:t>
            </a:r>
            <a:r>
              <a:rPr lang="zh-CN" altLang="en-US" sz="2800" i="0" dirty="0">
                <a:solidFill>
                  <a:schemeClr val="tx1"/>
                </a:solidFill>
              </a:rPr>
              <a:t>；</a:t>
            </a:r>
          </a:p>
          <a:p>
            <a:r>
              <a:rPr lang="en-US" altLang="zh-CN" sz="2800" i="0" dirty="0">
                <a:solidFill>
                  <a:schemeClr val="tx1"/>
                </a:solidFill>
              </a:rPr>
              <a:t>	</a:t>
            </a:r>
            <a:r>
              <a:rPr lang="en-US" altLang="zh-CN" sz="2800" i="0" dirty="0">
                <a:solidFill>
                  <a:srgbClr val="FF0000"/>
                </a:solidFill>
              </a:rPr>
              <a:t>[</a:t>
            </a:r>
            <a:r>
              <a:rPr lang="en-US" altLang="zh-CN" sz="2800" i="0" dirty="0">
                <a:solidFill>
                  <a:schemeClr val="tx1"/>
                </a:solidFill>
              </a:rPr>
              <a:t>else </a:t>
            </a:r>
          </a:p>
          <a:p>
            <a:r>
              <a:rPr lang="en-US" altLang="zh-CN" sz="2800" i="0" dirty="0">
                <a:solidFill>
                  <a:schemeClr val="tx1"/>
                </a:solidFill>
              </a:rPr>
              <a:t>     	   </a:t>
            </a:r>
            <a:r>
              <a:rPr lang="zh-CN" altLang="en-US" sz="2800" i="0" dirty="0">
                <a:solidFill>
                  <a:schemeClr val="tx1"/>
                </a:solidFill>
              </a:rPr>
              <a:t>语句</a:t>
            </a:r>
            <a:r>
              <a:rPr lang="en-US" altLang="zh-CN" sz="2800" i="0" dirty="0">
                <a:solidFill>
                  <a:schemeClr val="tx1"/>
                </a:solidFill>
              </a:rPr>
              <a:t>2</a:t>
            </a:r>
            <a:r>
              <a:rPr lang="zh-CN" altLang="en-US" sz="2800" i="0" dirty="0">
                <a:solidFill>
                  <a:schemeClr val="tx1"/>
                </a:solidFill>
              </a:rPr>
              <a:t>；</a:t>
            </a:r>
            <a:r>
              <a:rPr lang="en-US" altLang="zh-CN" sz="2800" i="0" dirty="0">
                <a:solidFill>
                  <a:srgbClr val="FF0000"/>
                </a:solidFill>
              </a:rPr>
              <a:t>]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728746C-D9DC-474C-AD4A-ABDC8AF130BA}"/>
              </a:ext>
            </a:extLst>
          </p:cNvPr>
          <p:cNvSpPr txBox="1"/>
          <p:nvPr/>
        </p:nvSpPr>
        <p:spPr>
          <a:xfrm>
            <a:off x="6725481" y="3829895"/>
            <a:ext cx="4319587" cy="1477328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fontAlgn="t"/>
            <a:r>
              <a:rPr lang="en-US" altLang="zh-CN" dirty="0">
                <a:solidFill>
                  <a:schemeClr val="tx1"/>
                </a:solidFill>
              </a:rPr>
              <a:t>if ( x &gt;= 0 )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en-US" altLang="zh-CN" dirty="0"/>
              <a:t> y = x*x + 10 * x + 20 ; 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else</a:t>
            </a:r>
          </a:p>
          <a:p>
            <a:pPr fontAlgn="t"/>
            <a:r>
              <a:rPr lang="en-US" altLang="zh-CN" dirty="0"/>
              <a:t>         y = 0 ;</a:t>
            </a:r>
          </a:p>
          <a:p>
            <a:pPr fontAlgn="t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B908315-CEB5-49FC-9E52-0D5DD828C82E}"/>
              </a:ext>
            </a:extLst>
          </p:cNvPr>
          <p:cNvSpPr txBox="1"/>
          <p:nvPr/>
        </p:nvSpPr>
        <p:spPr>
          <a:xfrm>
            <a:off x="6681614" y="5410271"/>
            <a:ext cx="4363450" cy="1200329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pPr fontAlgn="t"/>
            <a:r>
              <a:rPr lang="zh-CN" altLang="en-US" dirty="0">
                <a:solidFill>
                  <a:schemeClr val="tx1"/>
                </a:solidFill>
              </a:rPr>
              <a:t>或：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y = 0 ;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if ( x &gt;= 0 )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        y = x*x + 10 * x + 20 ;</a:t>
            </a:r>
          </a:p>
        </p:txBody>
      </p:sp>
    </p:spTree>
    <p:extLst>
      <p:ext uri="{BB962C8B-B14F-4D97-AF65-F5344CB8AC3E}">
        <p14:creationId xmlns:p14="http://schemas.microsoft.com/office/powerpoint/2010/main" val="158838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 bldLvl="0" animBg="1"/>
      <p:bldP spid="4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143125" y="408623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else</a:t>
            </a: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AB5026D-1D70-45EB-A9D4-73701021BE17}"/>
              </a:ext>
            </a:extLst>
          </p:cNvPr>
          <p:cNvSpPr txBox="1"/>
          <p:nvPr/>
        </p:nvSpPr>
        <p:spPr>
          <a:xfrm>
            <a:off x="1685925" y="1484118"/>
            <a:ext cx="609719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(表达式) </a:t>
            </a:r>
            <a:endParaRPr lang="en-US" altLang="zh-CN" sz="20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{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...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n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}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else </a:t>
            </a:r>
            <a:endParaRPr lang="en-US" altLang="zh-CN" sz="20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{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...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n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FA544E-6BED-47D3-B1EC-69F9A9EF9DC0}"/>
              </a:ext>
            </a:extLst>
          </p:cNvPr>
          <p:cNvSpPr txBox="1"/>
          <p:nvPr/>
        </p:nvSpPr>
        <p:spPr>
          <a:xfrm>
            <a:off x="5029200" y="1725512"/>
            <a:ext cx="38839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当该表达式的结果为真时，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if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语句的下层代码会被执行。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当下层代码的语句多于 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条时，需要用“</a:t>
            </a:r>
            <a:r>
              <a:rPr lang="en-US" altLang="zh-CN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{ }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”包裹。</a:t>
            </a:r>
            <a:endParaRPr lang="en-US" altLang="zh-CN" sz="24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43125" y="2300140"/>
            <a:ext cx="1646450" cy="12306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143125" y="4157154"/>
            <a:ext cx="1646450" cy="123069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25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165225" y="1058397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else</a:t>
            </a: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7938FEE-92B0-4D9C-B8E4-388A7154DC00}"/>
              </a:ext>
            </a:extLst>
          </p:cNvPr>
          <p:cNvSpPr txBox="1"/>
          <p:nvPr/>
        </p:nvSpPr>
        <p:spPr>
          <a:xfrm>
            <a:off x="1089086" y="1013858"/>
            <a:ext cx="100911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例：输入一个年份，判断该年份是否为闰年。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公历里，闰年的判断口决如下：四年一闰，百年不闰，四百年再闰；具体地，年份满足下述条件之一，即为闰年：</a:t>
            </a:r>
            <a:r>
              <a:rPr lang="zh-CN" altLang="en-US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①能被 </a:t>
            </a:r>
            <a:r>
              <a:rPr lang="en-US" altLang="zh-CN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 </a:t>
            </a:r>
            <a:r>
              <a:rPr lang="zh-CN" altLang="en-US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整除且不能被 </a:t>
            </a:r>
            <a:r>
              <a:rPr lang="en-US" altLang="zh-CN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100 </a:t>
            </a:r>
            <a:r>
              <a:rPr lang="zh-CN" altLang="en-US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整除；②能够 </a:t>
            </a:r>
            <a:r>
              <a:rPr lang="en-US" altLang="zh-CN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400 </a:t>
            </a:r>
            <a:r>
              <a:rPr lang="zh-CN" altLang="en-US" sz="20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整除。 </a:t>
            </a:r>
            <a:endParaRPr lang="en-US" altLang="zh-CN" sz="20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050" name="Picture 2" descr="https://img2018.cnblogs.com/blog/1619455/201903/1619455-20190305171008247-102369468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6" r="14692" b="4683"/>
          <a:stretch/>
        </p:blipFill>
        <p:spPr bwMode="auto">
          <a:xfrm>
            <a:off x="909978" y="2038084"/>
            <a:ext cx="3888366" cy="474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80CFB7-D46D-4052-ABE3-B9CA6D40F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1793" y="3379340"/>
            <a:ext cx="5965825" cy="145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165225" y="1058397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else</a:t>
            </a: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C04754-492F-46FF-A438-FBD4C79785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225" y="1291679"/>
            <a:ext cx="8770573" cy="542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0721"/>
          <p:cNvSpPr>
            <a:spLocks noGrp="1"/>
          </p:cNvSpPr>
          <p:nvPr>
            <p:ph type="title"/>
          </p:nvPr>
        </p:nvSpPr>
        <p:spPr>
          <a:xfrm>
            <a:off x="1016461" y="1221544"/>
            <a:ext cx="9198000" cy="432000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Himalaya" panose="01010100010101010101" pitchFamily="2" charset="0"/>
              </a:rPr>
              <a:t>几个要注意的地方：</a:t>
            </a:r>
          </a:p>
        </p:txBody>
      </p:sp>
      <p:sp>
        <p:nvSpPr>
          <p:cNvPr id="11267" name="文本占位符 30722"/>
          <p:cNvSpPr>
            <a:spLocks noGrp="1"/>
          </p:cNvSpPr>
          <p:nvPr>
            <p:ph idx="1"/>
          </p:nvPr>
        </p:nvSpPr>
        <p:spPr>
          <a:xfrm>
            <a:off x="1811337" y="1816690"/>
            <a:ext cx="8569325" cy="4618037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比较浮点数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不是：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( x == 0.0 )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应为：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( x&gt;=-0.00001 &amp;&amp; x &lt;= 0.00001 ) 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容易将“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==”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误写为“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=” 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if ( x = 99 )  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写成：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( 99 == x )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		cout &lt;&lt; "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高分啊！祝贺你！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; 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关于真值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if ( value )    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最好为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( value != 0 ) </a:t>
            </a:r>
          </a:p>
          <a:p>
            <a:pPr marL="609600" indent="-609600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cout &lt;&lt; "OK! " ;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126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t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D0B6BF-2652-4338-8993-CDBC11FCFB1F}"/>
              </a:ext>
            </a:extLst>
          </p:cNvPr>
          <p:cNvCxnSpPr>
            <a:cxnSpLocks/>
          </p:cNvCxnSpPr>
          <p:nvPr/>
        </p:nvCxnSpPr>
        <p:spPr>
          <a:xfrm>
            <a:off x="1165225" y="1058397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B9B1266-5275-4F58-8FD1-86711A7E38B3}"/>
              </a:ext>
            </a:extLst>
          </p:cNvPr>
          <p:cNvSpPr txBox="1"/>
          <p:nvPr/>
        </p:nvSpPr>
        <p:spPr>
          <a:xfrm>
            <a:off x="2237351" y="433585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if else</a:t>
            </a:r>
          </a:p>
        </p:txBody>
      </p:sp>
      <p:pic>
        <p:nvPicPr>
          <p:cNvPr id="7" name="图形 6" descr="打开的书">
            <a:extLst>
              <a:ext uri="{FF2B5EF4-FFF2-40B4-BE49-F238E27FC236}">
                <a16:creationId xmlns:a16="http://schemas.microsoft.com/office/drawing/2014/main" id="{3D3E9857-DDD6-4812-8B97-D3890E765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456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C3.2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多分支选择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A0142BA-BF2B-4D5B-8D5C-AA34102A5EE2}"/>
              </a:ext>
            </a:extLst>
          </p:cNvPr>
          <p:cNvSpPr txBox="1"/>
          <p:nvPr/>
        </p:nvSpPr>
        <p:spPr>
          <a:xfrm>
            <a:off x="1327587" y="1172937"/>
            <a:ext cx="60903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zh-CN"/>
            </a:defPPr>
            <a:lvl1pPr>
              <a:defRPr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en-US" altLang="zh-CN" sz="2400" dirty="0"/>
              <a:t>else if </a:t>
            </a:r>
            <a:r>
              <a:rPr lang="zh-CN" altLang="en-US" sz="2400" dirty="0"/>
              <a:t>语句可以帮助我们实现程序的多分支结构。其结构如下</a:t>
            </a:r>
          </a:p>
        </p:txBody>
      </p:sp>
      <p:pic>
        <p:nvPicPr>
          <p:cNvPr id="11" name="Picture 2" descr="030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207" y="1077844"/>
            <a:ext cx="4349639" cy="5437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1936461" y="2371859"/>
            <a:ext cx="3264024" cy="3960440"/>
          </a:xfrm>
          <a:prstGeom prst="rect">
            <a:avLst/>
          </a:prstGeom>
          <a:ln w="25400">
            <a:solidFill>
              <a:srgbClr val="0000FF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 if </a:t>
            </a:r>
            <a:r>
              <a:rPr lang="zh-CN" altLang="zh-CN" sz="2800" dirty="0">
                <a:solidFill>
                  <a:srgbClr val="FF0000"/>
                </a:solidFill>
              </a:rPr>
              <a:t>（表达式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zh-CN" sz="2800" dirty="0">
                <a:solidFill>
                  <a:srgbClr val="FF0000"/>
                </a:solidFill>
              </a:rPr>
              <a:t>）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      </a:t>
            </a:r>
            <a:r>
              <a:rPr lang="zh-CN" altLang="zh-CN" sz="2800" dirty="0">
                <a:solidFill>
                  <a:srgbClr val="FF0000"/>
                </a:solidFill>
              </a:rPr>
              <a:t>语句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else if</a:t>
            </a:r>
            <a:r>
              <a:rPr lang="zh-CN" altLang="zh-CN" sz="2800" dirty="0">
                <a:solidFill>
                  <a:srgbClr val="FF0000"/>
                </a:solidFill>
              </a:rPr>
              <a:t>（表达式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zh-CN" sz="2800" dirty="0">
                <a:solidFill>
                  <a:srgbClr val="FF0000"/>
                </a:solidFill>
              </a:rPr>
              <a:t>）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zh-CN" altLang="zh-CN" sz="2800" dirty="0">
                <a:solidFill>
                  <a:srgbClr val="FF0000"/>
                </a:solidFill>
              </a:rPr>
              <a:t>语句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else if </a:t>
            </a:r>
            <a:r>
              <a:rPr lang="zh-CN" altLang="zh-CN" sz="2800" dirty="0">
                <a:solidFill>
                  <a:srgbClr val="FF0000"/>
                </a:solidFill>
              </a:rPr>
              <a:t>（表达式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zh-CN" sz="2800" dirty="0">
                <a:solidFill>
                  <a:srgbClr val="FF0000"/>
                </a:solidFill>
              </a:rPr>
              <a:t>）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zh-CN" altLang="zh-CN" sz="2800" dirty="0">
                <a:solidFill>
                  <a:srgbClr val="FF0000"/>
                </a:solidFill>
              </a:rPr>
              <a:t>语句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>
                <a:solidFill>
                  <a:srgbClr val="FF0000"/>
                </a:solidFill>
              </a:rPr>
              <a:t>… 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else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      </a:t>
            </a:r>
            <a:r>
              <a:rPr lang="zh-CN" altLang="zh-CN" sz="2800" dirty="0">
                <a:solidFill>
                  <a:srgbClr val="FF0000"/>
                </a:solidFill>
              </a:rPr>
              <a:t>语句</a:t>
            </a:r>
            <a:r>
              <a:rPr lang="en-US" altLang="zh-CN" sz="2800" i="1" dirty="0">
                <a:solidFill>
                  <a:srgbClr val="FF0000"/>
                </a:solidFill>
              </a:rPr>
              <a:t>n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 </a:t>
            </a:r>
            <a:endParaRPr lang="zh-CN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25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9830027" y="6328293"/>
            <a:ext cx="2135730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382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456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C3.2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多分支选择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1" name="文本占位符 32770">
            <a:extLst>
              <a:ext uri="{FF2B5EF4-FFF2-40B4-BE49-F238E27FC236}">
                <a16:creationId xmlns:a16="http://schemas.microsoft.com/office/drawing/2014/main" id="{28CA17C5-161E-413C-8EFE-CBCBCEBD9ADA}"/>
              </a:ext>
            </a:extLst>
          </p:cNvPr>
          <p:cNvSpPr txBox="1">
            <a:spLocks/>
          </p:cNvSpPr>
          <p:nvPr/>
        </p:nvSpPr>
        <p:spPr>
          <a:xfrm>
            <a:off x="1130903" y="1789619"/>
            <a:ext cx="10458094" cy="498677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 fontScale="92500" lnSpcReduction="20000"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200" dirty="0"/>
              <a:t>int    score;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/>
              <a:t>char grade;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 err="1"/>
              <a:t>cin</a:t>
            </a:r>
            <a:r>
              <a:rPr lang="en-US" altLang="zh-CN" sz="2200" dirty="0"/>
              <a:t> &gt;&gt; score;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if ( score &lt; 60 )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	grade = ‘E';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else if ( score &lt; 70 )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	grade = 'D';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else if ( score &lt; 80 )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	grade = 'C';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else if ( score &lt; 90 )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	grade = 'B';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else if ( score &lt;= 100 )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>
                <a:solidFill>
                  <a:srgbClr val="7030A0"/>
                </a:solidFill>
              </a:rPr>
              <a:t>	grade = 'A';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CN" sz="2200" dirty="0" err="1"/>
              <a:t>cout</a:t>
            </a:r>
            <a:r>
              <a:rPr lang="en-US" altLang="zh-CN" sz="2200" dirty="0"/>
              <a:t> &lt;&lt; "</a:t>
            </a:r>
            <a:r>
              <a:rPr lang="zh-CN" altLang="en-US" sz="2200" dirty="0"/>
              <a:t>五分制成绩为：</a:t>
            </a:r>
            <a:r>
              <a:rPr lang="en-US" altLang="zh-CN" sz="2200" dirty="0"/>
              <a:t>" &lt;&lt; grade &lt;&lt; ".\n";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676F58-3BAC-4229-8E30-D6011A159315}"/>
              </a:ext>
            </a:extLst>
          </p:cNvPr>
          <p:cNvSpPr txBox="1"/>
          <p:nvPr/>
        </p:nvSpPr>
        <p:spPr>
          <a:xfrm>
            <a:off x="4866829" y="1701743"/>
            <a:ext cx="5617194" cy="461665"/>
          </a:xfrm>
          <a:prstGeom prst="rect">
            <a:avLst/>
          </a:prstGeom>
          <a:noFill/>
          <a:ln w="127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pPr marL="1079500" indent="-1079500" fontAlgn="t"/>
            <a:r>
              <a:rPr lang="zh-CN" altLang="en-US" sz="2400" dirty="0">
                <a:solidFill>
                  <a:srgbClr val="FF0000"/>
                </a:solidFill>
              </a:rPr>
              <a:t>思考：</a:t>
            </a:r>
            <a:r>
              <a:rPr lang="zh-CN" altLang="en-US" sz="2400" dirty="0">
                <a:solidFill>
                  <a:schemeClr val="tx1"/>
                </a:solidFill>
              </a:rPr>
              <a:t>去掉部分</a:t>
            </a:r>
            <a:r>
              <a:rPr lang="en-US" altLang="zh-CN" sz="2400" dirty="0">
                <a:solidFill>
                  <a:schemeClr val="tx1"/>
                </a:solidFill>
              </a:rPr>
              <a:t>else</a:t>
            </a:r>
            <a:r>
              <a:rPr lang="zh-CN" altLang="en-US" sz="2400" dirty="0">
                <a:solidFill>
                  <a:schemeClr val="tx1"/>
                </a:solidFill>
              </a:rPr>
              <a:t>，对吗？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D35AD3-1EB9-44BE-A7F7-0E560245855A}"/>
              </a:ext>
            </a:extLst>
          </p:cNvPr>
          <p:cNvSpPr/>
          <p:nvPr/>
        </p:nvSpPr>
        <p:spPr>
          <a:xfrm>
            <a:off x="1130903" y="1108601"/>
            <a:ext cx="9617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2060"/>
                </a:solidFill>
              </a:rPr>
              <a:t>【</a:t>
            </a:r>
            <a:r>
              <a:rPr lang="zh-CN" altLang="en-US" sz="2400" dirty="0">
                <a:solidFill>
                  <a:srgbClr val="002060"/>
                </a:solidFill>
              </a:rPr>
              <a:t>例</a:t>
            </a:r>
            <a:r>
              <a:rPr lang="en-US" altLang="zh-CN" sz="2400" dirty="0">
                <a:solidFill>
                  <a:srgbClr val="002060"/>
                </a:solidFill>
              </a:rPr>
              <a:t>】</a:t>
            </a:r>
            <a:r>
              <a:rPr lang="zh-CN" altLang="en-US" sz="2400" dirty="0">
                <a:solidFill>
                  <a:srgbClr val="002060"/>
                </a:solidFill>
              </a:rPr>
              <a:t>百分制成绩转换为对应的五分制（</a:t>
            </a:r>
            <a:r>
              <a:rPr lang="en-US" altLang="zh-CN" sz="2400" dirty="0">
                <a:solidFill>
                  <a:srgbClr val="002060"/>
                </a:solidFill>
              </a:rPr>
              <a:t>A</a:t>
            </a:r>
            <a:r>
              <a:rPr lang="zh-CN" altLang="en-US" sz="2400" dirty="0">
                <a:solidFill>
                  <a:srgbClr val="002060"/>
                </a:solidFill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</a:rPr>
              <a:t>B</a:t>
            </a:r>
            <a:r>
              <a:rPr lang="zh-CN" altLang="en-US" sz="2400" dirty="0">
                <a:solidFill>
                  <a:srgbClr val="002060"/>
                </a:solidFill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</a:rPr>
              <a:t>C</a:t>
            </a:r>
            <a:r>
              <a:rPr lang="zh-CN" altLang="en-US" sz="2400" dirty="0">
                <a:solidFill>
                  <a:srgbClr val="002060"/>
                </a:solidFill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</a:rPr>
              <a:t>D</a:t>
            </a:r>
            <a:r>
              <a:rPr lang="zh-CN" altLang="en-US" sz="2400" dirty="0">
                <a:solidFill>
                  <a:srgbClr val="002060"/>
                </a:solidFill>
              </a:rPr>
              <a:t>，</a:t>
            </a:r>
            <a:r>
              <a:rPr lang="en-US" altLang="zh-CN" sz="2400" dirty="0">
                <a:solidFill>
                  <a:srgbClr val="002060"/>
                </a:solidFill>
              </a:rPr>
              <a:t>E</a:t>
            </a:r>
            <a:r>
              <a:rPr lang="zh-CN" altLang="en-US" sz="2400" dirty="0">
                <a:solidFill>
                  <a:srgbClr val="002060"/>
                </a:solidFill>
              </a:rPr>
              <a:t>）成绩</a:t>
            </a:r>
            <a:endParaRPr lang="zh-CN" altLang="en-US" sz="2400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CD9CA03-92A4-42A9-945A-C1D0EBBED43B}"/>
              </a:ext>
            </a:extLst>
          </p:cNvPr>
          <p:cNvGrpSpPr/>
          <p:nvPr/>
        </p:nvGrpSpPr>
        <p:grpSpPr>
          <a:xfrm>
            <a:off x="1130903" y="2542076"/>
            <a:ext cx="8860460" cy="3646497"/>
            <a:chOff x="1130903" y="2542076"/>
            <a:chExt cx="8860460" cy="3646497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56735CF-C689-4AF9-BC81-067729336D04}"/>
                </a:ext>
              </a:extLst>
            </p:cNvPr>
            <p:cNvGrpSpPr/>
            <p:nvPr/>
          </p:nvGrpSpPr>
          <p:grpSpPr>
            <a:xfrm>
              <a:off x="4572000" y="2542076"/>
              <a:ext cx="5354455" cy="3416320"/>
              <a:chOff x="4572000" y="2542076"/>
              <a:chExt cx="5354455" cy="341632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E43372A-80D4-46FC-9C98-35948EA4443C}"/>
                  </a:ext>
                </a:extLst>
              </p:cNvPr>
              <p:cNvSpPr/>
              <p:nvPr/>
            </p:nvSpPr>
            <p:spPr>
              <a:xfrm>
                <a:off x="7278592" y="2542076"/>
                <a:ext cx="2647863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if ( score &lt; 60 )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	grade = ‘E';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else if ( score &lt; 70 )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	grade = 'D';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else if ( score &lt; 80 )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	grade = 'C';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else if ( score &lt; 90 )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	grade = 'B';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solidFill>
                      <a:srgbClr val="0070C0"/>
                    </a:solidFill>
                  </a:rPr>
                  <a:t>else   grade = 'A';</a:t>
                </a:r>
              </a:p>
            </p:txBody>
          </p:sp>
          <p:sp>
            <p:nvSpPr>
              <p:cNvPr id="8" name="箭头: 右 7">
                <a:extLst>
                  <a:ext uri="{FF2B5EF4-FFF2-40B4-BE49-F238E27FC236}">
                    <a16:creationId xmlns:a16="http://schemas.microsoft.com/office/drawing/2014/main" id="{0E008F54-2142-4A82-8C66-B89EE8A7F644}"/>
                  </a:ext>
                </a:extLst>
              </p:cNvPr>
              <p:cNvSpPr/>
              <p:nvPr/>
            </p:nvSpPr>
            <p:spPr>
              <a:xfrm>
                <a:off x="4572000" y="3784060"/>
                <a:ext cx="1186774" cy="461665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F61A72E-7A79-4A2D-84B0-33C1CB80BF91}"/>
                </a:ext>
              </a:extLst>
            </p:cNvPr>
            <p:cNvSpPr/>
            <p:nvPr/>
          </p:nvSpPr>
          <p:spPr>
            <a:xfrm>
              <a:off x="1130903" y="2772253"/>
              <a:ext cx="2906076" cy="3416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4BD2FF-E28B-440F-B7D2-B57AF4BDE039}"/>
                </a:ext>
              </a:extLst>
            </p:cNvPr>
            <p:cNvSpPr/>
            <p:nvPr/>
          </p:nvSpPr>
          <p:spPr>
            <a:xfrm>
              <a:off x="7085287" y="2629952"/>
              <a:ext cx="2906076" cy="3416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50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158568" y="6241200"/>
            <a:ext cx="184035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382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59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C3.3</a:t>
            </a:r>
            <a:r>
              <a:rPr lang="zh-CN" altLang="en-US" sz="2400" dirty="0"/>
              <a:t>嵌套的</a:t>
            </a:r>
            <a:r>
              <a:rPr lang="en-US" altLang="zh-CN" sz="2400" dirty="0"/>
              <a:t>if</a:t>
            </a:r>
            <a:r>
              <a:rPr lang="zh-CN" altLang="en-US" sz="2400" dirty="0"/>
              <a:t>语句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8" name="文本占位符 33794">
            <a:extLst>
              <a:ext uri="{FF2B5EF4-FFF2-40B4-BE49-F238E27FC236}">
                <a16:creationId xmlns:a16="http://schemas.microsoft.com/office/drawing/2014/main" id="{9A050121-B307-4A9F-A334-F659DF506577}"/>
              </a:ext>
            </a:extLst>
          </p:cNvPr>
          <p:cNvSpPr txBox="1">
            <a:spLocks/>
          </p:cNvSpPr>
          <p:nvPr/>
        </p:nvSpPr>
        <p:spPr>
          <a:xfrm>
            <a:off x="1027644" y="1474595"/>
            <a:ext cx="2890837" cy="40528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嵌套在 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分支中：</a:t>
            </a:r>
          </a:p>
          <a:p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if(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{if(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1;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else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   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2;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}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else</a:t>
            </a:r>
          </a:p>
          <a:p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</a:t>
            </a:r>
            <a:r>
              <a:rPr lang="zh-CN" altLang="en-US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r>
              <a:rPr lang="en-US" altLang="zh-CN" sz="26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3;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A5B3CD-5F3F-4DA8-AF21-075ECC3B2E0B}"/>
              </a:ext>
            </a:extLst>
          </p:cNvPr>
          <p:cNvSpPr/>
          <p:nvPr/>
        </p:nvSpPr>
        <p:spPr>
          <a:xfrm>
            <a:off x="5043676" y="1846848"/>
            <a:ext cx="6120680" cy="3972866"/>
          </a:xfrm>
          <a:prstGeom prst="rect">
            <a:avLst/>
          </a:prstGeom>
          <a:ln w="25400">
            <a:solidFill>
              <a:srgbClr val="0000FF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             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</a:rPr>
              <a:t>a,b,c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             </a:t>
            </a:r>
            <a:r>
              <a:rPr lang="en-US" altLang="zh-CN" sz="2800" dirty="0" err="1">
                <a:solidFill>
                  <a:schemeClr val="tx1"/>
                </a:solidFill>
              </a:rPr>
              <a:t>cin</a:t>
            </a:r>
            <a:r>
              <a:rPr lang="en-US" altLang="zh-CN" sz="2800" dirty="0">
                <a:solidFill>
                  <a:schemeClr val="tx1"/>
                </a:solidFill>
              </a:rPr>
              <a:t>&gt;&gt;a&gt;&gt;b&gt;&gt;c;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	  if (a&gt;b)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	  	{if (a&gt;c)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&lt;&lt;a&lt;&lt;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              	  else   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&lt;&lt;c&lt;&lt;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zh-CN" sz="2800" dirty="0"/>
              <a:t>                         }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	  else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	   	{if (b&gt;c)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&lt;&lt;b&lt;&lt;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  <a:endParaRPr lang="zh-CN" altLang="zh-CN" sz="2800" dirty="0">
              <a:solidFill>
                <a:schemeClr val="tx1"/>
              </a:solidFill>
            </a:endParaRPr>
          </a:p>
          <a:p>
            <a:r>
              <a:rPr lang="en-US" altLang="zh-CN" sz="2800" dirty="0">
                <a:solidFill>
                  <a:schemeClr val="tx1"/>
                </a:solidFill>
              </a:rPr>
              <a:t>       	           else   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&lt;&lt;c&lt;&lt;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;}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C4405B-48A6-44FF-B793-93FF4C7FA38E}"/>
              </a:ext>
            </a:extLst>
          </p:cNvPr>
          <p:cNvSpPr txBox="1"/>
          <p:nvPr/>
        </p:nvSpPr>
        <p:spPr>
          <a:xfrm>
            <a:off x="5027035" y="1181323"/>
            <a:ext cx="5131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例：输出</a:t>
            </a:r>
            <a:r>
              <a:rPr lang="en-US" altLang="zh-CN" sz="2400" dirty="0" err="1">
                <a:solidFill>
                  <a:schemeClr val="tx1"/>
                </a:solidFill>
              </a:rPr>
              <a:t>a,b,c</a:t>
            </a:r>
            <a:r>
              <a:rPr lang="zh-CN" altLang="en-US" sz="2400" dirty="0">
                <a:solidFill>
                  <a:schemeClr val="tx1"/>
                </a:solidFill>
              </a:rPr>
              <a:t>中三个数中的最大值。</a:t>
            </a:r>
          </a:p>
        </p:txBody>
      </p:sp>
    </p:spTree>
    <p:extLst>
      <p:ext uri="{BB962C8B-B14F-4D97-AF65-F5344CB8AC3E}">
        <p14:creationId xmlns:p14="http://schemas.microsoft.com/office/powerpoint/2010/main" val="255500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 animBg="1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825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C3.3</a:t>
            </a: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203007"/>
            <a:ext cx="914400" cy="855389"/>
          </a:xfrm>
          <a:prstGeom prst="rect">
            <a:avLst/>
          </a:prstGeom>
        </p:spPr>
      </p:pic>
      <p:sp>
        <p:nvSpPr>
          <p:cNvPr id="9" name="内容占位符 2"/>
          <p:cNvSpPr txBox="1">
            <a:spLocks/>
          </p:cNvSpPr>
          <p:nvPr/>
        </p:nvSpPr>
        <p:spPr>
          <a:xfrm>
            <a:off x="643270" y="1399176"/>
            <a:ext cx="10598968" cy="3982914"/>
          </a:xfrm>
          <a:prstGeom prst="rect">
            <a:avLst/>
          </a:prstGeom>
          <a:noFill/>
        </p:spPr>
        <p:txBody>
          <a:bodyPr vert="horz" lIns="25200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注套时的二义性</a:t>
            </a:r>
            <a:endParaRPr lang="en-US" altLang="zh-CN" sz="2400" dirty="0">
              <a:latin typeface="Times New Roman" pitchFamily="18" charset="0"/>
            </a:endParaRP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 err="1">
                <a:latin typeface="Times New Roman" pitchFamily="18" charset="0"/>
              </a:rPr>
              <a:t>int</a:t>
            </a:r>
            <a:r>
              <a:rPr lang="en-US" altLang="zh-CN" sz="2400" dirty="0">
                <a:latin typeface="Times New Roman" pitchFamily="18" charset="0"/>
              </a:rPr>
              <a:t> x=-1;</a:t>
            </a: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if (x&gt;0)</a:t>
            </a: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if (x&lt;50)</a:t>
            </a: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   </a:t>
            </a:r>
            <a:r>
              <a:rPr lang="en-US" altLang="zh-CN" sz="2400" dirty="0" err="1">
                <a:latin typeface="Times New Roman" pitchFamily="18" charset="0"/>
              </a:rPr>
              <a:t>cout</a:t>
            </a:r>
            <a:r>
              <a:rPr lang="en-US" altLang="zh-CN" sz="2400" dirty="0">
                <a:latin typeface="Times New Roman" pitchFamily="18" charset="0"/>
              </a:rPr>
              <a:t>&lt;&lt;“x is &lt;50”endl;</a:t>
            </a: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else</a:t>
            </a:r>
          </a:p>
          <a:p>
            <a:pPr lvl="1" algn="l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</a:t>
            </a:r>
            <a:r>
              <a:rPr lang="en-US" altLang="zh-CN" sz="2400" dirty="0" err="1">
                <a:latin typeface="Times New Roman" pitchFamily="18" charset="0"/>
              </a:rPr>
              <a:t>cout</a:t>
            </a:r>
            <a:r>
              <a:rPr lang="en-US" altLang="zh-CN" sz="2400" dirty="0">
                <a:latin typeface="Times New Roman" pitchFamily="18" charset="0"/>
              </a:rPr>
              <a:t>&lt;&lt;“x is &lt;=0”&lt;&lt;</a:t>
            </a:r>
            <a:r>
              <a:rPr lang="en-US" altLang="zh-CN" sz="2400" dirty="0" err="1">
                <a:latin typeface="Times New Roman" pitchFamily="18" charset="0"/>
              </a:rPr>
              <a:t>endl</a:t>
            </a:r>
            <a:r>
              <a:rPr lang="en-US" altLang="zh-CN" sz="2400" dirty="0">
                <a:latin typeface="Times New Roman" pitchFamily="18" charset="0"/>
              </a:rPr>
              <a:t>;</a:t>
            </a:r>
            <a:endParaRPr lang="zh-CN" altLang="en-US" sz="2400" dirty="0">
              <a:latin typeface="Times New Roman" pitchFamily="18" charset="0"/>
            </a:endParaRPr>
          </a:p>
          <a:p>
            <a:endParaRPr lang="zh-CN" altLang="en-US" sz="2400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944700" y="5367604"/>
            <a:ext cx="10164091" cy="954107"/>
          </a:xfrm>
          <a:prstGeom prst="rect">
            <a:avLst/>
          </a:prstGeom>
          <a:noFill/>
          <a:ln w="127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if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else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的对应关系，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else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总是与离它最近的可匹配的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if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匹配。</a:t>
            </a:r>
            <a:r>
              <a:rPr lang="zh-CN" altLang="en-US" sz="2800" b="1" dirty="0">
                <a:latin typeface="Times New Roman" pitchFamily="18" charset="0"/>
              </a:rPr>
              <a:t>为了避免出错，建议加上成对的</a:t>
            </a:r>
            <a:r>
              <a:rPr lang="en-US" altLang="zh-CN" sz="2800" b="1" dirty="0">
                <a:latin typeface="Times New Roman" pitchFamily="18" charset="0"/>
              </a:rPr>
              <a:t>{}</a:t>
            </a:r>
            <a:r>
              <a:rPr lang="zh-CN" altLang="en-US" sz="2800" b="1" dirty="0">
                <a:latin typeface="Times New Roman" pitchFamily="18" charset="0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8725" y="1399176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课堂练习：读以下代码请写出结果。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A8385A-6084-494E-8FB6-1AB223520F08}"/>
              </a:ext>
            </a:extLst>
          </p:cNvPr>
          <p:cNvSpPr/>
          <p:nvPr/>
        </p:nvSpPr>
        <p:spPr>
          <a:xfrm>
            <a:off x="6471262" y="1850586"/>
            <a:ext cx="4637529" cy="3139008"/>
          </a:xfrm>
          <a:prstGeom prst="rect">
            <a:avLst/>
          </a:prstGeom>
          <a:ln w="25400">
            <a:solidFill>
              <a:srgbClr val="0000FF"/>
            </a:solidFill>
          </a:ln>
        </p:spPr>
        <p:txBody>
          <a:bodyPr wrap="square">
            <a:noAutofit/>
          </a:bodyPr>
          <a:lstStyle/>
          <a:p>
            <a:pPr lvl="1">
              <a:spcBef>
                <a:spcPct val="0"/>
              </a:spcBef>
            </a:pP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x=-1;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if (x&gt;0)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{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   if (x&lt;50)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     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</a:rPr>
              <a:t>cout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&lt;&lt;“x is &lt;50”endl;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}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else</a:t>
            </a:r>
          </a:p>
          <a:p>
            <a:pPr lvl="1">
              <a:spcBef>
                <a:spcPct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     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</a:rPr>
              <a:t>cout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&lt;&lt;“x is &lt;=0”&lt;&lt;</a:t>
            </a:r>
            <a:r>
              <a:rPr lang="en-US" altLang="zh-CN" sz="2400" dirty="0" err="1">
                <a:solidFill>
                  <a:schemeClr val="tx1"/>
                </a:solidFill>
                <a:latin typeface="Times New Roman" pitchFamily="18" charset="0"/>
              </a:rPr>
              <a:t>endl</a:t>
            </a:r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</a:rPr>
              <a:t>;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9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 animBg="1"/>
      <p:bldP spid="12" grpId="0" animBg="1"/>
      <p:bldP spid="12" grpId="1" animBg="1"/>
      <p:bldP spid="12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34817"/>
          <p:cNvSpPr>
            <a:spLocks noGrp="1"/>
          </p:cNvSpPr>
          <p:nvPr>
            <p:ph type="title"/>
          </p:nvPr>
        </p:nvSpPr>
        <p:spPr>
          <a:xfrm>
            <a:off x="2221890" y="465037"/>
            <a:ext cx="9198000" cy="43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800" b="0" dirty="0">
                <a:latin typeface="宋体" panose="02010600030101010101" pitchFamily="2" charset="-122"/>
                <a:ea typeface="宋体" panose="02010600030101010101" pitchFamily="2" charset="-122"/>
              </a:rPr>
              <a:t>三目运算符：条件运算符 </a:t>
            </a:r>
          </a:p>
        </p:txBody>
      </p:sp>
      <p:sp>
        <p:nvSpPr>
          <p:cNvPr id="15363" name="文本占位符 34818"/>
          <p:cNvSpPr>
            <a:spLocks noGrp="1"/>
          </p:cNvSpPr>
          <p:nvPr>
            <p:ph idx="1"/>
          </p:nvPr>
        </p:nvSpPr>
        <p:spPr>
          <a:xfrm>
            <a:off x="940818" y="1524405"/>
            <a:ext cx="9198000" cy="5130588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1&gt; ? &lt;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2&gt; : &lt;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3&gt;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例如：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if( a &gt; b )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max = a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else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max = b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等价于：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pt-BR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max = ( a &gt; b ) ? a : b ; </a:t>
            </a:r>
          </a:p>
        </p:txBody>
      </p:sp>
      <p:sp>
        <p:nvSpPr>
          <p:cNvPr id="1536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t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2D4B34F-D3D5-47D7-B517-07B69B53E70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的书">
            <a:extLst>
              <a:ext uri="{FF2B5EF4-FFF2-40B4-BE49-F238E27FC236}">
                <a16:creationId xmlns:a16="http://schemas.microsoft.com/office/drawing/2014/main" id="{A0E61B5E-613D-426A-8052-CF877E487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203007"/>
            <a:ext cx="914400" cy="8553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137730" y="121997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74957" y="575159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538" y="348792"/>
            <a:ext cx="914400" cy="914400"/>
          </a:xfrm>
          <a:prstGeom prst="rect">
            <a:avLst/>
          </a:prstGeom>
        </p:spPr>
      </p:pic>
      <p:pic>
        <p:nvPicPr>
          <p:cNvPr id="26" name="Picture 7" descr="030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69" y="1520788"/>
            <a:ext cx="10934499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85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082167" y="103339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19394" y="388588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4975" y="162221"/>
            <a:ext cx="914400" cy="914400"/>
          </a:xfrm>
          <a:prstGeom prst="rect">
            <a:avLst/>
          </a:prstGeom>
        </p:spPr>
      </p:pic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254975" y="1259767"/>
            <a:ext cx="388843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540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switch (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表达式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) 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楷体_GB2312" charset="-122"/>
                <a:cs typeface="Times New Roman" pitchFamily="18" charset="0"/>
              </a:rPr>
              <a:t> 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{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楷体_GB2312" charset="-122"/>
                <a:cs typeface="Times New Roman" pitchFamily="18" charset="0"/>
              </a:rPr>
              <a:t> 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case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常量表达式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：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     语句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1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break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；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楷体_GB2312" charset="-122"/>
                <a:cs typeface="Times New Roman" pitchFamily="18" charset="0"/>
              </a:rPr>
              <a:t> 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case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常量表达式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：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     语句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2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     </a:t>
            </a:r>
            <a:r>
              <a:rPr kumimoji="0" lang="en-US" altLang="zh-CN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break</a:t>
            </a:r>
            <a:r>
              <a:rPr kumimoji="0" lang="zh-CN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；</a:t>
            </a:r>
            <a:endParaRPr kumimoji="0" lang="en-US" altLang="zh-CN" sz="24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楷体_GB2312" charset="-122"/>
              <a:cs typeface="Times New Roman" pitchFamily="18" charset="0"/>
            </a:endParaRPr>
          </a:p>
          <a:p>
            <a:pPr lvl="0" indent="2540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   case 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常量表达式</a:t>
            </a:r>
            <a:r>
              <a:rPr lang="en-US" altLang="zh-CN" sz="2400" i="1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n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： </a:t>
            </a:r>
            <a:endParaRPr lang="zh-CN" altLang="en-US" sz="2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54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       语句</a:t>
            </a:r>
            <a:r>
              <a:rPr lang="en-US" altLang="zh-CN" sz="2400" i="1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n</a:t>
            </a:r>
            <a:r>
              <a:rPr lang="en-US" altLang="zh-CN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</a:t>
            </a:r>
            <a:endParaRPr lang="en-US" altLang="zh-CN" sz="2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54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      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ea typeface="楷体_GB2312" charset="-122"/>
                <a:cs typeface="Times New Roman" pitchFamily="18" charset="0"/>
              </a:rPr>
              <a:t>break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ea typeface="楷体_GB2312" charset="-122"/>
                <a:cs typeface="Times New Roman" pitchFamily="18" charset="0"/>
              </a:rPr>
              <a:t>；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</a:t>
            </a:r>
            <a:endParaRPr lang="zh-CN" altLang="en-US" sz="2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54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/>
                <a:ea typeface="楷体_GB2312" charset="-122"/>
                <a:cs typeface="Times New Roman" pitchFamily="18" charset="0"/>
              </a:rPr>
              <a:t> 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  </a:t>
            </a:r>
            <a:r>
              <a:rPr lang="en-US" altLang="zh-CN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default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：</a:t>
            </a:r>
            <a:endParaRPr lang="zh-CN" altLang="en-US" sz="2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54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Arial"/>
                <a:ea typeface="楷体_GB2312" charset="-122"/>
                <a:cs typeface="Times New Roman" pitchFamily="18" charset="0"/>
              </a:rPr>
              <a:t> 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       语句</a:t>
            </a:r>
            <a:r>
              <a:rPr lang="en-US" altLang="zh-CN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n+1</a:t>
            </a:r>
            <a:r>
              <a:rPr lang="zh-CN" altLang="en-US" sz="2400" dirty="0">
                <a:latin typeface="Times New Roman" pitchFamily="18" charset="0"/>
                <a:ea typeface="楷体_GB2312" charset="-122"/>
                <a:cs typeface="Times New Roman" pitchFamily="18" charset="0"/>
              </a:rPr>
              <a:t>；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54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  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楷体_GB2312" charset="-122"/>
                <a:cs typeface="Times New Roman" pitchFamily="18" charset="0"/>
              </a:rPr>
              <a:t>}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21" name="Group 16"/>
          <p:cNvGrpSpPr>
            <a:grpSpLocks/>
          </p:cNvGrpSpPr>
          <p:nvPr/>
        </p:nvGrpSpPr>
        <p:grpSpPr bwMode="auto">
          <a:xfrm>
            <a:off x="3927430" y="2594491"/>
            <a:ext cx="3672408" cy="2873375"/>
            <a:chOff x="1920" y="2016"/>
            <a:chExt cx="3600" cy="1810"/>
          </a:xfrm>
        </p:grpSpPr>
        <p:sp>
          <p:nvSpPr>
            <p:cNvPr id="22" name="Line 12"/>
            <p:cNvSpPr>
              <a:spLocks noChangeShapeType="1"/>
            </p:cNvSpPr>
            <p:nvPr/>
          </p:nvSpPr>
          <p:spPr bwMode="auto">
            <a:xfrm>
              <a:off x="1920" y="2160"/>
              <a:ext cx="187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ahoma" pitchFamily="34" charset="0"/>
              </a:endParaRPr>
            </a:p>
          </p:txBody>
        </p:sp>
        <p:sp>
          <p:nvSpPr>
            <p:cNvPr id="23" name="Line 13"/>
            <p:cNvSpPr>
              <a:spLocks noChangeShapeType="1"/>
            </p:cNvSpPr>
            <p:nvPr/>
          </p:nvSpPr>
          <p:spPr bwMode="auto">
            <a:xfrm flipV="1">
              <a:off x="1968" y="2208"/>
              <a:ext cx="1824" cy="72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ahoma" pitchFamily="34" charset="0"/>
              </a:endParaRP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1920" y="2208"/>
              <a:ext cx="1872" cy="161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ahoma" pitchFamily="34" charset="0"/>
              </a:endParaRPr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3840" y="2016"/>
              <a:ext cx="1680" cy="912"/>
            </a:xfrm>
            <a:prstGeom prst="rect">
              <a:avLst/>
            </a:prstGeom>
            <a:noFill/>
            <a:ln w="12700" cap="sq">
              <a:solidFill>
                <a:schemeClr val="folHlink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</a:rPr>
                <a:t>跳出</a:t>
              </a:r>
              <a:r>
                <a:rPr lang="en-US" altLang="zh-CN" sz="2800" b="1" dirty="0">
                  <a:latin typeface="Times New Roman" pitchFamily="18" charset="0"/>
                </a:rPr>
                <a:t>switch</a:t>
              </a:r>
              <a:r>
                <a:rPr lang="zh-CN" altLang="en-US" sz="2800" b="1" dirty="0">
                  <a:latin typeface="Times New Roman" pitchFamily="18" charset="0"/>
                </a:rPr>
                <a:t>语句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40D65A81-D8AA-49BA-A2CC-9D571114F5FF}"/>
              </a:ext>
            </a:extLst>
          </p:cNvPr>
          <p:cNvSpPr txBox="1"/>
          <p:nvPr/>
        </p:nvSpPr>
        <p:spPr>
          <a:xfrm>
            <a:off x="7993907" y="1259767"/>
            <a:ext cx="3600450" cy="3600986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marL="457200" indent="-457200" fontAlgn="t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注意：</a:t>
            </a:r>
          </a:p>
          <a:p>
            <a:pPr marL="457200" indent="-457200" fontAlgn="t">
              <a:spcBef>
                <a:spcPct val="50000"/>
              </a:spcBef>
              <a:buAutoNum type="arabicPeriod"/>
            </a:pPr>
            <a:r>
              <a:rPr lang="en-US" altLang="zh-CN" sz="2400" dirty="0">
                <a:solidFill>
                  <a:srgbClr val="0000FF"/>
                </a:solidFill>
              </a:rPr>
              <a:t>&lt;</a:t>
            </a:r>
            <a:r>
              <a:rPr lang="zh-CN" altLang="en-US" sz="2400" dirty="0">
                <a:solidFill>
                  <a:srgbClr val="0000FF"/>
                </a:solidFill>
              </a:rPr>
              <a:t>表达式</a:t>
            </a:r>
            <a:r>
              <a:rPr lang="en-US" altLang="zh-CN" sz="2400" dirty="0">
                <a:solidFill>
                  <a:srgbClr val="0000FF"/>
                </a:solidFill>
              </a:rPr>
              <a:t>&gt;</a:t>
            </a:r>
            <a:r>
              <a:rPr lang="zh-CN" altLang="en-US" sz="2400" dirty="0">
                <a:solidFill>
                  <a:srgbClr val="0000FF"/>
                </a:solidFill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</a:rPr>
              <a:t>&lt;</a:t>
            </a:r>
            <a:r>
              <a:rPr lang="zh-CN" altLang="en-US" sz="2400" dirty="0">
                <a:solidFill>
                  <a:srgbClr val="0000FF"/>
                </a:solidFill>
              </a:rPr>
              <a:t>常量表达式</a:t>
            </a:r>
            <a:r>
              <a:rPr lang="en-US" altLang="zh-CN" sz="2400" dirty="0">
                <a:solidFill>
                  <a:srgbClr val="0000FF"/>
                </a:solidFill>
              </a:rPr>
              <a:t> &gt;</a:t>
            </a:r>
            <a:r>
              <a:rPr lang="zh-CN" altLang="en-US" sz="2400" dirty="0">
                <a:solidFill>
                  <a:srgbClr val="0000FF"/>
                </a:solidFill>
              </a:rPr>
              <a:t>的类型：字符型、整型、枚举型和布尔型等离散类型；</a:t>
            </a:r>
          </a:p>
          <a:p>
            <a:pPr marL="457200" indent="-457200" fontAlgn="t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</a:rPr>
              <a:t>不能取实型。</a:t>
            </a:r>
          </a:p>
          <a:p>
            <a:pPr marL="457200" indent="-457200" fontAlgn="t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</a:rPr>
              <a:t>每个</a:t>
            </a:r>
            <a:r>
              <a:rPr lang="en-US" altLang="zh-CN" sz="2400" dirty="0">
                <a:solidFill>
                  <a:srgbClr val="0000FF"/>
                </a:solidFill>
              </a:rPr>
              <a:t>case</a:t>
            </a:r>
            <a:r>
              <a:rPr lang="zh-CN" altLang="en-US" sz="2400" dirty="0">
                <a:solidFill>
                  <a:srgbClr val="0000FF"/>
                </a:solidFill>
              </a:rPr>
              <a:t>后的“语句序列”可以是多条语句。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023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545517" y="1720871"/>
            <a:ext cx="5313832" cy="495520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#include&lt;iostream&gt;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using namespace std;  </a:t>
            </a:r>
          </a:p>
          <a:p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main()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{    </a:t>
            </a:r>
          </a:p>
          <a:p>
            <a:r>
              <a:rPr lang="fr-FR" altLang="zh-CN" sz="2800" dirty="0"/>
              <a:t>  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cin&gt;&gt;grade;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if (grade&gt;=90)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成绩为优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(grade&gt;=80)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成绩为良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(grade&gt;=70)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成绩为中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(grade&gt;=60)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成绩为及格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成绩为不及格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return 0;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}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47180" y="1976081"/>
            <a:ext cx="5976664" cy="467820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#include&lt;iostream&gt;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using namespace std;  </a:t>
            </a:r>
          </a:p>
          <a:p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main()</a:t>
            </a:r>
          </a:p>
          <a:p>
            <a:r>
              <a:rPr lang="en-US" altLang="zh-CN" sz="2800" dirty="0"/>
              <a:t>{</a:t>
            </a:r>
            <a:r>
              <a:rPr lang="fr-FR" altLang="zh-CN" sz="2800" dirty="0"/>
              <a:t>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cin&gt;&gt;grade;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if (grade&gt;=90)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成绩为优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((grade&lt;90)&amp;&amp;(grade&gt;=80))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成绩为良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((grade&lt;80)&amp;&amp;(grade&gt;=70))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成绩为中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if ((grade&lt;70)&amp;&amp;(grade&gt;=60))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成绩为及格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else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      cout&lt;&lt;"</a:t>
            </a:r>
            <a:r>
              <a:rPr lang="zh-CN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成绩为不及格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";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  return 0;</a:t>
            </a:r>
          </a:p>
          <a:p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}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914188" y="6402388"/>
            <a:ext cx="277812" cy="273050"/>
          </a:xfrm>
        </p:spPr>
        <p:txBody>
          <a:bodyPr/>
          <a:lstStyle/>
          <a:p>
            <a:fld id="{19B51A1E-902D-48AF-9020-955120F399B6}" type="slidenum">
              <a:rPr lang="en-ZA" altLang="zh-CN" noProof="0" smtClean="0"/>
              <a:pPr/>
              <a:t>16</a:t>
            </a:fld>
            <a:endParaRPr lang="zh-CN" altLang="en-US" noProof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9758099" y="6250496"/>
            <a:ext cx="1879577" cy="528794"/>
          </a:xfrm>
          <a:prstGeom prst="rect">
            <a:avLst/>
          </a:prstGeom>
          <a:solidFill>
            <a:schemeClr val="bg1"/>
          </a:solidFill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61651" y="1239157"/>
            <a:ext cx="8512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例：根据输入的成绩输出学生的成绩等级。（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90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及其以上：优；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80-89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：良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;70-79: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中；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60-69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：及格；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60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以下：不及格。）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70FEDF-B1B4-449D-A578-9BB04CD64EB0}"/>
              </a:ext>
            </a:extLst>
          </p:cNvPr>
          <p:cNvSpPr txBox="1"/>
          <p:nvPr/>
        </p:nvSpPr>
        <p:spPr>
          <a:xfrm>
            <a:off x="2374957" y="575159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94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41425" y="87117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78652" y="226367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233" y="0"/>
            <a:ext cx="914400" cy="914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675" y="954578"/>
            <a:ext cx="5344013" cy="573874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69638" y="1466237"/>
            <a:ext cx="5126182" cy="206210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altLang="zh-CN" sz="2400" dirty="0">
                <a:solidFill>
                  <a:srgbClr val="002060"/>
                </a:solidFill>
              </a:rPr>
              <a:t>switch</a:t>
            </a:r>
            <a:r>
              <a:rPr lang="zh-CN" altLang="en-US" sz="2400" dirty="0">
                <a:solidFill>
                  <a:srgbClr val="002060"/>
                </a:solidFill>
              </a:rPr>
              <a:t>语句每当找到匹配的常量表达式，则从此标号开始执行下去，不再进行判断，即将此后的其它</a:t>
            </a:r>
            <a:r>
              <a:rPr lang="en-US" altLang="zh-CN" sz="2400" dirty="0">
                <a:solidFill>
                  <a:srgbClr val="002060"/>
                </a:solidFill>
              </a:rPr>
              <a:t>case</a:t>
            </a:r>
            <a:r>
              <a:rPr lang="zh-CN" altLang="en-US" sz="2400" dirty="0">
                <a:solidFill>
                  <a:srgbClr val="002060"/>
                </a:solidFill>
              </a:rPr>
              <a:t>下的语句也都执行。直到碰到</a:t>
            </a:r>
            <a:r>
              <a:rPr lang="en-US" altLang="zh-CN" sz="2400" dirty="0">
                <a:solidFill>
                  <a:srgbClr val="FF0000"/>
                </a:solidFill>
              </a:rPr>
              <a:t>break</a:t>
            </a:r>
            <a:r>
              <a:rPr lang="zh-CN" altLang="en-US" sz="2400" dirty="0">
                <a:solidFill>
                  <a:srgbClr val="FF0000"/>
                </a:solidFill>
              </a:rPr>
              <a:t>语句或</a:t>
            </a:r>
            <a:r>
              <a:rPr lang="en-US" altLang="zh-CN" sz="2400" dirty="0">
                <a:solidFill>
                  <a:srgbClr val="FF0000"/>
                </a:solidFill>
              </a:rPr>
              <a:t>switch</a:t>
            </a:r>
            <a:r>
              <a:rPr lang="zh-CN" altLang="en-US" sz="2400" dirty="0">
                <a:solidFill>
                  <a:srgbClr val="FF0000"/>
                </a:solidFill>
              </a:rPr>
              <a:t>语句结束</a:t>
            </a:r>
            <a:r>
              <a:rPr lang="zh-CN" altLang="en-US" sz="3200" dirty="0">
                <a:solidFill>
                  <a:srgbClr val="00206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3468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36868"/>
          <p:cNvSpPr txBox="1"/>
          <p:nvPr/>
        </p:nvSpPr>
        <p:spPr>
          <a:xfrm>
            <a:off x="3616834" y="305099"/>
            <a:ext cx="4246563" cy="6370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switch ( score / 10 )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{	case 0: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1: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2: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3: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4: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5:	grade = 'F';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6:	grade = 'D';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7:	grade = 'C';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8:	grade = 'B';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9: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10:grade = 'A';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741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t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" name="文本框 38915"/>
          <p:cNvSpPr txBox="1"/>
          <p:nvPr/>
        </p:nvSpPr>
        <p:spPr>
          <a:xfrm>
            <a:off x="767408" y="548680"/>
            <a:ext cx="74168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t"/>
            <a:r>
              <a:rPr lang="zh-CN" altLang="en-US" sz="2800" dirty="0">
                <a:solidFill>
                  <a:srgbClr val="FF0000"/>
                </a:solidFill>
              </a:rPr>
              <a:t>常见错误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云形标注 38916"/>
          <p:cNvSpPr/>
          <p:nvPr/>
        </p:nvSpPr>
        <p:spPr>
          <a:xfrm>
            <a:off x="8328248" y="1916832"/>
            <a:ext cx="2233612" cy="576262"/>
          </a:xfrm>
          <a:prstGeom prst="cloudCallout">
            <a:avLst>
              <a:gd name="adj1" fmla="val -82338"/>
              <a:gd name="adj2" fmla="val 9958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 fontAlgn="t"/>
            <a:r>
              <a:rPr lang="zh-CN" altLang="en-US" sz="2000" dirty="0">
                <a:solidFill>
                  <a:schemeClr val="tx1"/>
                </a:solidFill>
              </a:rPr>
              <a:t>为什么错？</a:t>
            </a:r>
          </a:p>
        </p:txBody>
      </p:sp>
    </p:spTree>
    <p:extLst>
      <p:ext uri="{BB962C8B-B14F-4D97-AF65-F5344CB8AC3E}">
        <p14:creationId xmlns:p14="http://schemas.microsoft.com/office/powerpoint/2010/main" val="1944484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38915"/>
          <p:cNvSpPr txBox="1"/>
          <p:nvPr/>
        </p:nvSpPr>
        <p:spPr>
          <a:xfrm>
            <a:off x="1528601" y="649740"/>
            <a:ext cx="7416800" cy="581697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t"/>
            <a:r>
              <a:rPr lang="zh-CN" altLang="en-US" sz="2800" dirty="0">
                <a:solidFill>
                  <a:srgbClr val="FF0000"/>
                </a:solidFill>
              </a:rPr>
              <a:t>常见错误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fontAlgn="t"/>
            <a:r>
              <a:rPr lang="en-US" altLang="zh-CN" sz="2400" dirty="0"/>
              <a:t>int temp;</a:t>
            </a:r>
          </a:p>
          <a:p>
            <a:pPr fontAlgn="t"/>
            <a:r>
              <a:rPr lang="en-US" altLang="zh-CN" sz="2400" dirty="0" err="1"/>
              <a:t>cin</a:t>
            </a:r>
            <a:r>
              <a:rPr lang="en-US" altLang="zh-CN" sz="2400" dirty="0"/>
              <a:t>&gt;&gt;temp;</a:t>
            </a:r>
            <a:endParaRPr lang="en-US" altLang="zh-CN" sz="1600" dirty="0"/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switch ( temp )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{ 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   	case  (temp &lt; 0):  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	cout &lt;&lt; "temp is negative";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               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 (temp = = 0): 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	cout &lt;&lt; "temp is zero";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               	 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case  (temp &gt; 0):  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			cout &lt;&lt; "temp is positive";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               		break;</a:t>
            </a:r>
          </a:p>
          <a:p>
            <a:pPr fontAlgn="t"/>
            <a:r>
              <a:rPr lang="en-US" altLang="zh-CN" sz="2400" dirty="0">
                <a:solidFill>
                  <a:schemeClr val="tx1"/>
                </a:solidFill>
              </a:rPr>
              <a:t>}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35" name="云形标注 38916"/>
          <p:cNvSpPr/>
          <p:nvPr/>
        </p:nvSpPr>
        <p:spPr>
          <a:xfrm>
            <a:off x="6383338" y="1700213"/>
            <a:ext cx="2233612" cy="576262"/>
          </a:xfrm>
          <a:prstGeom prst="cloudCallout">
            <a:avLst>
              <a:gd name="adj1" fmla="val -82338"/>
              <a:gd name="adj2" fmla="val 9958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 fontAlgn="t"/>
            <a:r>
              <a:rPr lang="zh-CN" altLang="en-US" sz="2000" dirty="0">
                <a:solidFill>
                  <a:schemeClr val="tx1"/>
                </a:solidFill>
              </a:rPr>
              <a:t>为什么错？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41425" y="87117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78652" y="226367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233" y="0"/>
            <a:ext cx="914400" cy="914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1425" y="897491"/>
            <a:ext cx="85121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例：根据输入的年份和月份，输出该月的天数</a:t>
            </a:r>
            <a:endParaRPr lang="zh-CN" altLang="en-US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17C5E2-3891-4213-875D-98BF2E4C305C}"/>
              </a:ext>
            </a:extLst>
          </p:cNvPr>
          <p:cNvSpPr/>
          <p:nvPr/>
        </p:nvSpPr>
        <p:spPr>
          <a:xfrm>
            <a:off x="1340993" y="1297601"/>
            <a:ext cx="9000211" cy="5635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dirty="0"/>
              <a:t>//year and month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#include &lt;iostream&gt;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using namespace std;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int main() {int iYear, iMonth, iDays;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cout </a:t>
            </a:r>
            <a:r>
              <a:rPr lang="en-US" altLang="zh-CN" dirty="0"/>
              <a:t>&lt;&lt;"please input year:"; </a:t>
            </a:r>
            <a:r>
              <a:rPr lang="zh-CN" altLang="en-US" dirty="0"/>
              <a:t>	                cin &gt;&gt; iYear;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cout &lt;&lt; "please input month:";	cin &gt;&gt; iMonth;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bool isLeap = 0;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if ((iYear % 4 == 0 &amp;&amp; iYear % 100 != 0) || (iYear % 400 == 0))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isLeap = 1;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switch (iMonth) {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case 2: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if (isLeap)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	iDays = 29;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else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	iDays = 28;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break;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case 1:		case 3:		case 5:		case 7: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case 8:		case 10: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case 12: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iDays = 31;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break;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default: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		iDays = 30;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}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cout &lt;&lt; "There are " &lt;&lt; iDays &lt;&lt; " days";</a:t>
            </a:r>
          </a:p>
          <a:p>
            <a:pPr>
              <a:lnSpc>
                <a:spcPts val="1600"/>
              </a:lnSpc>
            </a:pPr>
            <a:r>
              <a:rPr lang="zh-CN" altLang="en-US" dirty="0"/>
              <a:t>	return 0;}</a:t>
            </a:r>
          </a:p>
        </p:txBody>
      </p:sp>
      <p:sp>
        <p:nvSpPr>
          <p:cNvPr id="8" name="文本框 7" descr="2-0.cpp">
            <a:extLst>
              <a:ext uri="{FF2B5EF4-FFF2-40B4-BE49-F238E27FC236}">
                <a16:creationId xmlns:a16="http://schemas.microsoft.com/office/drawing/2014/main" id="{D31AA8CC-50B3-4236-BED5-D8D407DE66F5}"/>
              </a:ext>
            </a:extLst>
          </p:cNvPr>
          <p:cNvSpPr txBox="1"/>
          <p:nvPr/>
        </p:nvSpPr>
        <p:spPr>
          <a:xfrm>
            <a:off x="9232728" y="5391763"/>
            <a:ext cx="171025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3-1-1.cpp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57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41425" y="87117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78652" y="226367"/>
            <a:ext cx="2249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3.4 switch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分支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4233" y="0"/>
            <a:ext cx="914400" cy="914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265592" y="748035"/>
            <a:ext cx="85121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例：输入的某天日期（年，月，日），输出第二天的日期。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9BA89D-A93D-4C59-B829-8DB035FF9167}"/>
              </a:ext>
            </a:extLst>
          </p:cNvPr>
          <p:cNvSpPr/>
          <p:nvPr/>
        </p:nvSpPr>
        <p:spPr>
          <a:xfrm>
            <a:off x="463384" y="994322"/>
            <a:ext cx="6058295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dirty="0"/>
              <a:t>//next date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#include &lt;iostream&gt;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using namespace std;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int main() {int iYear, iMonth, iNumber, iDays;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cout &lt;&lt; "please input year,month,day:";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cin &gt;&gt; iYear &gt;&gt; iMonth &gt;&gt; iNumber;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bool isLeap = 0;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if ((iYear % 4 == 0 &amp;&amp; iYear % 100 != 0) || (iYear % 400 == 0))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isLeap = 1;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switch (iMonth) {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case 2: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if (isLeap)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	iDays = 29;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else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	iDays = 28;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break;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case 1:	case 3:	case 5:	case 7:		case 8:	case 10: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case 12: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iDays = 31;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break;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default: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		iDays = 30;</a:t>
            </a:r>
          </a:p>
          <a:p>
            <a:pPr>
              <a:lnSpc>
                <a:spcPts val="1800"/>
              </a:lnSpc>
            </a:pPr>
            <a:r>
              <a:rPr lang="zh-CN" altLang="en-US" dirty="0"/>
              <a:t>	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B38E80-68F5-470F-88DC-AAE4D7C77FF4}"/>
              </a:ext>
            </a:extLst>
          </p:cNvPr>
          <p:cNvSpPr/>
          <p:nvPr/>
        </p:nvSpPr>
        <p:spPr>
          <a:xfrm>
            <a:off x="7244473" y="1431272"/>
            <a:ext cx="472911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iNumber++;</a:t>
            </a:r>
          </a:p>
          <a:p>
            <a:r>
              <a:rPr lang="zh-CN" altLang="en-US" dirty="0"/>
              <a:t>	if (iNumber &gt; iDays) {</a:t>
            </a:r>
          </a:p>
          <a:p>
            <a:r>
              <a:rPr lang="zh-CN" altLang="en-US" dirty="0"/>
              <a:t>		iNumber = 1;</a:t>
            </a:r>
          </a:p>
          <a:p>
            <a:r>
              <a:rPr lang="zh-CN" altLang="en-US" dirty="0"/>
              <a:t>		iMonth++;</a:t>
            </a:r>
          </a:p>
          <a:p>
            <a:r>
              <a:rPr lang="zh-CN" altLang="en-US" dirty="0"/>
              <a:t>		if (iMonth &gt; 12) {</a:t>
            </a:r>
          </a:p>
          <a:p>
            <a:r>
              <a:rPr lang="zh-CN" altLang="en-US" dirty="0"/>
              <a:t>			iYear++;</a:t>
            </a:r>
          </a:p>
          <a:p>
            <a:r>
              <a:rPr lang="zh-CN" altLang="en-US" dirty="0"/>
              <a:t>			iMonth = 1;</a:t>
            </a:r>
          </a:p>
          <a:p>
            <a:r>
              <a:rPr lang="zh-CN" altLang="en-US" dirty="0"/>
              <a:t>		}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	cout &lt;&lt; "next day is: " &lt;&lt; iYear &lt;&lt; "-" &lt;&lt; iMonth &lt;&lt; "-" &lt;&lt; iNumber &lt;&lt; endl;</a:t>
            </a:r>
          </a:p>
          <a:p>
            <a:r>
              <a:rPr lang="zh-CN" altLang="en-US" dirty="0"/>
              <a:t>	return 0;</a:t>
            </a:r>
          </a:p>
          <a:p>
            <a:r>
              <a:rPr lang="zh-CN" altLang="en-US" dirty="0"/>
              <a:t>}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974BCC4-C6FB-4835-8133-BF366B0B62E2}"/>
              </a:ext>
            </a:extLst>
          </p:cNvPr>
          <p:cNvCxnSpPr/>
          <p:nvPr/>
        </p:nvCxnSpPr>
        <p:spPr>
          <a:xfrm>
            <a:off x="6843860" y="1319753"/>
            <a:ext cx="0" cy="49307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descr="2-0.cpp">
            <a:extLst>
              <a:ext uri="{FF2B5EF4-FFF2-40B4-BE49-F238E27FC236}">
                <a16:creationId xmlns:a16="http://schemas.microsoft.com/office/drawing/2014/main" id="{D540D8C5-F45D-4B95-BD6E-8A7F2BF3BBDE}"/>
              </a:ext>
            </a:extLst>
          </p:cNvPr>
          <p:cNvSpPr txBox="1"/>
          <p:nvPr/>
        </p:nvSpPr>
        <p:spPr>
          <a:xfrm>
            <a:off x="9232728" y="5391763"/>
            <a:ext cx="171025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3-1-2.cpp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993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t">
              <a:defRPr/>
            </a:pPr>
            <a:fld id="{D49A12FA-B72D-4FDB-8FDC-56B7188F2B65}" type="slidenum">
              <a:rPr lang="zh-CN" altLang="en-US" smtClean="0"/>
              <a:pPr fontAlgn="t">
                <a:defRPr/>
              </a:pPr>
              <a:t>22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58348" y="1628800"/>
            <a:ext cx="8856984" cy="324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tx1"/>
                </a:solidFill>
              </a:rPr>
              <a:t>循环的作用：某些语句的重复执行</a:t>
            </a:r>
            <a:endParaRPr lang="en-US" altLang="zh-CN" sz="2800" b="0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0" dirty="0">
                <a:solidFill>
                  <a:schemeClr val="tx1"/>
                </a:solidFill>
              </a:rPr>
              <a:t>常用的三种循环：</a:t>
            </a:r>
            <a:endParaRPr lang="en-US" altLang="zh-CN" sz="2800" b="0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/>
              <a:t>For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0" dirty="0">
                <a:solidFill>
                  <a:schemeClr val="tx1"/>
                </a:solidFill>
              </a:rPr>
              <a:t>while</a:t>
            </a:r>
            <a:endParaRPr lang="zh-CN" altLang="en-US" sz="2800" b="0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0" dirty="0">
                <a:solidFill>
                  <a:schemeClr val="tx1"/>
                </a:solidFill>
              </a:rPr>
              <a:t>do while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721F2C4-7BD9-4EC2-8D26-8E9658E7F4E1}"/>
              </a:ext>
            </a:extLst>
          </p:cNvPr>
          <p:cNvCxnSpPr>
            <a:cxnSpLocks/>
          </p:cNvCxnSpPr>
          <p:nvPr/>
        </p:nvCxnSpPr>
        <p:spPr>
          <a:xfrm>
            <a:off x="1241425" y="1236303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图形 6" descr="饼图演示文稿">
            <a:extLst>
              <a:ext uri="{FF2B5EF4-FFF2-40B4-BE49-F238E27FC236}">
                <a16:creationId xmlns:a16="http://schemas.microsoft.com/office/drawing/2014/main" id="{B7ADDC83-D2D2-407D-965D-4C43581DA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233" y="365125"/>
            <a:ext cx="914400" cy="914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9F4D86F-DC6B-4529-9752-15A9C44A76B0}"/>
              </a:ext>
            </a:extLst>
          </p:cNvPr>
          <p:cNvSpPr/>
          <p:nvPr/>
        </p:nvSpPr>
        <p:spPr>
          <a:xfrm>
            <a:off x="2328633" y="656195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3.5  </a:t>
            </a:r>
            <a:r>
              <a:rPr lang="zh-CN" altLang="en-US" sz="2800" dirty="0"/>
              <a:t>循环结构程序设计 </a:t>
            </a:r>
          </a:p>
        </p:txBody>
      </p:sp>
    </p:spTree>
    <p:extLst>
      <p:ext uri="{BB962C8B-B14F-4D97-AF65-F5344CB8AC3E}">
        <p14:creationId xmlns:p14="http://schemas.microsoft.com/office/powerpoint/2010/main" val="306533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99111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01658" y="251286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C3.5.1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传统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for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258" y="110602"/>
            <a:ext cx="914400" cy="9144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487258" y="4677375"/>
            <a:ext cx="643077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3600" dirty="0"/>
              <a:t>    </a:t>
            </a:r>
            <a:r>
              <a:rPr lang="da-DK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for(int k=1;k&lt;=8;k++) </a:t>
            </a:r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da-DK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cout&lt;&lt;sin(k * PI / 8)&lt;&lt;endl;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28725" y="112306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例：</a:t>
            </a:r>
            <a:endParaRPr lang="en-US" altLang="zh-CN" sz="2400" dirty="0"/>
          </a:p>
        </p:txBody>
      </p:sp>
      <p:sp>
        <p:nvSpPr>
          <p:cNvPr id="17" name="矩形 16"/>
          <p:cNvSpPr/>
          <p:nvPr/>
        </p:nvSpPr>
        <p:spPr>
          <a:xfrm>
            <a:off x="1654643" y="1672793"/>
            <a:ext cx="6096000" cy="27392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altLang="zh-CN" sz="2800" dirty="0"/>
              <a:t> 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const double PI = 3.14159;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cout&lt;&lt;sin(2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cout&lt;&lt;sin(3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cout&lt;&lt;sin(4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cout&lt;&lt;sin(5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cout&lt;&lt;sin(6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cout&lt;&lt;sin(7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    </a:t>
            </a:r>
            <a:r>
              <a:rPr lang="fr-FR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cout&lt;&lt;sin(8 * PI / 8)&lt;&lt;endl;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endParaRPr lang="zh-CN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126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99111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01658" y="251286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C3.5.1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传统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for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258" y="110602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CF2707E-EB9B-436A-92E2-21408C25DD99}"/>
              </a:ext>
            </a:extLst>
          </p:cNvPr>
          <p:cNvSpPr txBox="1"/>
          <p:nvPr/>
        </p:nvSpPr>
        <p:spPr>
          <a:xfrm>
            <a:off x="1349041" y="1054388"/>
            <a:ext cx="609700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循环的基本语法格式为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zh-CN" altLang="en-US" sz="20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en-US" altLang="zh-CN" sz="20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en-US" altLang="zh-CN" sz="2000" dirty="0"/>
              <a:t>for</a:t>
            </a:r>
            <a:r>
              <a:rPr lang="zh-CN" altLang="en-US" sz="2000" b="1" dirty="0">
                <a:solidFill>
                  <a:srgbClr val="FF0000"/>
                </a:solidFill>
                <a:ea typeface="阿里巴巴普惠体 R" panose="00020600040101010101" pitchFamily="18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zh-CN" altLang="en-US" sz="20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(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初始化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;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测试表达式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;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更新</a:t>
            </a:r>
            <a:r>
              <a:rPr lang="zh-CN" altLang="en-US" sz="2000" b="1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)</a:t>
            </a:r>
            <a:endParaRPr lang="en-US" altLang="zh-CN" sz="2000" b="1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{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1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...</a:t>
            </a:r>
          </a:p>
          <a:p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</a:t>
            </a:r>
            <a:r>
              <a:rPr lang="en-US" altLang="zh-CN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n</a:t>
            </a:r>
            <a:r>
              <a:rPr lang="zh-CN" altLang="en-US" sz="2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；</a:t>
            </a:r>
          </a:p>
          <a:p>
            <a:r>
              <a:rPr lang="zh-CN" altLang="en-US" sz="20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FEC80B-ABAC-4FC3-A5EA-990DC9BD2D28}"/>
              </a:ext>
            </a:extLst>
          </p:cNvPr>
          <p:cNvSpPr txBox="1"/>
          <p:nvPr/>
        </p:nvSpPr>
        <p:spPr>
          <a:xfrm>
            <a:off x="1349041" y="4526339"/>
            <a:ext cx="94613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关键字后面的括号里包括三个部分，依次是：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•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初始化语句（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initialization)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：初始化用于循环控制的变量； 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•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测试表达式（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test expression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）：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进行循环测试，一般为一个逻辑判断表达式； 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•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更新表达式（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update expression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: </a:t>
            </a: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修改用于循环测试的变量。注意该表达式尾部没有分号。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026E4F-81AF-4C49-B830-16F1AE130E9D}"/>
              </a:ext>
            </a:extLst>
          </p:cNvPr>
          <p:cNvSpPr txBox="1"/>
          <p:nvPr/>
        </p:nvSpPr>
        <p:spPr>
          <a:xfrm>
            <a:off x="5123406" y="2609436"/>
            <a:ext cx="57270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语句的下层语句称为循环体（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loop body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当构成循环体的语句多于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行时，需要使用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{ }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括起来。</a:t>
            </a:r>
          </a:p>
        </p:txBody>
      </p:sp>
    </p:spTree>
    <p:extLst>
      <p:ext uri="{BB962C8B-B14F-4D97-AF65-F5344CB8AC3E}">
        <p14:creationId xmlns:p14="http://schemas.microsoft.com/office/powerpoint/2010/main" val="321041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192630" y="1018233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29468" y="244517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C3.5.1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传统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for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5068" y="103833"/>
            <a:ext cx="914400" cy="914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92BD8F-F8A9-4DAE-A40C-87A9C0FEB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37" y="1018233"/>
            <a:ext cx="4955927" cy="41599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F16987-CE77-465F-962F-9AC1E0034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089" y="5010916"/>
            <a:ext cx="2479675" cy="176837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170541" y="1018232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</a:t>
            </a:r>
            <a:r>
              <a:rPr lang="en-US" altLang="zh-CN" dirty="0"/>
              <a:t>0+1+2</a:t>
            </a:r>
            <a:r>
              <a:rPr lang="zh-CN" altLang="en-US" dirty="0"/>
              <a:t>的和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251" y="1202898"/>
            <a:ext cx="4955925" cy="5225542"/>
          </a:xfrm>
          <a:prstGeom prst="rect">
            <a:avLst/>
          </a:prstGeom>
        </p:spPr>
      </p:pic>
      <p:sp>
        <p:nvSpPr>
          <p:cNvPr id="12" name="文本框 11" descr="2-0.cpp">
            <a:extLst>
              <a:ext uri="{FF2B5EF4-FFF2-40B4-BE49-F238E27FC236}">
                <a16:creationId xmlns:a16="http://schemas.microsoft.com/office/drawing/2014/main" id="{69B186A9-0F7C-436A-8120-B2A13174ECB6}"/>
              </a:ext>
            </a:extLst>
          </p:cNvPr>
          <p:cNvSpPr txBox="1"/>
          <p:nvPr/>
        </p:nvSpPr>
        <p:spPr>
          <a:xfrm>
            <a:off x="6096000" y="6228432"/>
            <a:ext cx="1041764" cy="3754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3-2.cpp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822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266887B-B45A-47B1-AF71-0F53CA6F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18" y="1957424"/>
            <a:ext cx="5957951" cy="301609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5EDF742-D64A-4E69-B21B-55B121257D5F}"/>
              </a:ext>
            </a:extLst>
          </p:cNvPr>
          <p:cNvSpPr txBox="1"/>
          <p:nvPr/>
        </p:nvSpPr>
        <p:spPr>
          <a:xfrm>
            <a:off x="6337895" y="1164709"/>
            <a:ext cx="5854105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程序的执行结果是错误的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,1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加到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的和应为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5050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，而答案是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4950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，差了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原因在于该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循环的测试表达式为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i&lt;100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，当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因为更新表达式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i++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的执行变成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后，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for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循环要先测试，后执行循环体，显然，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100&lt;100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不成立，第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次的循环未能执行。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152522" y="5546648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23453" y="254454"/>
            <a:ext cx="2823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C3.5.1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传统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for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58CBC41-E484-43CB-BCD4-84B1E8403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12" y="4945249"/>
            <a:ext cx="4326699" cy="16300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0613AE-18FF-47A6-96E3-9DF0277E8F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8736" y="4345705"/>
            <a:ext cx="1473975" cy="2378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6910" y="136233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课堂练习：找出下列程序的逻辑错误：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A592EA5-FFC9-4A70-B2D5-98A5FBC1FD65}"/>
              </a:ext>
            </a:extLst>
          </p:cNvPr>
          <p:cNvGrpSpPr/>
          <p:nvPr/>
        </p:nvGrpSpPr>
        <p:grpSpPr>
          <a:xfrm>
            <a:off x="3816626" y="3915369"/>
            <a:ext cx="3464721" cy="400110"/>
            <a:chOff x="3816626" y="3915369"/>
            <a:chExt cx="3464721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96CD2BF-630A-4F0E-8BC3-1A403A4F376E}"/>
                </a:ext>
              </a:extLst>
            </p:cNvPr>
            <p:cNvSpPr txBox="1"/>
            <p:nvPr/>
          </p:nvSpPr>
          <p:spPr>
            <a:xfrm>
              <a:off x="4977511" y="3915369"/>
              <a:ext cx="2303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7030A0"/>
                  </a:solidFill>
                </a:rPr>
                <a:t>for( </a:t>
              </a:r>
              <a:r>
                <a:rPr lang="en-US" altLang="zh-CN" sz="2000" dirty="0" err="1">
                  <a:solidFill>
                    <a:srgbClr val="7030A0"/>
                  </a:solidFill>
                </a:rPr>
                <a:t>i</a:t>
              </a:r>
              <a:r>
                <a:rPr lang="en-US" altLang="zh-CN" sz="2000" dirty="0">
                  <a:solidFill>
                    <a:srgbClr val="7030A0"/>
                  </a:solidFill>
                </a:rPr>
                <a:t>=1;i&lt;=100;i++)</a:t>
              </a:r>
              <a:endParaRPr lang="zh-CN" altLang="en-US" sz="2000" dirty="0">
                <a:solidFill>
                  <a:srgbClr val="7030A0"/>
                </a:solidFill>
              </a:endParaRPr>
            </a:p>
          </p:txBody>
        </p: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2887237F-E872-4FC4-AD60-9B950BFC1517}"/>
                </a:ext>
              </a:extLst>
            </p:cNvPr>
            <p:cNvSpPr/>
            <p:nvPr/>
          </p:nvSpPr>
          <p:spPr>
            <a:xfrm>
              <a:off x="3816626" y="3984036"/>
              <a:ext cx="954157" cy="166694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193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 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D2B18D4-3A86-4944-8931-66273130975E}"/>
              </a:ext>
            </a:extLst>
          </p:cNvPr>
          <p:cNvSpPr txBox="1"/>
          <p:nvPr/>
        </p:nvSpPr>
        <p:spPr>
          <a:xfrm>
            <a:off x="1326166" y="1366922"/>
            <a:ext cx="6097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while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循环的基本语法格式为：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4ECB1F-8158-401B-BD7E-2963D1BF4F93}"/>
              </a:ext>
            </a:extLst>
          </p:cNvPr>
          <p:cNvSpPr txBox="1"/>
          <p:nvPr/>
        </p:nvSpPr>
        <p:spPr>
          <a:xfrm>
            <a:off x="1463341" y="1929286"/>
            <a:ext cx="6097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(测试表达式) </a:t>
            </a:r>
            <a:r>
              <a:rPr lang="zh-CN" altLang="en-US" sz="24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{</a:t>
            </a:r>
          </a:p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语句；</a:t>
            </a:r>
          </a:p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...</a:t>
            </a:r>
          </a:p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	语句；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191094-D126-4A42-815E-803EA91ADF26}"/>
              </a:ext>
            </a:extLst>
          </p:cNvPr>
          <p:cNvSpPr txBox="1"/>
          <p:nvPr/>
        </p:nvSpPr>
        <p:spPr>
          <a:xfrm>
            <a:off x="996227" y="4359998"/>
            <a:ext cx="104573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while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关键字之后的括号内包含一个测试表达式。当循环体的构成语句多于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行时，循环体部分需要用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{ }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包裹。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while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循环先检查测试表达式的值，如果为真，执行循环体；如果为假，结束循环。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每执行完一轮循环体代码，会再次检查测试表达式，为真继续，为假结束。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循环体中一定包含能使测试表达式变为假的语句。</a:t>
            </a:r>
          </a:p>
        </p:txBody>
      </p:sp>
    </p:spTree>
    <p:extLst>
      <p:ext uri="{BB962C8B-B14F-4D97-AF65-F5344CB8AC3E}">
        <p14:creationId xmlns:p14="http://schemas.microsoft.com/office/powerpoint/2010/main" val="322782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 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D2B18D4-3A86-4944-8931-66273130975E}"/>
              </a:ext>
            </a:extLst>
          </p:cNvPr>
          <p:cNvSpPr txBox="1"/>
          <p:nvPr/>
        </p:nvSpPr>
        <p:spPr>
          <a:xfrm>
            <a:off x="1326166" y="1366922"/>
            <a:ext cx="9976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例：从键盘上输入一个整数，请从个位开始依次输出各位的数字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并计算各位数字之和。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示例：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输入：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4567</a:t>
            </a: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输出：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7 6 5 4</a:t>
            </a:r>
          </a:p>
          <a:p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sum is:22</a:t>
            </a:r>
            <a:endParaRPr lang="zh-CN" altLang="en-US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 descr="2-0.cpp">
            <a:extLst>
              <a:ext uri="{FF2B5EF4-FFF2-40B4-BE49-F238E27FC236}">
                <a16:creationId xmlns:a16="http://schemas.microsoft.com/office/drawing/2014/main" id="{F507A5EC-9175-4F76-B58C-B3A6690CE1F5}"/>
              </a:ext>
            </a:extLst>
          </p:cNvPr>
          <p:cNvSpPr txBox="1"/>
          <p:nvPr/>
        </p:nvSpPr>
        <p:spPr>
          <a:xfrm>
            <a:off x="9123399" y="5115645"/>
            <a:ext cx="1041764" cy="3754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3-3.cpp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174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 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2C5B77E-6DCA-4EFE-8D6B-E870AEAA5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1855899"/>
            <a:ext cx="7123882" cy="48306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4A1C03D-A618-4E67-B3FC-275369F038AE}"/>
              </a:ext>
            </a:extLst>
          </p:cNvPr>
          <p:cNvSpPr txBox="1"/>
          <p:nvPr/>
        </p:nvSpPr>
        <p:spPr>
          <a:xfrm>
            <a:off x="1231846" y="1301899"/>
            <a:ext cx="10828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例：模拟鹦鹉学舌，即从键盘输入一句话，系统自动重复显示此句话，若输入字符</a:t>
            </a:r>
            <a:r>
              <a:rPr lang="en-US" altLang="zh-CN" sz="2000" dirty="0"/>
              <a:t>q</a:t>
            </a:r>
            <a:r>
              <a:rPr lang="zh-CN" altLang="en-US" sz="2000" dirty="0"/>
              <a:t>时退出。</a:t>
            </a:r>
          </a:p>
        </p:txBody>
      </p:sp>
    </p:spTree>
    <p:extLst>
      <p:ext uri="{BB962C8B-B14F-4D97-AF65-F5344CB8AC3E}">
        <p14:creationId xmlns:p14="http://schemas.microsoft.com/office/powerpoint/2010/main" val="291211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46772" y="148265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83999" y="651652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 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9580" y="425285"/>
            <a:ext cx="914400" cy="914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F853E36-8208-4699-ADD4-A851D1B8CE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4487"/>
          <a:stretch/>
        </p:blipFill>
        <p:spPr>
          <a:xfrm>
            <a:off x="1419580" y="4092973"/>
            <a:ext cx="3797718" cy="8399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8E5D78-79AD-4636-AD26-A47F5FDF2D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2736"/>
          <a:stretch/>
        </p:blipFill>
        <p:spPr>
          <a:xfrm>
            <a:off x="1419580" y="2261938"/>
            <a:ext cx="5330742" cy="18790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F322E4-DD10-48F1-9CDC-767BC32CC511}"/>
              </a:ext>
            </a:extLst>
          </p:cNvPr>
          <p:cNvSpPr txBox="1"/>
          <p:nvPr/>
        </p:nvSpPr>
        <p:spPr>
          <a:xfrm>
            <a:off x="1532523" y="4919054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注：第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6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行为操作者的输入。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950B7C-6DFC-41EA-890B-04B2B884E913}"/>
              </a:ext>
            </a:extLst>
          </p:cNvPr>
          <p:cNvSpPr txBox="1"/>
          <p:nvPr/>
        </p:nvSpPr>
        <p:spPr>
          <a:xfrm>
            <a:off x="1532523" y="1776843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上述程序的执行结果为： </a:t>
            </a:r>
          </a:p>
        </p:txBody>
      </p:sp>
    </p:spTree>
    <p:extLst>
      <p:ext uri="{BB962C8B-B14F-4D97-AF65-F5344CB8AC3E}">
        <p14:creationId xmlns:p14="http://schemas.microsoft.com/office/powerpoint/2010/main" val="535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 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F1CC184-8463-4373-8627-2C21FB094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706" y="1483725"/>
            <a:ext cx="6243651" cy="46012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9F5BED4-B4B5-4D01-9E23-8680E404DD62}"/>
              </a:ext>
            </a:extLst>
          </p:cNvPr>
          <p:cNvSpPr txBox="1"/>
          <p:nvPr/>
        </p:nvSpPr>
        <p:spPr>
          <a:xfrm>
            <a:off x="7477625" y="1688262"/>
            <a:ext cx="40155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综上， 上述程序通过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循环不断读取输入，并将得到的输入字符串输出给控制台，就像鹦鹉重复主人的话一样。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如果操作者输入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q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，则循环测试失败，程序结束退出。请读者注意观察图中流程，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循环先检查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测试表达式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后执行（循环体），在极端情况下， 循环体有可能执行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0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次。</a:t>
            </a:r>
          </a:p>
        </p:txBody>
      </p:sp>
    </p:spTree>
    <p:extLst>
      <p:ext uri="{BB962C8B-B14F-4D97-AF65-F5344CB8AC3E}">
        <p14:creationId xmlns:p14="http://schemas.microsoft.com/office/powerpoint/2010/main" val="420876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8137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D13A563-52B1-4AE9-A0D4-6166E8215E01}"/>
              </a:ext>
            </a:extLst>
          </p:cNvPr>
          <p:cNvSpPr txBox="1"/>
          <p:nvPr/>
        </p:nvSpPr>
        <p:spPr>
          <a:xfrm>
            <a:off x="1316691" y="1171312"/>
            <a:ext cx="101180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例：猜数字游戏。系统</a:t>
            </a:r>
            <a:r>
              <a:rPr lang="zh-CN" altLang="en-US" sz="2400" b="1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随机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产生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到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的数字，让玩家输入一个数字，如果输入正确则恭喜玩家并游戏结束；如果输入错误则提示大了还是小了，并让玩家继续输入数字。另外若玩家输入数字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则游戏退出。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224C1C-ABFD-45A4-A1DF-298000A0BB56}"/>
              </a:ext>
            </a:extLst>
          </p:cNvPr>
          <p:cNvSpPr txBox="1"/>
          <p:nvPr/>
        </p:nvSpPr>
        <p:spPr>
          <a:xfrm>
            <a:off x="1316691" y="2580242"/>
            <a:ext cx="955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2060"/>
                </a:solidFill>
              </a:rPr>
              <a:t>rand</a:t>
            </a:r>
            <a:r>
              <a:rPr lang="zh-CN" altLang="en-US" sz="2400" b="1" dirty="0">
                <a:solidFill>
                  <a:srgbClr val="002060"/>
                </a:solidFill>
              </a:rPr>
              <a:t>函数</a:t>
            </a:r>
            <a:r>
              <a:rPr lang="zh-CN" altLang="en-US" sz="2400" b="1" dirty="0"/>
              <a:t>：返回一个从 </a:t>
            </a:r>
            <a:r>
              <a:rPr lang="en-US" altLang="zh-CN" sz="2400" b="1" dirty="0"/>
              <a:t>0 </a:t>
            </a:r>
            <a:r>
              <a:rPr lang="zh-CN" altLang="en-US" sz="2400" b="1" dirty="0"/>
              <a:t>到最大随机数</a:t>
            </a:r>
            <a:r>
              <a:rPr lang="en-US" altLang="zh-CN" sz="2400" b="1" dirty="0"/>
              <a:t>(</a:t>
            </a:r>
            <a:r>
              <a:rPr lang="en-US" altLang="zh-CN" dirty="0"/>
              <a:t>RAND_MAX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之间的任意整数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5FC614-EFE5-48F4-9524-72A25456534B}"/>
              </a:ext>
            </a:extLst>
          </p:cNvPr>
          <p:cNvSpPr txBox="1"/>
          <p:nvPr/>
        </p:nvSpPr>
        <p:spPr>
          <a:xfrm>
            <a:off x="1316691" y="3343488"/>
            <a:ext cx="2759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产生</a:t>
            </a:r>
            <a:r>
              <a:rPr lang="en-US" altLang="zh-CN" sz="2400" b="1" dirty="0">
                <a:solidFill>
                  <a:srgbClr val="002060"/>
                </a:solidFill>
              </a:rPr>
              <a:t>1-100</a:t>
            </a:r>
            <a:r>
              <a:rPr lang="zh-CN" altLang="en-US" sz="2400" b="1" dirty="0">
                <a:solidFill>
                  <a:srgbClr val="002060"/>
                </a:solidFill>
              </a:rPr>
              <a:t>的数字：</a:t>
            </a:r>
            <a:endParaRPr lang="zh-CN" altLang="en-US" sz="24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18632C-A298-4265-B0EF-B73B41B5255A}"/>
              </a:ext>
            </a:extLst>
          </p:cNvPr>
          <p:cNvSpPr/>
          <p:nvPr/>
        </p:nvSpPr>
        <p:spPr>
          <a:xfrm>
            <a:off x="3974907" y="3354429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rand()%100+1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9487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8137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5D99E2-DAF6-4F0E-BC91-3E65EEDC6F91}"/>
              </a:ext>
            </a:extLst>
          </p:cNvPr>
          <p:cNvSpPr/>
          <p:nvPr/>
        </p:nvSpPr>
        <p:spPr>
          <a:xfrm>
            <a:off x="1750325" y="1085821"/>
            <a:ext cx="81133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//guessdigit</a:t>
            </a:r>
          </a:p>
          <a:p>
            <a:r>
              <a:rPr lang="zh-CN" altLang="en-US" dirty="0"/>
              <a:t>#include &lt;iostream&gt;</a:t>
            </a:r>
          </a:p>
          <a:p>
            <a:r>
              <a:rPr lang="zh-CN" altLang="en-US" dirty="0"/>
              <a:t>using namespace std;</a:t>
            </a:r>
          </a:p>
          <a:p>
            <a:r>
              <a:rPr lang="zh-CN" altLang="en-US" dirty="0"/>
              <a:t>int main() {int number = rand() % 100 + 1;</a:t>
            </a:r>
          </a:p>
          <a:p>
            <a:r>
              <a:rPr lang="zh-CN" altLang="en-US" dirty="0"/>
              <a:t>	int iDigit = 0;</a:t>
            </a:r>
          </a:p>
          <a:p>
            <a:r>
              <a:rPr lang="zh-CN" altLang="en-US" dirty="0"/>
              <a:t>	while (iDigit != number) {</a:t>
            </a:r>
          </a:p>
          <a:p>
            <a:r>
              <a:rPr lang="zh-CN" altLang="en-US" dirty="0"/>
              <a:t>		cout &lt;&lt; "please input number:";</a:t>
            </a:r>
          </a:p>
          <a:p>
            <a:r>
              <a:rPr lang="zh-CN" altLang="en-US" dirty="0"/>
              <a:t>		cin &gt;&gt; iDigit;</a:t>
            </a:r>
          </a:p>
          <a:p>
            <a:r>
              <a:rPr lang="zh-CN" altLang="en-US" dirty="0"/>
              <a:t>		if (iDigit == 0)</a:t>
            </a:r>
          </a:p>
          <a:p>
            <a:r>
              <a:rPr lang="zh-CN" altLang="en-US" dirty="0"/>
              <a:t>			return 0;</a:t>
            </a:r>
          </a:p>
          <a:p>
            <a:r>
              <a:rPr lang="zh-CN" altLang="en-US" dirty="0"/>
              <a:t>		if (iDigit == number)</a:t>
            </a:r>
          </a:p>
          <a:p>
            <a:r>
              <a:rPr lang="zh-CN" altLang="en-US" dirty="0"/>
              <a:t>			cout &lt;&lt; "you win!" &lt;&lt; endl;</a:t>
            </a:r>
          </a:p>
          <a:p>
            <a:r>
              <a:rPr lang="zh-CN" altLang="en-US" dirty="0"/>
              <a:t>		else {</a:t>
            </a:r>
          </a:p>
          <a:p>
            <a:r>
              <a:rPr lang="zh-CN" altLang="en-US" dirty="0"/>
              <a:t>			if (iDigit &gt; number)</a:t>
            </a:r>
          </a:p>
          <a:p>
            <a:r>
              <a:rPr lang="zh-CN" altLang="en-US" dirty="0"/>
              <a:t>				cout &lt;&lt; "bigger!" &lt;&lt; endl;</a:t>
            </a:r>
          </a:p>
          <a:p>
            <a:r>
              <a:rPr lang="zh-CN" altLang="en-US" dirty="0"/>
              <a:t>			else</a:t>
            </a:r>
          </a:p>
          <a:p>
            <a:r>
              <a:rPr lang="zh-CN" altLang="en-US" dirty="0"/>
              <a:t>				cout &lt;&lt; "smaller!" &lt;&lt; endl;</a:t>
            </a:r>
          </a:p>
          <a:p>
            <a:r>
              <a:rPr lang="zh-CN" altLang="en-US" dirty="0"/>
              <a:t>		}</a:t>
            </a:r>
          </a:p>
          <a:p>
            <a:r>
              <a:rPr lang="zh-CN" altLang="en-US" dirty="0"/>
              <a:t>	}</a:t>
            </a:r>
          </a:p>
          <a:p>
            <a:r>
              <a:rPr lang="zh-CN" altLang="en-US" dirty="0"/>
              <a:t>	return 0;}</a:t>
            </a:r>
          </a:p>
        </p:txBody>
      </p:sp>
    </p:spTree>
    <p:extLst>
      <p:ext uri="{BB962C8B-B14F-4D97-AF65-F5344CB8AC3E}">
        <p14:creationId xmlns:p14="http://schemas.microsoft.com/office/powerpoint/2010/main" val="27992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66885" y="103227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C3.5.5 do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5B14777-89B1-47DC-9B69-D0AE0EF0DA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70"/>
          <a:stretch/>
        </p:blipFill>
        <p:spPr>
          <a:xfrm>
            <a:off x="1084071" y="1810754"/>
            <a:ext cx="8620799" cy="47517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97D7C44-21D7-493C-9DA8-A247AB9171D5}"/>
              </a:ext>
            </a:extLst>
          </p:cNvPr>
          <p:cNvSpPr txBox="1"/>
          <p:nvPr/>
        </p:nvSpPr>
        <p:spPr>
          <a:xfrm>
            <a:off x="1143980" y="1151896"/>
            <a:ext cx="8158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我们通过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do 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版本的鹦鹉程序来说明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do 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循环的异同。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代码如下：</a:t>
            </a:r>
          </a:p>
        </p:txBody>
      </p:sp>
    </p:spTree>
    <p:extLst>
      <p:ext uri="{BB962C8B-B14F-4D97-AF65-F5344CB8AC3E}">
        <p14:creationId xmlns:p14="http://schemas.microsoft.com/office/powerpoint/2010/main" val="414414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C3.5.5 do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F711138-6D43-47B7-A1BC-448937C99A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728" b="15555"/>
          <a:stretch/>
        </p:blipFill>
        <p:spPr>
          <a:xfrm>
            <a:off x="1514474" y="2237874"/>
            <a:ext cx="5221137" cy="23882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16FBE50-81F1-4219-BB67-80712E67A527}"/>
              </a:ext>
            </a:extLst>
          </p:cNvPr>
          <p:cNvSpPr txBox="1"/>
          <p:nvPr/>
        </p:nvSpPr>
        <p:spPr>
          <a:xfrm>
            <a:off x="1743075" y="4751289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注：第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6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行为操作者的输入。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C11019-1C7C-41B3-BDFC-1F200A127324}"/>
              </a:ext>
            </a:extLst>
          </p:cNvPr>
          <p:cNvSpPr txBox="1"/>
          <p:nvPr/>
        </p:nvSpPr>
        <p:spPr>
          <a:xfrm>
            <a:off x="1598696" y="1922045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上述代码的执行结果为：</a:t>
            </a:r>
          </a:p>
        </p:txBody>
      </p:sp>
    </p:spTree>
    <p:extLst>
      <p:ext uri="{BB962C8B-B14F-4D97-AF65-F5344CB8AC3E}">
        <p14:creationId xmlns:p14="http://schemas.microsoft.com/office/powerpoint/2010/main" val="293702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42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C3.5.5 do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while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BDEA88-1575-41CD-9F54-9AE833990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1598120"/>
            <a:ext cx="6460740" cy="49090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1BF357A-8E2C-4D66-8B80-F5A76DEF8B36}"/>
              </a:ext>
            </a:extLst>
          </p:cNvPr>
          <p:cNvSpPr txBox="1"/>
          <p:nvPr/>
        </p:nvSpPr>
        <p:spPr>
          <a:xfrm>
            <a:off x="5930900" y="2657386"/>
            <a:ext cx="43878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如图所示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,do 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循环和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循环的主要区别是先执行（循环体），后检查（测试表达式）。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    也就是说，无论测试表达式真假，循环体至少会被执行一次。上述程序的执行过程请读者参照流程图，自行模拟。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对于程序设计而言，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do while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循环并不是必须使用的技术。其相关功能，完全可以通过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或者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循环来实现。</a:t>
            </a:r>
          </a:p>
        </p:txBody>
      </p:sp>
    </p:spTree>
    <p:extLst>
      <p:ext uri="{BB962C8B-B14F-4D97-AF65-F5344CB8AC3E}">
        <p14:creationId xmlns:p14="http://schemas.microsoft.com/office/powerpoint/2010/main" val="146252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209083" y="62372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97344" y="3799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循环的嵌套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0613AE-18FF-47A6-96E3-9DF0277E8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736" y="4345705"/>
            <a:ext cx="1473975" cy="23787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234741" y="1283032"/>
            <a:ext cx="1044116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zh-CN" sz="2000" dirty="0"/>
              <a:t>例</a:t>
            </a:r>
            <a:r>
              <a:rPr lang="en-US" altLang="zh-CN" sz="2000" dirty="0"/>
              <a:t> </a:t>
            </a:r>
            <a:r>
              <a:rPr lang="zh-CN" altLang="en-US" sz="2000" dirty="0"/>
              <a:t>输入字符和数目，</a:t>
            </a:r>
            <a:r>
              <a:rPr lang="zh-CN" altLang="zh-CN" sz="2000" dirty="0"/>
              <a:t>打印</a:t>
            </a:r>
            <a:r>
              <a:rPr lang="zh-CN" altLang="en-US" sz="2000" dirty="0"/>
              <a:t>以下图形。</a:t>
            </a: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2000" dirty="0"/>
              <a:t>若输入的字符为</a:t>
            </a:r>
            <a:r>
              <a:rPr lang="en-US" altLang="zh-CN" sz="2000" dirty="0"/>
              <a:t>*</a:t>
            </a:r>
            <a:r>
              <a:rPr lang="zh-CN" altLang="en-US" sz="2000" dirty="0"/>
              <a:t>，输入的个数为</a:t>
            </a:r>
            <a:r>
              <a:rPr lang="en-US" altLang="zh-CN" sz="2000" dirty="0"/>
              <a:t>4</a:t>
            </a:r>
            <a:r>
              <a:rPr lang="zh-CN" altLang="en-US" sz="2000" dirty="0"/>
              <a:t>，则打印的图形为：</a:t>
            </a: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altLang="zh-CN" sz="2000" dirty="0"/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2000" dirty="0"/>
              <a:t>若输入的字符为</a:t>
            </a:r>
            <a:r>
              <a:rPr lang="en-US" altLang="zh-CN" sz="2000" dirty="0"/>
              <a:t>#</a:t>
            </a:r>
            <a:r>
              <a:rPr lang="zh-CN" altLang="en-US" sz="2000" dirty="0"/>
              <a:t>，输入的个数为</a:t>
            </a:r>
            <a:r>
              <a:rPr lang="en-US" altLang="zh-CN" sz="2000" dirty="0"/>
              <a:t>6</a:t>
            </a:r>
            <a:r>
              <a:rPr lang="zh-CN" altLang="en-US" sz="2000" dirty="0"/>
              <a:t>，则打印的图形为：</a:t>
            </a:r>
            <a:endParaRPr lang="zh-CN" altLang="zh-CN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9A0595-A998-4049-A8DE-61753137B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852" y="2162175"/>
            <a:ext cx="723900" cy="12668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7C4679-26B0-46E6-A165-F7102604A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4209" y="4381662"/>
            <a:ext cx="10953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0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209083" y="62372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97344" y="3799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循环的嵌套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8E55AC-7C43-4339-AD8C-B7B0BC7DCFA7}"/>
              </a:ext>
            </a:extLst>
          </p:cNvPr>
          <p:cNvSpPr/>
          <p:nvPr/>
        </p:nvSpPr>
        <p:spPr>
          <a:xfrm>
            <a:off x="1866253" y="1096439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//printstar</a:t>
            </a:r>
          </a:p>
          <a:p>
            <a:r>
              <a:rPr lang="zh-CN" altLang="en-US" sz="2400" dirty="0"/>
              <a:t>#include &lt;iostream&gt;</a:t>
            </a:r>
          </a:p>
          <a:p>
            <a:r>
              <a:rPr lang="zh-CN" altLang="en-US" sz="2400" dirty="0"/>
              <a:t>using namespace std;</a:t>
            </a:r>
          </a:p>
          <a:p>
            <a:r>
              <a:rPr lang="zh-CN" altLang="en-US" sz="2400" dirty="0"/>
              <a:t>int main() {</a:t>
            </a:r>
          </a:p>
          <a:p>
            <a:r>
              <a:rPr lang="zh-CN" altLang="en-US" sz="2400" dirty="0"/>
              <a:t>	char c;</a:t>
            </a:r>
          </a:p>
          <a:p>
            <a:r>
              <a:rPr lang="zh-CN" altLang="en-US" sz="2400" dirty="0"/>
              <a:t>	cin &gt;&gt; c;</a:t>
            </a:r>
          </a:p>
          <a:p>
            <a:r>
              <a:rPr lang="zh-CN" altLang="en-US" sz="2400" dirty="0"/>
              <a:t>	int number;</a:t>
            </a:r>
          </a:p>
          <a:p>
            <a:r>
              <a:rPr lang="zh-CN" altLang="en-US" sz="2400" dirty="0"/>
              <a:t>	cin &gt;&gt; number;</a:t>
            </a:r>
          </a:p>
          <a:p>
            <a:r>
              <a:rPr lang="zh-CN" altLang="en-US" sz="2400" dirty="0"/>
              <a:t>	for (int i = 1; i &lt;= number; i++) {</a:t>
            </a:r>
          </a:p>
          <a:p>
            <a:r>
              <a:rPr lang="zh-CN" altLang="en-US" sz="2400" dirty="0"/>
              <a:t>		for (int j = 1; j &lt;= i; j++)</a:t>
            </a:r>
          </a:p>
          <a:p>
            <a:r>
              <a:rPr lang="zh-CN" altLang="en-US" sz="2400" dirty="0"/>
              <a:t>			cout &lt;&lt; c;</a:t>
            </a:r>
          </a:p>
          <a:p>
            <a:r>
              <a:rPr lang="zh-CN" altLang="en-US" sz="2400" dirty="0"/>
              <a:t>		cout &lt;&lt; endl;</a:t>
            </a:r>
          </a:p>
          <a:p>
            <a:r>
              <a:rPr lang="zh-CN" altLang="en-US" sz="2400" dirty="0"/>
              <a:t>	}</a:t>
            </a:r>
          </a:p>
          <a:p>
            <a:r>
              <a:rPr lang="zh-CN" altLang="en-US" sz="2400" dirty="0"/>
              <a:t>	return 0;</a:t>
            </a:r>
            <a:endParaRPr lang="en-US" altLang="zh-CN" sz="2400" dirty="0"/>
          </a:p>
          <a:p>
            <a:r>
              <a:rPr lang="zh-CN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720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209083" y="62372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97344" y="3799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循环的嵌套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0613AE-18FF-47A6-96E3-9DF0277E8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736" y="4345705"/>
            <a:ext cx="1473975" cy="23787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234741" y="1283032"/>
            <a:ext cx="104411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zh-CN" sz="2000" dirty="0"/>
              <a:t>例</a:t>
            </a:r>
            <a:r>
              <a:rPr lang="en-US" altLang="zh-CN" sz="2000" dirty="0"/>
              <a:t> </a:t>
            </a:r>
            <a:r>
              <a:rPr lang="zh-CN" altLang="zh-CN" sz="2000" dirty="0"/>
              <a:t>打印国际象棋棋盘图形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455" y="2199131"/>
            <a:ext cx="2743438" cy="278154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288212" y="496746"/>
            <a:ext cx="6096000" cy="618630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spAutoFit/>
          </a:bodyPr>
          <a:lstStyle/>
          <a:p>
            <a:r>
              <a:rPr lang="zh-CN" altLang="en-US" b="1" dirty="0"/>
              <a:t>#include &lt;iostream&gt;</a:t>
            </a:r>
          </a:p>
          <a:p>
            <a:r>
              <a:rPr lang="zh-CN" altLang="en-US" b="1" dirty="0"/>
              <a:t>using namespace std;</a:t>
            </a:r>
          </a:p>
          <a:p>
            <a:r>
              <a:rPr lang="zh-CN" altLang="en-US" b="1" dirty="0"/>
              <a:t>int main() {</a:t>
            </a:r>
          </a:p>
          <a:p>
            <a:r>
              <a:rPr lang="zh-CN" altLang="en-US" b="1" dirty="0"/>
              <a:t>	for (int i = 0; i &lt; 8; i++) {</a:t>
            </a:r>
          </a:p>
          <a:p>
            <a:r>
              <a:rPr lang="zh-CN" altLang="en-US" b="1" dirty="0"/>
              <a:t>		if (i % 2 == 0) {</a:t>
            </a:r>
          </a:p>
          <a:p>
            <a:r>
              <a:rPr lang="zh-CN" altLang="en-US" b="1" dirty="0"/>
              <a:t>			for (int j = 0; j &lt; 8; j++) {</a:t>
            </a:r>
          </a:p>
          <a:p>
            <a:r>
              <a:rPr lang="zh-CN" altLang="en-US" b="1" dirty="0"/>
              <a:t>				if (j % 2 == 0)</a:t>
            </a:r>
          </a:p>
          <a:p>
            <a:r>
              <a:rPr lang="zh-CN" altLang="en-US" b="1" dirty="0"/>
              <a:t>					cout &lt;&lt; "■";</a:t>
            </a:r>
          </a:p>
          <a:p>
            <a:r>
              <a:rPr lang="zh-CN" altLang="en-US" b="1" dirty="0"/>
              <a:t>				else</a:t>
            </a:r>
          </a:p>
          <a:p>
            <a:r>
              <a:rPr lang="zh-CN" altLang="en-US" b="1" dirty="0"/>
              <a:t>					cout &lt;&lt; "  ";</a:t>
            </a:r>
          </a:p>
          <a:p>
            <a:r>
              <a:rPr lang="zh-CN" altLang="en-US" b="1" dirty="0"/>
              <a:t>			}</a:t>
            </a:r>
          </a:p>
          <a:p>
            <a:r>
              <a:rPr lang="zh-CN" altLang="en-US" b="1" dirty="0"/>
              <a:t>		} else {</a:t>
            </a:r>
          </a:p>
          <a:p>
            <a:r>
              <a:rPr lang="zh-CN" altLang="en-US" b="1" dirty="0"/>
              <a:t>			for (int j = 0; j &lt; 8; j++) {</a:t>
            </a:r>
          </a:p>
          <a:p>
            <a:r>
              <a:rPr lang="zh-CN" altLang="en-US" b="1" dirty="0"/>
              <a:t>				if (j % 2 == 0)</a:t>
            </a:r>
          </a:p>
          <a:p>
            <a:r>
              <a:rPr lang="zh-CN" altLang="en-US" b="1" dirty="0"/>
              <a:t>					cout &lt;&lt; "  ";</a:t>
            </a:r>
          </a:p>
          <a:p>
            <a:r>
              <a:rPr lang="zh-CN" altLang="en-US" b="1" dirty="0"/>
              <a:t>				else</a:t>
            </a:r>
          </a:p>
          <a:p>
            <a:r>
              <a:rPr lang="zh-CN" altLang="en-US" b="1" dirty="0"/>
              <a:t>					cout &lt;&lt; "■";</a:t>
            </a:r>
          </a:p>
          <a:p>
            <a:r>
              <a:rPr lang="zh-CN" altLang="en-US" b="1" dirty="0"/>
              <a:t>			}</a:t>
            </a:r>
          </a:p>
          <a:p>
            <a:r>
              <a:rPr lang="zh-CN" altLang="en-US" b="1" dirty="0"/>
              <a:t>		}</a:t>
            </a:r>
          </a:p>
          <a:p>
            <a:r>
              <a:rPr lang="zh-CN" altLang="en-US" b="1" dirty="0"/>
              <a:t>		cout &lt;&lt; endl;</a:t>
            </a:r>
          </a:p>
          <a:p>
            <a:r>
              <a:rPr lang="zh-CN" altLang="en-US" b="1" dirty="0"/>
              <a:t>	}</a:t>
            </a:r>
          </a:p>
          <a:p>
            <a:r>
              <a:rPr lang="zh-CN" altLang="en-US" b="1" dirty="0"/>
              <a:t>	return 0;}</a:t>
            </a:r>
          </a:p>
        </p:txBody>
      </p:sp>
    </p:spTree>
    <p:extLst>
      <p:ext uri="{BB962C8B-B14F-4D97-AF65-F5344CB8AC3E}">
        <p14:creationId xmlns:p14="http://schemas.microsoft.com/office/powerpoint/2010/main" val="259441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171376" y="6215951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97344" y="3799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循环的嵌套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0613AE-18FF-47A6-96E3-9DF0277E8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736" y="4345705"/>
            <a:ext cx="1473975" cy="237875"/>
          </a:xfrm>
          <a:prstGeom prst="rect">
            <a:avLst/>
          </a:prstGeom>
        </p:spPr>
      </p:pic>
      <p:sp>
        <p:nvSpPr>
          <p:cNvPr id="12" name="内容占位符 9"/>
          <p:cNvSpPr txBox="1">
            <a:spLocks/>
          </p:cNvSpPr>
          <p:nvPr/>
        </p:nvSpPr>
        <p:spPr>
          <a:xfrm>
            <a:off x="1012165" y="1254751"/>
            <a:ext cx="10403695" cy="3419000"/>
          </a:xfrm>
          <a:prstGeom prst="rect">
            <a:avLst/>
          </a:prstGeom>
          <a:noFill/>
        </p:spPr>
        <p:txBody>
          <a:bodyPr vert="horz" lIns="25200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i="0" dirty="0">
                <a:solidFill>
                  <a:schemeClr val="tx1"/>
                </a:solidFill>
                <a:latin typeface="+mn-ea"/>
                <a:ea typeface="+mn-ea"/>
              </a:rPr>
              <a:t>循环嵌套注意：</a:t>
            </a:r>
            <a:endParaRPr lang="en-US" altLang="zh-CN" sz="2400" b="1" i="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sz="24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+mn-ea"/>
                <a:ea typeface="+mn-ea"/>
              </a:rPr>
              <a:t>嵌套的循环不能出现交叉。</a:t>
            </a:r>
            <a:endParaRPr lang="en-US" altLang="zh-CN" sz="2400" dirty="0">
              <a:latin typeface="+mn-ea"/>
              <a:ea typeface="+mn-ea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zh-CN" altLang="zh-CN" sz="2400" dirty="0">
              <a:latin typeface="+mn-ea"/>
              <a:ea typeface="+mn-ea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+mn-ea"/>
                <a:ea typeface="+mn-ea"/>
              </a:rPr>
              <a:t>不要随便在内层循环修改外层循环控制变量的值。</a:t>
            </a:r>
            <a:endParaRPr lang="en-US" altLang="zh-CN" sz="2400" dirty="0">
              <a:latin typeface="+mn-ea"/>
              <a:ea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55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209083" y="6264393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1096439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397344" y="3799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循环的嵌套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9053" y="113770"/>
            <a:ext cx="914400" cy="9144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0613AE-18FF-47A6-96E3-9DF0277E8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736" y="4345705"/>
            <a:ext cx="1473975" cy="237875"/>
          </a:xfrm>
          <a:prstGeom prst="rect">
            <a:avLst/>
          </a:prstGeom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409051" y="1675716"/>
            <a:ext cx="4266159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ahoma" pitchFamily="34" charset="0"/>
              </a:rPr>
              <a:t>A:</a:t>
            </a:r>
          </a:p>
          <a:p>
            <a:r>
              <a:rPr lang="en-US" altLang="zh-CN" sz="2000" dirty="0">
                <a:latin typeface="Tahoma" pitchFamily="34" charset="0"/>
              </a:rPr>
              <a:t>for (</a:t>
            </a:r>
            <a:r>
              <a:rPr lang="en-US" altLang="zh-CN" sz="2000" dirty="0" err="1">
                <a:latin typeface="Tahoma" pitchFamily="34" charset="0"/>
              </a:rPr>
              <a:t>i</a:t>
            </a:r>
            <a:r>
              <a:rPr lang="en-US" altLang="zh-CN" sz="2000" dirty="0">
                <a:latin typeface="Tahoma" pitchFamily="34" charset="0"/>
              </a:rPr>
              <a:t> = 0,  k = 1; </a:t>
            </a:r>
            <a:r>
              <a:rPr lang="en-US" altLang="zh-CN" sz="2000" dirty="0" err="1">
                <a:latin typeface="Tahoma" pitchFamily="34" charset="0"/>
              </a:rPr>
              <a:t>i</a:t>
            </a:r>
            <a:r>
              <a:rPr lang="en-US" altLang="zh-CN" sz="2000" dirty="0">
                <a:latin typeface="Tahoma" pitchFamily="34" charset="0"/>
              </a:rPr>
              <a:t> &lt; 10; </a:t>
            </a:r>
            <a:r>
              <a:rPr lang="en-US" altLang="zh-CN" sz="2000" dirty="0" err="1">
                <a:latin typeface="Tahoma" pitchFamily="34" charset="0"/>
              </a:rPr>
              <a:t>i</a:t>
            </a:r>
            <a:r>
              <a:rPr lang="en-US" altLang="zh-CN" sz="2000" dirty="0">
                <a:latin typeface="Tahoma" pitchFamily="34" charset="0"/>
              </a:rPr>
              <a:t>++)</a:t>
            </a:r>
          </a:p>
          <a:p>
            <a:r>
              <a:rPr lang="en-US" altLang="zh-CN" sz="2000" dirty="0">
                <a:latin typeface="Tahoma" pitchFamily="34" charset="0"/>
              </a:rPr>
              <a:t>  if (</a:t>
            </a:r>
            <a:r>
              <a:rPr lang="en-US" altLang="zh-CN" sz="2000" dirty="0" err="1">
                <a:latin typeface="Tahoma" pitchFamily="34" charset="0"/>
              </a:rPr>
              <a:t>i</a:t>
            </a:r>
            <a:r>
              <a:rPr lang="en-US" altLang="zh-CN" sz="2000" dirty="0">
                <a:latin typeface="Tahoma" pitchFamily="34" charset="0"/>
              </a:rPr>
              <a:t> % 5)</a:t>
            </a:r>
          </a:p>
          <a:p>
            <a:r>
              <a:rPr lang="en-US" altLang="zh-CN" sz="2000" dirty="0">
                <a:latin typeface="Tahoma" pitchFamily="34" charset="0"/>
              </a:rPr>
              <a:t>     k = </a:t>
            </a:r>
            <a:r>
              <a:rPr lang="en-US" altLang="zh-CN" sz="2000" dirty="0" err="1">
                <a:latin typeface="Tahoma" pitchFamily="34" charset="0"/>
              </a:rPr>
              <a:t>i</a:t>
            </a:r>
            <a:r>
              <a:rPr lang="en-US" altLang="zh-CN" sz="2000" dirty="0">
                <a:latin typeface="Tahoma" pitchFamily="34" charset="0"/>
              </a:rPr>
              <a:t> * 10;</a:t>
            </a:r>
          </a:p>
          <a:p>
            <a:r>
              <a:rPr lang="en-US" altLang="zh-CN" sz="2000" dirty="0">
                <a:latin typeface="Tahoma" pitchFamily="34" charset="0"/>
              </a:rPr>
              <a:t>  else</a:t>
            </a:r>
          </a:p>
          <a:p>
            <a:r>
              <a:rPr lang="en-US" altLang="zh-CN" sz="2000" dirty="0">
                <a:latin typeface="Tahoma" pitchFamily="34" charset="0"/>
              </a:rPr>
              <a:t>     </a:t>
            </a:r>
            <a:r>
              <a:rPr lang="en-US" altLang="zh-CN" sz="2000" dirty="0" err="1">
                <a:latin typeface="Tahoma" pitchFamily="34" charset="0"/>
              </a:rPr>
              <a:t>cout</a:t>
            </a:r>
            <a:r>
              <a:rPr lang="en-US" altLang="zh-CN" sz="2000" dirty="0">
                <a:latin typeface="Tahoma" pitchFamily="34" charset="0"/>
              </a:rPr>
              <a:t> &lt;&lt; "k:" &lt;&lt; k &lt;&lt; </a:t>
            </a:r>
            <a:r>
              <a:rPr lang="en-US" altLang="zh-CN" sz="2000" dirty="0" err="1">
                <a:latin typeface="Tahoma" pitchFamily="34" charset="0"/>
              </a:rPr>
              <a:t>endl</a:t>
            </a:r>
            <a:r>
              <a:rPr lang="en-US" altLang="zh-CN" sz="2000" dirty="0">
                <a:latin typeface="Tahoma" pitchFamily="34" charset="0"/>
              </a:rPr>
              <a:t>;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474431" y="4017624"/>
            <a:ext cx="4135401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ahoma" pitchFamily="34" charset="0"/>
              </a:rPr>
              <a:t>B:</a:t>
            </a:r>
          </a:p>
          <a:p>
            <a:r>
              <a:rPr lang="nn-NO" altLang="zh-CN" sz="2000" dirty="0">
                <a:latin typeface="Tahoma" pitchFamily="34" charset="0"/>
              </a:rPr>
              <a:t>for (i = 0, k = 1; i &lt; 10; i++)</a:t>
            </a:r>
          </a:p>
          <a:p>
            <a:r>
              <a:rPr lang="nn-NO" altLang="zh-CN" sz="2000" dirty="0">
                <a:latin typeface="Tahoma" pitchFamily="34" charset="0"/>
              </a:rPr>
              <a:t> {</a:t>
            </a:r>
          </a:p>
          <a:p>
            <a:r>
              <a:rPr lang="nn-NO" altLang="zh-CN" sz="2000" dirty="0">
                <a:latin typeface="Tahoma" pitchFamily="34" charset="0"/>
              </a:rPr>
              <a:t>    if (i % 5)</a:t>
            </a:r>
          </a:p>
          <a:p>
            <a:r>
              <a:rPr lang="nn-NO" altLang="zh-CN" sz="2000" dirty="0">
                <a:latin typeface="Tahoma" pitchFamily="34" charset="0"/>
              </a:rPr>
              <a:t>        k = i * 10;</a:t>
            </a:r>
          </a:p>
          <a:p>
            <a:r>
              <a:rPr lang="nn-NO" altLang="zh-CN" sz="2000" dirty="0">
                <a:latin typeface="Tahoma" pitchFamily="34" charset="0"/>
              </a:rPr>
              <a:t>   cout &lt;&lt; "k:" &lt;&lt; k &lt;&lt; endl;</a:t>
            </a:r>
          </a:p>
          <a:p>
            <a:r>
              <a:rPr lang="nn-NO" altLang="zh-CN" sz="2000" dirty="0">
                <a:latin typeface="Tahoma" pitchFamily="34" charset="0"/>
              </a:rPr>
              <a:t>   }</a:t>
            </a:r>
            <a:endParaRPr lang="en-US" altLang="zh-CN" sz="2000" dirty="0">
              <a:latin typeface="Tahoma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6612089" y="4325401"/>
            <a:ext cx="4201221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ahoma" pitchFamily="34" charset="0"/>
              </a:rPr>
              <a:t>D:</a:t>
            </a:r>
          </a:p>
          <a:p>
            <a:r>
              <a:rPr lang="nn-NO" altLang="zh-CN" sz="2000" dirty="0">
                <a:latin typeface="Tahoma" pitchFamily="34" charset="0"/>
              </a:rPr>
              <a:t>for (i = 0, k = 1; i &lt; 10; i++)</a:t>
            </a:r>
          </a:p>
          <a:p>
            <a:r>
              <a:rPr lang="nn-NO" altLang="zh-CN" sz="2000" dirty="0">
                <a:latin typeface="Tahoma" pitchFamily="34" charset="0"/>
              </a:rPr>
              <a:t>   if (i % 5) </a:t>
            </a:r>
          </a:p>
          <a:p>
            <a:r>
              <a:rPr lang="nn-NO" altLang="zh-CN" sz="2000" dirty="0">
                <a:latin typeface="Tahoma" pitchFamily="34" charset="0"/>
              </a:rPr>
              <a:t>    {  k = i * 10;</a:t>
            </a:r>
          </a:p>
          <a:p>
            <a:r>
              <a:rPr lang="nn-NO" altLang="zh-CN" sz="2000" dirty="0">
                <a:latin typeface="Tahoma" pitchFamily="34" charset="0"/>
              </a:rPr>
              <a:t>       cout &lt;&lt; "k:" &lt;&lt; k &lt;&lt; endl;</a:t>
            </a:r>
          </a:p>
          <a:p>
            <a:r>
              <a:rPr lang="nn-NO" altLang="zh-CN" sz="2000" dirty="0">
                <a:latin typeface="Tahoma" pitchFamily="34" charset="0"/>
              </a:rPr>
              <a:t>     }</a:t>
            </a:r>
            <a:endParaRPr lang="en-US" altLang="zh-CN" sz="2000" dirty="0">
              <a:latin typeface="Tahoma" pitchFamily="34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6486562" y="1771179"/>
            <a:ext cx="5673312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ahoma" pitchFamily="34" charset="0"/>
              </a:rPr>
              <a:t>C:</a:t>
            </a:r>
          </a:p>
          <a:p>
            <a:r>
              <a:rPr lang="nn-NO" altLang="zh-CN" sz="2000" dirty="0">
                <a:latin typeface="Tahoma" pitchFamily="34" charset="0"/>
              </a:rPr>
              <a:t>for (i = 0, k = 1; i &lt; 10; i++) </a:t>
            </a:r>
          </a:p>
          <a:p>
            <a:r>
              <a:rPr lang="nn-NO" altLang="zh-CN" sz="2000" dirty="0">
                <a:latin typeface="Tahoma" pitchFamily="34" charset="0"/>
              </a:rPr>
              <a:t>{    if (i % 5 != 0)</a:t>
            </a:r>
          </a:p>
          <a:p>
            <a:r>
              <a:rPr lang="nn-NO" altLang="zh-CN" sz="2000" dirty="0">
                <a:latin typeface="Tahoma" pitchFamily="34" charset="0"/>
              </a:rPr>
              <a:t>	k = i * 10;</a:t>
            </a:r>
          </a:p>
          <a:p>
            <a:r>
              <a:rPr lang="nn-NO" altLang="zh-CN" sz="2000" dirty="0">
                <a:latin typeface="Tahoma" pitchFamily="34" charset="0"/>
              </a:rPr>
              <a:t>  }</a:t>
            </a:r>
          </a:p>
          <a:p>
            <a:r>
              <a:rPr lang="nn-NO" altLang="zh-CN" sz="2000" dirty="0">
                <a:latin typeface="Tahoma" pitchFamily="34" charset="0"/>
              </a:rPr>
              <a:t>cout &lt;&lt; "k:" &lt;&lt; k &lt;&lt; endl;</a:t>
            </a:r>
            <a:endParaRPr lang="zh-CN" altLang="en-US" sz="2000" dirty="0">
              <a:latin typeface="Tahoma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5574" y="1188837"/>
            <a:ext cx="6955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楷体_GB2312" pitchFamily="49" charset="-122"/>
              </a:rPr>
              <a:t>课堂练习：混合嵌套</a:t>
            </a:r>
            <a:r>
              <a:rPr lang="en-US" altLang="zh-CN" sz="2400" dirty="0">
                <a:ea typeface="楷体_GB2312" pitchFamily="49" charset="-122"/>
              </a:rPr>
              <a:t>——</a:t>
            </a:r>
            <a:r>
              <a:rPr lang="zh-CN" altLang="en-US" sz="2400" dirty="0">
                <a:ea typeface="楷体_GB2312" pitchFamily="49" charset="-122"/>
              </a:rPr>
              <a:t>写出每个程序各输出结果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418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809673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3907" y="-48319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4764A32-0D27-49DD-9202-4E602C07E106}"/>
              </a:ext>
            </a:extLst>
          </p:cNvPr>
          <p:cNvSpPr txBox="1"/>
          <p:nvPr/>
        </p:nvSpPr>
        <p:spPr>
          <a:xfrm>
            <a:off x="1851107" y="1160835"/>
            <a:ext cx="6770512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break;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用于跳出选择和循环结构。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switch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多分支结构中，跳出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switch.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循环中用于跳出当前循环。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在嵌套循环中，用于跳出内层循环。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72571" y="276242"/>
            <a:ext cx="261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C3.5.2break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0790A-6BB3-4D97-9A5B-20D2A85055BB}"/>
              </a:ext>
            </a:extLst>
          </p:cNvPr>
          <p:cNvSpPr/>
          <p:nvPr/>
        </p:nvSpPr>
        <p:spPr>
          <a:xfrm>
            <a:off x="2065179" y="4088663"/>
            <a:ext cx="8784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阿里巴巴普惠体 R" panose="00020600040101010101" pitchFamily="18" charset="-122"/>
              </a:rPr>
              <a:t>例：再解鸡兔同笼。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阿里巴巴普惠体 R" panose="00020600040101010101" pitchFamily="18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阿里巴巴普惠体 R" panose="00020600040101010101" pitchFamily="18" charset="-122"/>
              </a:rPr>
              <a:t>孙子算经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阿里巴巴普惠体 R" panose="00020600040101010101" pitchFamily="18" charset="-122"/>
              </a:rPr>
              <a:t>》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阿里巴巴普惠体 R" panose="00020600040101010101" pitchFamily="18" charset="-122"/>
              </a:rPr>
              <a:t>：今有雉兔同笼，上有三十五头，下有九十四足，问雉兔各几何？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75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809673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3907" y="-48319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72571" y="276242"/>
            <a:ext cx="261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C3.5.2break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6B57B7-558D-4804-8595-5D62EF1B2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143" y="1190642"/>
            <a:ext cx="9365792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4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34741" y="809673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3907" y="-48319"/>
            <a:ext cx="914400" cy="914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6450" y="1499398"/>
            <a:ext cx="5488136" cy="53586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72571" y="276242"/>
            <a:ext cx="261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C3.5.2break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8EB48E-6473-4D46-B380-EC30A7E70FFE}"/>
              </a:ext>
            </a:extLst>
          </p:cNvPr>
          <p:cNvSpPr txBox="1"/>
          <p:nvPr/>
        </p:nvSpPr>
        <p:spPr>
          <a:xfrm>
            <a:off x="943621" y="775143"/>
            <a:ext cx="10304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例：判断输入的数字是否是素数。（素数即质数，指在大于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的自然数中，除了 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 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和它本身以外不再有其他因数的自然数。）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843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30" y="1185517"/>
            <a:ext cx="5488136" cy="53586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063543" y="87346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72571" y="276242"/>
            <a:ext cx="2701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C3.5.2 break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8171" y="0"/>
            <a:ext cx="914400" cy="9144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479249" y="3516198"/>
            <a:ext cx="4204817" cy="9613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158409" y="4221126"/>
            <a:ext cx="2860158" cy="478465"/>
            <a:chOff x="2158409" y="4221126"/>
            <a:chExt cx="2860158" cy="47846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231758" y="4221126"/>
              <a:ext cx="776177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018567" y="4221126"/>
              <a:ext cx="0" cy="467832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2158409" y="4699591"/>
              <a:ext cx="2849526" cy="0"/>
            </a:xfrm>
            <a:prstGeom prst="line">
              <a:avLst/>
            </a:prstGeom>
            <a:ln w="31750">
              <a:solidFill>
                <a:srgbClr val="FF000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574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8137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C3.5.3 continue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D167F6-C5D1-480D-884D-EB0F30F7DB44}"/>
              </a:ext>
            </a:extLst>
          </p:cNvPr>
          <p:cNvSpPr txBox="1"/>
          <p:nvPr/>
        </p:nvSpPr>
        <p:spPr>
          <a:xfrm>
            <a:off x="1401533" y="1415459"/>
            <a:ext cx="87782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作用：在循环体中</a:t>
            </a:r>
            <a:r>
              <a:rPr lang="zh-CN" altLang="en-US" sz="24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结束本次循环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，直接进入下一次循环的判定。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例：比较下面两个示例程序，体会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continue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的作用。 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4E7254-B83A-4550-BC35-99115B437BF4}"/>
              </a:ext>
            </a:extLst>
          </p:cNvPr>
          <p:cNvSpPr txBox="1"/>
          <p:nvPr/>
        </p:nvSpPr>
        <p:spPr>
          <a:xfrm>
            <a:off x="1791093" y="3264664"/>
            <a:ext cx="3055645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int sum=0;</a:t>
            </a:r>
          </a:p>
          <a:p>
            <a:r>
              <a:rPr lang="en-US" altLang="zh-CN" sz="2400" dirty="0"/>
              <a:t>for(int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=1;i&lt;=100;i++)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    sum=</a:t>
            </a:r>
            <a:r>
              <a:rPr lang="en-US" altLang="zh-CN" sz="2400" dirty="0" err="1"/>
              <a:t>sum+i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}</a:t>
            </a:r>
          </a:p>
          <a:p>
            <a:r>
              <a:rPr lang="en-US" altLang="zh-CN" sz="2400" dirty="0" err="1"/>
              <a:t>cout</a:t>
            </a:r>
            <a:r>
              <a:rPr lang="en-US" altLang="zh-CN" sz="2400" dirty="0"/>
              <a:t>&lt;&lt;sum;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4F7B04-A364-4E4C-8A37-B5B48156D7D3}"/>
              </a:ext>
            </a:extLst>
          </p:cNvPr>
          <p:cNvSpPr txBox="1"/>
          <p:nvPr/>
        </p:nvSpPr>
        <p:spPr>
          <a:xfrm>
            <a:off x="6677506" y="3211281"/>
            <a:ext cx="3055645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int sum=0;</a:t>
            </a:r>
          </a:p>
          <a:p>
            <a:r>
              <a:rPr lang="en-US" altLang="zh-CN" sz="2400" dirty="0"/>
              <a:t>for(int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=1;i&lt;=100;i++)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   </a:t>
            </a:r>
            <a:r>
              <a:rPr lang="en-US" altLang="zh-CN" sz="2400" dirty="0">
                <a:solidFill>
                  <a:srgbClr val="FF0000"/>
                </a:solidFill>
              </a:rPr>
              <a:t>if(i%2==0)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        continue; </a:t>
            </a:r>
          </a:p>
          <a:p>
            <a:r>
              <a:rPr lang="en-US" altLang="zh-CN" sz="2400" dirty="0"/>
              <a:t>   sum=</a:t>
            </a:r>
            <a:r>
              <a:rPr lang="en-US" altLang="zh-CN" sz="2400" dirty="0" err="1"/>
              <a:t>sum+i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}</a:t>
            </a:r>
          </a:p>
          <a:p>
            <a:r>
              <a:rPr lang="en-US" altLang="zh-CN" sz="2400" dirty="0" err="1"/>
              <a:t>cout</a:t>
            </a:r>
            <a:r>
              <a:rPr lang="en-US" altLang="zh-CN" sz="2400" dirty="0"/>
              <a:t>&lt;&lt;sum;</a:t>
            </a:r>
            <a:endParaRPr lang="zh-CN" altLang="en-US" sz="2400" dirty="0"/>
          </a:p>
        </p:txBody>
      </p:sp>
      <p:sp>
        <p:nvSpPr>
          <p:cNvPr id="3" name="矩形 2" descr="d1.cpp&#10;d2.cpp">
            <a:extLst>
              <a:ext uri="{FF2B5EF4-FFF2-40B4-BE49-F238E27FC236}">
                <a16:creationId xmlns:a16="http://schemas.microsoft.com/office/drawing/2014/main" id="{3B242AEE-F6F0-49C8-967A-28CE699DFCF6}"/>
              </a:ext>
            </a:extLst>
          </p:cNvPr>
          <p:cNvSpPr/>
          <p:nvPr/>
        </p:nvSpPr>
        <p:spPr>
          <a:xfrm>
            <a:off x="5007379" y="6043613"/>
            <a:ext cx="1394982" cy="5684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d1.cpp</a:t>
            </a:r>
          </a:p>
          <a:p>
            <a:pPr algn="ctr"/>
            <a:r>
              <a:rPr lang="en-US" altLang="zh-CN" dirty="0"/>
              <a:t>d2.cpp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58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081370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C3.5.3 continue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D13A563-52B1-4AE9-A0D4-6166E8215E01}"/>
              </a:ext>
            </a:extLst>
          </p:cNvPr>
          <p:cNvSpPr txBox="1"/>
          <p:nvPr/>
        </p:nvSpPr>
        <p:spPr>
          <a:xfrm>
            <a:off x="607218" y="1477476"/>
            <a:ext cx="3970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例：统计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100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以内素数的个数，</a:t>
            </a:r>
            <a:r>
              <a:rPr lang="zh-CN" altLang="en-US" sz="2400" b="1">
                <a:latin typeface="仿宋" panose="02010609060101010101" pitchFamily="49" charset="-122"/>
                <a:ea typeface="仿宋" panose="02010609060101010101" pitchFamily="49" charset="-122"/>
              </a:rPr>
              <a:t>并打印出来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。 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674" y="685265"/>
            <a:ext cx="7011008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692002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861004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C3.5.3 continue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634637"/>
            <a:ext cx="914400" cy="9144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036" y="3120363"/>
            <a:ext cx="10005927" cy="61727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B869F7-6557-4922-A086-E2374D73ABAF}"/>
              </a:ext>
            </a:extLst>
          </p:cNvPr>
          <p:cNvSpPr txBox="1"/>
          <p:nvPr/>
        </p:nvSpPr>
        <p:spPr>
          <a:xfrm>
            <a:off x="1228725" y="1834968"/>
            <a:ext cx="9017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上述程序的执行结果为：</a:t>
            </a:r>
          </a:p>
        </p:txBody>
      </p:sp>
    </p:spTree>
    <p:extLst>
      <p:ext uri="{BB962C8B-B14F-4D97-AF65-F5344CB8AC3E}">
        <p14:creationId xmlns:p14="http://schemas.microsoft.com/office/powerpoint/2010/main" val="541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465952" y="397788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C3.5.3 continue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语句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DAD56D-72E9-43FF-86B8-34E10EAC5B32}"/>
              </a:ext>
            </a:extLst>
          </p:cNvPr>
          <p:cNvSpPr txBox="1"/>
          <p:nvPr/>
        </p:nvSpPr>
        <p:spPr>
          <a:xfrm>
            <a:off x="1228725" y="5156368"/>
            <a:ext cx="89289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本图展示了本程序中当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continue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语句执行时的执行点跳转。可以看到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continue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的执行并不会结束整个循环，它只是略过本轮循环体的剩余代码，直接跳转至下一轮循环。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本例中，按照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循环自身的机制，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continue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执行后，下一条被执行的语句应该是更新表达式（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i++)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，然后再根据测试表达式（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i&lt;=100)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的结果来决定是否再次执行循环体。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533" y="1250052"/>
            <a:ext cx="5669771" cy="368840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3668232" y="1228786"/>
            <a:ext cx="3700129" cy="3343214"/>
            <a:chOff x="3668232" y="1228786"/>
            <a:chExt cx="3700129" cy="3343214"/>
          </a:xfrm>
        </p:grpSpPr>
        <p:grpSp>
          <p:nvGrpSpPr>
            <p:cNvPr id="9" name="组合 8"/>
            <p:cNvGrpSpPr/>
            <p:nvPr/>
          </p:nvGrpSpPr>
          <p:grpSpPr>
            <a:xfrm flipH="1">
              <a:off x="3668232" y="1228786"/>
              <a:ext cx="3700129" cy="3343214"/>
              <a:chOff x="1200527" y="891600"/>
              <a:chExt cx="4694973" cy="334321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H="1">
                <a:off x="1200527" y="4221126"/>
                <a:ext cx="4694973" cy="13688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1200527" y="891600"/>
                <a:ext cx="0" cy="3343214"/>
              </a:xfrm>
              <a:prstGeom prst="line">
                <a:avLst/>
              </a:prstGeom>
              <a:ln w="317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1200527" y="909810"/>
                <a:ext cx="3183946" cy="0"/>
              </a:xfrm>
              <a:prstGeom prst="line">
                <a:avLst/>
              </a:prstGeom>
              <a:ln w="31750">
                <a:solidFill>
                  <a:srgbClr val="FF000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直接连接符 18"/>
            <p:cNvCxnSpPr/>
            <p:nvPr/>
          </p:nvCxnSpPr>
          <p:spPr>
            <a:xfrm>
              <a:off x="4859078" y="1228786"/>
              <a:ext cx="0" cy="258726"/>
            </a:xfrm>
            <a:prstGeom prst="line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164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18786" y="98030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4280CA8-5599-49A4-B2C1-F7BB7309FF93}"/>
                  </a:ext>
                </a:extLst>
              </p:cNvPr>
              <p:cNvSpPr txBox="1"/>
              <p:nvPr/>
            </p:nvSpPr>
            <p:spPr>
              <a:xfrm>
                <a:off x="5989318" y="980308"/>
                <a:ext cx="60490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4280CA8-5599-49A4-B2C1-F7BB7309F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18" y="980308"/>
                <a:ext cx="604909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FD500518-540F-4DF9-A89D-C32C07697FC3}"/>
              </a:ext>
            </a:extLst>
          </p:cNvPr>
          <p:cNvSpPr txBox="1"/>
          <p:nvPr/>
        </p:nvSpPr>
        <p:spPr>
          <a:xfrm>
            <a:off x="965541" y="1018572"/>
            <a:ext cx="4878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：输入任意整数</a:t>
            </a:r>
            <a:r>
              <a:rPr lang="en-US" altLang="zh-CN" sz="2400" b="1" dirty="0"/>
              <a:t>n,</a:t>
            </a:r>
            <a:r>
              <a:rPr lang="zh-CN" altLang="en-US" sz="2400" b="1" dirty="0"/>
              <a:t>请用公式计算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EB7116-CE48-4905-A6F1-3EDD028C179C}"/>
              </a:ext>
            </a:extLst>
          </p:cNvPr>
          <p:cNvSpPr txBox="1"/>
          <p:nvPr/>
        </p:nvSpPr>
        <p:spPr>
          <a:xfrm>
            <a:off x="2465952" y="39778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循环的应用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C83A8A-49A2-4699-A9FE-25C909891130}"/>
              </a:ext>
            </a:extLst>
          </p:cNvPr>
          <p:cNvSpPr/>
          <p:nvPr/>
        </p:nvSpPr>
        <p:spPr>
          <a:xfrm>
            <a:off x="6502489" y="1589805"/>
            <a:ext cx="5560303" cy="47089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#include &lt;iostream&gt;</a:t>
            </a:r>
          </a:p>
          <a:p>
            <a:r>
              <a:rPr lang="zh-CN" altLang="en-US" sz="2000" b="1" dirty="0"/>
              <a:t>using namespace std;</a:t>
            </a:r>
          </a:p>
          <a:p>
            <a:endParaRPr lang="zh-CN" altLang="en-US" sz="2000" b="1" dirty="0"/>
          </a:p>
          <a:p>
            <a:r>
              <a:rPr lang="zh-CN" altLang="en-US" sz="2000" b="1" dirty="0"/>
              <a:t>int main() {</a:t>
            </a:r>
          </a:p>
          <a:p>
            <a:r>
              <a:rPr lang="zh-CN" altLang="en-US" sz="2000" b="1" dirty="0"/>
              <a:t>	int n, sum = 0;</a:t>
            </a:r>
          </a:p>
          <a:p>
            <a:r>
              <a:rPr lang="zh-CN" altLang="en-US" sz="2000" b="1" dirty="0"/>
              <a:t>	cin &gt;&gt; n;</a:t>
            </a:r>
          </a:p>
          <a:p>
            <a:r>
              <a:rPr lang="zh-CN" altLang="en-US" sz="2000" b="1" dirty="0"/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int mul = 1;</a:t>
            </a:r>
          </a:p>
          <a:p>
            <a:r>
              <a:rPr lang="zh-CN" altLang="en-US" sz="2000" b="1" dirty="0"/>
              <a:t>	for (int i = 1; i &lt;= n; i++) {</a:t>
            </a:r>
          </a:p>
          <a:p>
            <a:r>
              <a:rPr lang="zh-CN" altLang="en-US" sz="2000" b="1" dirty="0"/>
              <a:t>		//计算n的阶乘</a:t>
            </a:r>
          </a:p>
          <a:p>
            <a:r>
              <a:rPr lang="zh-CN" altLang="en-US" sz="2000" b="1" dirty="0"/>
              <a:t>		</a:t>
            </a:r>
            <a:r>
              <a:rPr lang="zh-CN" altLang="en-US" sz="2000" b="1" dirty="0">
                <a:solidFill>
                  <a:srgbClr val="FF0000"/>
                </a:solidFill>
              </a:rPr>
              <a:t>mul = mul * i;</a:t>
            </a:r>
          </a:p>
          <a:p>
            <a:r>
              <a:rPr lang="zh-CN" altLang="en-US" sz="2000" b="1" dirty="0"/>
              <a:t>		sum = sum + mul;</a:t>
            </a:r>
          </a:p>
          <a:p>
            <a:r>
              <a:rPr lang="zh-CN" altLang="en-US" sz="2000" b="1" dirty="0"/>
              <a:t>	}</a:t>
            </a:r>
          </a:p>
          <a:p>
            <a:r>
              <a:rPr lang="zh-CN" altLang="en-US" sz="2000" b="1" dirty="0"/>
              <a:t>	cout &lt;&lt; "1!+....+" &lt;&lt; n &lt;&lt; "!=" &lt;&lt; sum;</a:t>
            </a:r>
          </a:p>
          <a:p>
            <a:r>
              <a:rPr lang="zh-CN" altLang="en-US" sz="2000" b="1" dirty="0"/>
              <a:t>	return 0;</a:t>
            </a:r>
          </a:p>
          <a:p>
            <a:r>
              <a:rPr lang="zh-CN" altLang="en-US" sz="2000" b="1" dirty="0"/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69A8B6-FCE1-474D-89A3-710954DD8D6D}"/>
              </a:ext>
            </a:extLst>
          </p:cNvPr>
          <p:cNvSpPr txBox="1"/>
          <p:nvPr/>
        </p:nvSpPr>
        <p:spPr>
          <a:xfrm>
            <a:off x="9109068" y="6347076"/>
            <a:ext cx="10759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3-4-2.cpp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A6D48E-F39A-429D-8215-D11052FE5E52}"/>
              </a:ext>
            </a:extLst>
          </p:cNvPr>
          <p:cNvSpPr txBox="1"/>
          <p:nvPr/>
        </p:nvSpPr>
        <p:spPr>
          <a:xfrm>
            <a:off x="2465952" y="6308618"/>
            <a:ext cx="10759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3-4-1.cpp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BBEDCA-1F78-4A89-BAE8-415DDB1F513A}"/>
              </a:ext>
            </a:extLst>
          </p:cNvPr>
          <p:cNvSpPr/>
          <p:nvPr/>
        </p:nvSpPr>
        <p:spPr>
          <a:xfrm>
            <a:off x="384213" y="1531745"/>
            <a:ext cx="5567635" cy="47089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using namespace std;</a:t>
            </a:r>
          </a:p>
          <a:p>
            <a:endParaRPr lang="zh-CN" altLang="en-US" sz="2000" b="1" dirty="0"/>
          </a:p>
          <a:p>
            <a:r>
              <a:rPr lang="zh-CN" altLang="en-US" sz="2000" b="1" dirty="0"/>
              <a:t>int main() {</a:t>
            </a:r>
          </a:p>
          <a:p>
            <a:r>
              <a:rPr lang="zh-CN" altLang="en-US" sz="2000" b="1" dirty="0"/>
              <a:t>	int n, sum = 0;</a:t>
            </a:r>
          </a:p>
          <a:p>
            <a:r>
              <a:rPr lang="zh-CN" altLang="en-US" sz="2000" b="1" dirty="0"/>
              <a:t>	cin &gt;&gt; n;</a:t>
            </a:r>
          </a:p>
          <a:p>
            <a:r>
              <a:rPr lang="zh-CN" altLang="en-US" sz="2000" b="1" dirty="0"/>
              <a:t>	for (int i = 1; i &lt;= n; i++) {</a:t>
            </a:r>
          </a:p>
          <a:p>
            <a:r>
              <a:rPr lang="zh-CN" altLang="en-US" sz="2000" b="1" dirty="0"/>
              <a:t>		</a:t>
            </a:r>
            <a:r>
              <a:rPr lang="zh-CN" altLang="en-US" sz="2000" b="1" dirty="0">
                <a:solidFill>
                  <a:srgbClr val="FF0000"/>
                </a:solidFill>
              </a:rPr>
              <a:t>//计算n的阶乘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		int mul = 1;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		for (int j = 1; j &lt;= i; j++)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			mul = mul * j;</a:t>
            </a:r>
          </a:p>
          <a:p>
            <a:r>
              <a:rPr lang="zh-CN" altLang="en-US" sz="2000" b="1" dirty="0"/>
              <a:t>		sum = sum + mul;</a:t>
            </a:r>
          </a:p>
          <a:p>
            <a:r>
              <a:rPr lang="zh-CN" altLang="en-US" sz="2000" b="1" dirty="0"/>
              <a:t>	}</a:t>
            </a:r>
          </a:p>
          <a:p>
            <a:r>
              <a:rPr lang="zh-CN" altLang="en-US" sz="2000" b="1" dirty="0"/>
              <a:t>	cout &lt;&lt; "1!+....+" &lt;&lt; n &lt;&lt; "!=" &lt;&lt; sum;</a:t>
            </a:r>
          </a:p>
          <a:p>
            <a:r>
              <a:rPr lang="zh-CN" altLang="en-US" sz="2000" b="1" dirty="0"/>
              <a:t>	return 0;</a:t>
            </a:r>
          </a:p>
          <a:p>
            <a:r>
              <a:rPr lang="zh-CN" alt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201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18786" y="98030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500518-540F-4DF9-A89D-C32C07697FC3}"/>
              </a:ext>
            </a:extLst>
          </p:cNvPr>
          <p:cNvSpPr txBox="1"/>
          <p:nvPr/>
        </p:nvSpPr>
        <p:spPr>
          <a:xfrm>
            <a:off x="965541" y="956494"/>
            <a:ext cx="1054397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：使用枚举法求解百钱买百鸡问题。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        百鸡百钱是我国古代数学家</a:t>
            </a:r>
            <a:r>
              <a:rPr lang="zh-CN" altLang="en-US" sz="2000" dirty="0">
                <a:hlinkClick r:id="rId5"/>
              </a:rPr>
              <a:t>张丘建</a:t>
            </a:r>
            <a:r>
              <a:rPr lang="zh-CN" altLang="en-US" sz="2000" dirty="0"/>
              <a:t>在</a:t>
            </a:r>
            <a:r>
              <a:rPr lang="en-US" altLang="zh-CN" sz="2000" dirty="0"/>
              <a:t>《</a:t>
            </a:r>
            <a:r>
              <a:rPr lang="zh-CN" altLang="en-US" sz="2000" dirty="0"/>
              <a:t>算经</a:t>
            </a:r>
            <a:r>
              <a:rPr lang="en-US" altLang="zh-CN" sz="2000" dirty="0"/>
              <a:t>》</a:t>
            </a:r>
            <a:r>
              <a:rPr lang="zh-CN" altLang="en-US" sz="2000" dirty="0"/>
              <a:t>一书中提出的数学问题：“鸡翁一值钱五，鸡母一值钱三，鸡雏三值钱一。百钱买百鸡，问鸡翁、鸡母、鸡雏各几何？”</a:t>
            </a:r>
            <a:endParaRPr lang="zh-CN" altLang="en-US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EB7116-CE48-4905-A6F1-3EDD028C179C}"/>
              </a:ext>
            </a:extLst>
          </p:cNvPr>
          <p:cNvSpPr txBox="1"/>
          <p:nvPr/>
        </p:nvSpPr>
        <p:spPr>
          <a:xfrm>
            <a:off x="2465952" y="39778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循环的应用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76F70F-7BB4-4C20-BC8F-4011810E238E}"/>
              </a:ext>
            </a:extLst>
          </p:cNvPr>
          <p:cNvSpPr txBox="1"/>
          <p:nvPr/>
        </p:nvSpPr>
        <p:spPr>
          <a:xfrm>
            <a:off x="1401533" y="2075664"/>
            <a:ext cx="5368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公鸡数量为</a:t>
            </a:r>
            <a:r>
              <a:rPr lang="en-US" altLang="zh-CN" sz="2000" dirty="0"/>
              <a:t>a,</a:t>
            </a:r>
            <a:r>
              <a:rPr lang="zh-CN" altLang="en-US" sz="2000" dirty="0"/>
              <a:t>母鸡数量为</a:t>
            </a:r>
            <a:r>
              <a:rPr lang="en-US" altLang="zh-CN" sz="2000" dirty="0"/>
              <a:t>b,</a:t>
            </a:r>
            <a:r>
              <a:rPr lang="zh-CN" altLang="en-US" sz="2000" dirty="0"/>
              <a:t>小鸡数量为</a:t>
            </a:r>
            <a:r>
              <a:rPr lang="en-US" altLang="zh-CN" sz="2000" dirty="0"/>
              <a:t>100-a-b)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DB6959-4AD6-41EE-89E5-4882BA90B27A}"/>
              </a:ext>
            </a:extLst>
          </p:cNvPr>
          <p:cNvSpPr/>
          <p:nvPr/>
        </p:nvSpPr>
        <p:spPr>
          <a:xfrm>
            <a:off x="1401534" y="2456795"/>
            <a:ext cx="8984858" cy="440120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/>
              <a:t>#include &lt;iostream&gt;</a:t>
            </a:r>
          </a:p>
          <a:p>
            <a:r>
              <a:rPr lang="zh-CN" altLang="en-US" sz="2000" b="1" dirty="0"/>
              <a:t>using namespace std;</a:t>
            </a:r>
          </a:p>
          <a:p>
            <a:r>
              <a:rPr lang="zh-CN" altLang="en-US" sz="2000" b="1" dirty="0"/>
              <a:t>int main() {</a:t>
            </a:r>
          </a:p>
          <a:p>
            <a:r>
              <a:rPr lang="zh-CN" altLang="en-US" sz="2000" b="1" dirty="0"/>
              <a:t>	int a, b, c;</a:t>
            </a:r>
          </a:p>
          <a:p>
            <a:r>
              <a:rPr lang="zh-CN" altLang="en-US" sz="2000" b="1" dirty="0"/>
              <a:t>	for (int a = 0; a &lt;= 100 / 5; a++)</a:t>
            </a:r>
          </a:p>
          <a:p>
            <a:r>
              <a:rPr lang="zh-CN" altLang="en-US" sz="2000" b="1" dirty="0"/>
              <a:t>		for (int b = 0; b &lt;= 100 / 3; b++) {</a:t>
            </a:r>
          </a:p>
          <a:p>
            <a:r>
              <a:rPr lang="zh-CN" altLang="en-US" sz="2000" b="1" dirty="0"/>
              <a:t>			c = 100 - a - b;</a:t>
            </a:r>
          </a:p>
          <a:p>
            <a:r>
              <a:rPr lang="zh-CN" altLang="en-US" sz="2000" b="1" dirty="0"/>
              <a:t>			if ((c % 3 == 0) &amp;&amp; (5 * a + 3 * b + c / 3 == 100)) {</a:t>
            </a:r>
          </a:p>
          <a:p>
            <a:r>
              <a:rPr lang="zh-CN" altLang="en-US" sz="2000" b="1" dirty="0"/>
              <a:t>				cout &lt;&lt; "公鸡，母鸡，小鸡数量分别为："</a:t>
            </a:r>
          </a:p>
          <a:p>
            <a:r>
              <a:rPr lang="zh-CN" altLang="en-US" sz="2000" b="1" dirty="0"/>
              <a:t>				     &lt;&lt; a &lt;&lt; "," &lt;&lt; b &lt;&lt; "," &lt;&lt; c &lt;&lt; endl;</a:t>
            </a:r>
          </a:p>
          <a:p>
            <a:r>
              <a:rPr lang="zh-CN" altLang="en-US" sz="2000" b="1" dirty="0"/>
              <a:t>			}</a:t>
            </a:r>
          </a:p>
          <a:p>
            <a:r>
              <a:rPr lang="zh-CN" altLang="en-US" sz="2000" b="1" dirty="0"/>
              <a:t>		}</a:t>
            </a:r>
          </a:p>
          <a:p>
            <a:r>
              <a:rPr lang="zh-CN" altLang="en-US" sz="2000" b="1" dirty="0"/>
              <a:t>	return 0;</a:t>
            </a:r>
          </a:p>
          <a:p>
            <a:r>
              <a:rPr lang="zh-CN" altLang="en-US" sz="2000" b="1" dirty="0"/>
              <a:t>}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F06365-D6A3-42E9-9BF5-4043F17643CE}"/>
              </a:ext>
            </a:extLst>
          </p:cNvPr>
          <p:cNvSpPr txBox="1"/>
          <p:nvPr/>
        </p:nvSpPr>
        <p:spPr>
          <a:xfrm>
            <a:off x="11052271" y="5716840"/>
            <a:ext cx="88357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3-5.cpp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781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18786" y="98030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1533" y="171421"/>
            <a:ext cx="914400" cy="9144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500518-540F-4DF9-A89D-C32C07697FC3}"/>
              </a:ext>
            </a:extLst>
          </p:cNvPr>
          <p:cNvSpPr txBox="1"/>
          <p:nvPr/>
        </p:nvSpPr>
        <p:spPr>
          <a:xfrm>
            <a:off x="965541" y="956494"/>
            <a:ext cx="1054397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例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：使用迭代法求解斐波拉契数列。</a:t>
            </a:r>
            <a:endParaRPr lang="en-US" altLang="zh-CN" sz="2400" b="1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        </a:t>
            </a:r>
            <a:endParaRPr lang="zh-CN" altLang="en-US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EB7116-CE48-4905-A6F1-3EDD028C179C}"/>
              </a:ext>
            </a:extLst>
          </p:cNvPr>
          <p:cNvSpPr txBox="1"/>
          <p:nvPr/>
        </p:nvSpPr>
        <p:spPr>
          <a:xfrm>
            <a:off x="2465952" y="39778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循环的应用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F06365-D6A3-42E9-9BF5-4043F17643CE}"/>
              </a:ext>
            </a:extLst>
          </p:cNvPr>
          <p:cNvSpPr txBox="1"/>
          <p:nvPr/>
        </p:nvSpPr>
        <p:spPr>
          <a:xfrm>
            <a:off x="11052271" y="5716840"/>
            <a:ext cx="88357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3-6.cpp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CC158A-74DC-4303-AACB-D6CC063DCE8F}"/>
              </a:ext>
            </a:extLst>
          </p:cNvPr>
          <p:cNvSpPr/>
          <p:nvPr/>
        </p:nvSpPr>
        <p:spPr>
          <a:xfrm>
            <a:off x="6096000" y="972158"/>
            <a:ext cx="4338047" cy="128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F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(0)=1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F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(1)=1 </a:t>
            </a:r>
          </a:p>
          <a:p>
            <a:pPr>
              <a:lnSpc>
                <a:spcPct val="150000"/>
              </a:lnSpc>
            </a:pP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F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(n)=</a:t>
            </a: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F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(n - 1)+</a:t>
            </a: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F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(n - 2)</a:t>
            </a:r>
            <a:r>
              <a:rPr lang="zh-CN" altLang="pt-BR" dirty="0">
                <a:solidFill>
                  <a:srgbClr val="333333"/>
                </a:solidFill>
                <a:latin typeface="Helvetica Neue"/>
              </a:rPr>
              <a:t>（</a:t>
            </a: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n 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≥ 2</a:t>
            </a:r>
            <a:r>
              <a:rPr lang="zh-CN" altLang="pt-BR" dirty="0">
                <a:solidFill>
                  <a:srgbClr val="333333"/>
                </a:solidFill>
                <a:latin typeface="Helvetica Neue"/>
              </a:rPr>
              <a:t>，</a:t>
            </a:r>
            <a:r>
              <a:rPr lang="pt-BR" altLang="zh-CN" i="1" dirty="0">
                <a:solidFill>
                  <a:srgbClr val="333333"/>
                </a:solidFill>
                <a:latin typeface="Helvetica Neue"/>
              </a:rPr>
              <a:t>n </a:t>
            </a:r>
            <a:r>
              <a:rPr lang="pt-BR" altLang="zh-CN" dirty="0">
                <a:solidFill>
                  <a:srgbClr val="333333"/>
                </a:solidFill>
                <a:latin typeface="Helvetica Neue"/>
              </a:rPr>
              <a:t>∈ N*</a:t>
            </a:r>
            <a:r>
              <a:rPr lang="zh-CN" altLang="pt-BR" dirty="0">
                <a:solidFill>
                  <a:srgbClr val="333333"/>
                </a:solidFill>
                <a:latin typeface="Helvetica Neue"/>
              </a:rPr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9EFD7C-8970-468D-90B6-36433EA28777}"/>
              </a:ext>
            </a:extLst>
          </p:cNvPr>
          <p:cNvSpPr/>
          <p:nvPr/>
        </p:nvSpPr>
        <p:spPr>
          <a:xfrm>
            <a:off x="2182477" y="2261614"/>
            <a:ext cx="6166392" cy="4401205"/>
          </a:xfrm>
          <a:prstGeom prst="rect">
            <a:avLst/>
          </a:prstGeom>
          <a:solidFill>
            <a:srgbClr val="FFC000"/>
          </a:solidFill>
          <a:ln cmpd="dbl">
            <a:solidFill>
              <a:schemeClr val="accent2">
                <a:lumMod val="75000"/>
              </a:schemeClr>
            </a:solidFill>
            <a:round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#include &lt;iostream&gt;</a:t>
            </a:r>
          </a:p>
          <a:p>
            <a:r>
              <a:rPr lang="zh-CN" altLang="en-US" sz="2000" b="1" dirty="0"/>
              <a:t>using namespace std;</a:t>
            </a:r>
          </a:p>
          <a:p>
            <a:r>
              <a:rPr lang="zh-CN" altLang="en-US" sz="2000" b="1" dirty="0"/>
              <a:t>int main() {</a:t>
            </a:r>
          </a:p>
          <a:p>
            <a:r>
              <a:rPr lang="zh-CN" altLang="en-US" sz="2000" b="1" dirty="0"/>
              <a:t>	int f0 = 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, f1 = 1, fn;</a:t>
            </a:r>
          </a:p>
          <a:p>
            <a:r>
              <a:rPr lang="zh-CN" altLang="en-US" sz="2000" b="1" dirty="0"/>
              <a:t>	int n;</a:t>
            </a:r>
          </a:p>
          <a:p>
            <a:r>
              <a:rPr lang="zh-CN" altLang="en-US" sz="2000" b="1" dirty="0"/>
              <a:t>	cin &gt;&gt; n;</a:t>
            </a:r>
          </a:p>
          <a:p>
            <a:r>
              <a:rPr lang="zh-CN" altLang="en-US" sz="2000" b="1" dirty="0"/>
              <a:t>	cout &lt;&lt; f0 &lt;&lt; "," &lt;&lt; f1;</a:t>
            </a:r>
          </a:p>
          <a:p>
            <a:r>
              <a:rPr lang="zh-CN" altLang="en-US" sz="2000" b="1" dirty="0"/>
              <a:t>	for (int i = 2; i &lt;= n; i++) {</a:t>
            </a:r>
          </a:p>
          <a:p>
            <a:r>
              <a:rPr lang="zh-CN" altLang="en-US" sz="2000" b="1" dirty="0"/>
              <a:t>		fn = f0 + f1;</a:t>
            </a:r>
          </a:p>
          <a:p>
            <a:r>
              <a:rPr lang="zh-CN" altLang="en-US" sz="2000" b="1" dirty="0"/>
              <a:t>		f0 = f1;</a:t>
            </a:r>
          </a:p>
          <a:p>
            <a:r>
              <a:rPr lang="zh-CN" altLang="en-US" sz="2000" b="1" dirty="0"/>
              <a:t>		f1 = fn;</a:t>
            </a:r>
          </a:p>
          <a:p>
            <a:r>
              <a:rPr lang="zh-CN" altLang="en-US" sz="2000" b="1" dirty="0"/>
              <a:t>		cout &lt;&lt; "," &lt;&lt; fn;</a:t>
            </a:r>
          </a:p>
          <a:p>
            <a:r>
              <a:rPr lang="zh-CN" altLang="en-US" sz="2000" b="1" dirty="0"/>
              <a:t>	}</a:t>
            </a:r>
          </a:p>
          <a:p>
            <a:r>
              <a:rPr lang="zh-CN" altLang="en-US" sz="2000" b="1" dirty="0"/>
              <a:t>	return 0;}</a:t>
            </a:r>
          </a:p>
        </p:txBody>
      </p:sp>
    </p:spTree>
    <p:extLst>
      <p:ext uri="{BB962C8B-B14F-4D97-AF65-F5344CB8AC3E}">
        <p14:creationId xmlns:p14="http://schemas.microsoft.com/office/powerpoint/2010/main" val="31593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18962" y="153559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56189" y="704593"/>
            <a:ext cx="51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微实践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九层之台，起于累土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1770" y="478226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0F9FBF2-6FA6-4FBC-8B59-43C99083163B}"/>
              </a:ext>
            </a:extLst>
          </p:cNvPr>
          <p:cNvSpPr txBox="1"/>
          <p:nvPr/>
        </p:nvSpPr>
        <p:spPr>
          <a:xfrm>
            <a:off x="1099384" y="2061276"/>
            <a:ext cx="97470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“九层之台，起于累土”出自春秋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楚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李耳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老子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章</a:t>
            </a:r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“合抱之木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生于毫末；九层之台</a:t>
            </a:r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起于累土；千里之行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始于足下”。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不论起点有多低，只要不断成长，假以时日，终有所成。</a:t>
            </a:r>
            <a:endParaRPr lang="en-US" altLang="zh-CN" sz="2400" kern="1200" dirty="0">
              <a:solidFill>
                <a:srgbClr val="000000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en-US" altLang="zh-CN" sz="2400" kern="1200" dirty="0">
              <a:solidFill>
                <a:srgbClr val="000000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一张厚度为</a:t>
            </a:r>
            <a:r>
              <a:rPr lang="en-US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0.1</a:t>
            </a: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毫米的足够大的纸，每对折一次，厚度翻倍。</a:t>
            </a:r>
            <a:endParaRPr lang="en-US" altLang="zh-CN" sz="2400" kern="1200" dirty="0">
              <a:solidFill>
                <a:srgbClr val="000000"/>
              </a:solidFill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问： 这张纸对折多少次以后将达到世界最高峰珠穆朗玛峰的高度？</a:t>
            </a:r>
            <a:endParaRPr lang="zh-CN" altLang="zh-CN" sz="24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如果凭直觉，大家觉得要多少次才行呢？</a:t>
            </a:r>
            <a:endParaRPr lang="zh-CN" altLang="zh-CN" sz="24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indent="0" algn="just" rtl="0" eaLnBrk="0" fontAlgn="base" latinLnBrk="0" hangingPunct="0">
              <a:spcBef>
                <a:spcPts val="0"/>
              </a:spcBef>
              <a:spcAft>
                <a:spcPts val="0"/>
              </a:spcAft>
            </a:pPr>
            <a:r>
              <a:rPr lang="zh-CN" altLang="zh-CN" sz="2400" kern="120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让我们做一个程序来验证一下！ </a:t>
            </a:r>
            <a:endParaRPr lang="zh-CN" altLang="zh-CN" sz="240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44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18962" y="1371828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56189" y="704593"/>
            <a:ext cx="51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微实践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九层之台，起于累土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1770" y="478226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94181E1-CB85-4AD3-B35C-8C05350A4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563" y="1392626"/>
            <a:ext cx="7181516" cy="26974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AED0CF-E0AC-4C78-A40A-D8A20E838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446" y="4075974"/>
            <a:ext cx="7181516" cy="26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18962" y="153559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56189" y="704593"/>
            <a:ext cx="51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微实践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九层之台，起于累土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1770" y="478226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CE4278-DD33-453B-A7C8-770E6C3A8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584449"/>
            <a:ext cx="8869652" cy="11980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44B1DE8-A66E-4F94-A75C-40F37EF6E747}"/>
              </a:ext>
            </a:extLst>
          </p:cNvPr>
          <p:cNvSpPr txBox="1"/>
          <p:nvPr/>
        </p:nvSpPr>
        <p:spPr>
          <a:xfrm>
            <a:off x="1079688" y="3976119"/>
            <a:ext cx="8782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输出结果显示所需对折次数为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27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次。你没有看错，就是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27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次！</a:t>
            </a:r>
          </a:p>
        </p:txBody>
      </p:sp>
    </p:spTree>
    <p:extLst>
      <p:ext uri="{BB962C8B-B14F-4D97-AF65-F5344CB8AC3E}">
        <p14:creationId xmlns:p14="http://schemas.microsoft.com/office/powerpoint/2010/main" val="331148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18962" y="153559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56189" y="704593"/>
            <a:ext cx="51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微实践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九层之台，起于累土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1770" y="478226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382F857-AEFD-432B-961A-2E1ECF12D0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6632"/>
          <a:stretch/>
        </p:blipFill>
        <p:spPr>
          <a:xfrm>
            <a:off x="1191669" y="1459373"/>
            <a:ext cx="8864600" cy="6822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A358A9-040C-456A-AC78-18CEBDA31A4F}"/>
              </a:ext>
            </a:extLst>
          </p:cNvPr>
          <p:cNvSpPr txBox="1"/>
          <p:nvPr/>
        </p:nvSpPr>
        <p:spPr>
          <a:xfrm>
            <a:off x="1318961" y="2320092"/>
            <a:ext cx="90582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5~6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行：</a:t>
            </a:r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iCounter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记录纸的对折次数；</a:t>
            </a:r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fThickness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记录对折后的纸厚。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8~15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行：通过一个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循环确定超过珠峰高度所需要的最小对折次数。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·while(1)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将整数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视为布尔值，按非零即真原则，总是真，执行一个“死”循环。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循环内对对折后的纸厚与珠峰高度比较，如果大于珠峰高度，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break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跳出循环。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每次对折纸厚翻倍，</a:t>
            </a:r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iCounter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记数器加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77164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318962" y="153559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556189" y="704593"/>
            <a:ext cx="51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C3.5.4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微实践 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–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九层之台，起于累土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4" name="图形 13" descr="饼图演示文稿">
            <a:extLst>
              <a:ext uri="{FF2B5EF4-FFF2-40B4-BE49-F238E27FC236}">
                <a16:creationId xmlns:a16="http://schemas.microsoft.com/office/drawing/2014/main" id="{DA2977AB-34F2-43C0-AA61-1C6352A2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1770" y="478226"/>
            <a:ext cx="914400" cy="9144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3E3FACC-DE41-4721-97C5-F4881AC73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159" y="2063024"/>
            <a:ext cx="9067800" cy="36793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DEE2544-30DF-415D-A6BD-7382E0C60287}"/>
              </a:ext>
            </a:extLst>
          </p:cNvPr>
          <p:cNvSpPr txBox="1"/>
          <p:nvPr/>
        </p:nvSpPr>
        <p:spPr>
          <a:xfrm>
            <a:off x="1337532" y="1658999"/>
            <a:ext cx="7683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显然，求超过珠峰高度的最小对折次数，下述代码更直接：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8F6020-8131-4188-A1AC-793EC25927C6}"/>
              </a:ext>
            </a:extLst>
          </p:cNvPr>
          <p:cNvSpPr txBox="1"/>
          <p:nvPr/>
        </p:nvSpPr>
        <p:spPr>
          <a:xfrm>
            <a:off x="1337532" y="58117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其中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log2(x)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函数计算并返回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x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的以 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2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为底的对数。</a:t>
            </a:r>
          </a:p>
        </p:txBody>
      </p:sp>
    </p:spTree>
    <p:extLst>
      <p:ext uri="{BB962C8B-B14F-4D97-AF65-F5344CB8AC3E}">
        <p14:creationId xmlns:p14="http://schemas.microsoft.com/office/powerpoint/2010/main" val="306946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677420_TF67328976" id="{0099F08C-E722-42D3-9A7C-80DCF66B9395}" vid="{24A59E84-32B8-4631-B8BE-277BF68434B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934E25-8442-49E9-ABDF-3146C4145F3B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fb0879af-3eba-417a-a55a-ffe6dcd6ca77"/>
    <ds:schemaRef ds:uri="http://purl.org/dc/elements/1.1/"/>
    <ds:schemaRef ds:uri="http://purl.org/dc/terms/"/>
    <ds:schemaRef ds:uri="http://schemas.microsoft.com/office/infopath/2007/PartnerControls"/>
    <ds:schemaRef ds:uri="6dc4bcd6-49db-4c07-9060-8acfc67cef9f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BBB5711-29E1-4F8E-81A0-7947C57B2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CB1848-D3E0-4F10-B640-720BE758B8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极简主义演示文稿</Template>
  <TotalTime>0</TotalTime>
  <Words>5329</Words>
  <Application>Microsoft Office PowerPoint</Application>
  <PresentationFormat>宽屏</PresentationFormat>
  <Paragraphs>787</Paragraphs>
  <Slides>57</Slides>
  <Notes>49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Helvetica Neue</vt:lpstr>
      <vt:lpstr>Microsoft YaHei UI</vt:lpstr>
      <vt:lpstr>阿里巴巴普惠体 R</vt:lpstr>
      <vt:lpstr>仿宋</vt:lpstr>
      <vt:lpstr>楷体_GB2312</vt:lpstr>
      <vt:lpstr>宋体</vt:lpstr>
      <vt:lpstr>Arial</vt:lpstr>
      <vt:lpstr>Cambria Math</vt:lpstr>
      <vt:lpstr>Microsoft Himalaya</vt:lpstr>
      <vt:lpstr>Tahoma</vt:lpstr>
      <vt:lpstr>Times New Roman</vt:lpstr>
      <vt:lpstr>Wingdings</vt:lpstr>
      <vt:lpstr>Office 主题</vt:lpstr>
      <vt:lpstr>Equation.DSMT4</vt:lpstr>
      <vt:lpstr>PowerPoint 演示文稿</vt:lpstr>
      <vt:lpstr>算法的基本控制结构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几个要注意的地方：</vt:lpstr>
      <vt:lpstr>PowerPoint 演示文稿</vt:lpstr>
      <vt:lpstr>PowerPoint 演示文稿</vt:lpstr>
      <vt:lpstr>PowerPoint 演示文稿</vt:lpstr>
      <vt:lpstr>PowerPoint 演示文稿</vt:lpstr>
      <vt:lpstr>三目运算符：条件运算符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2019-07-09T17:08:58Z</dcterms:created>
  <dcterms:modified xsi:type="dcterms:W3CDTF">2024-11-01T12:00:57Z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