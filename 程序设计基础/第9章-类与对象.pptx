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85"/>
  </p:notesMasterIdLst>
  <p:handoutMasterIdLst>
    <p:handoutMasterId r:id="rId86"/>
  </p:handoutMasterIdLst>
  <p:sldIdLst>
    <p:sldId id="256" r:id="rId2"/>
    <p:sldId id="272" r:id="rId3"/>
    <p:sldId id="273" r:id="rId4"/>
    <p:sldId id="373" r:id="rId5"/>
    <p:sldId id="278" r:id="rId6"/>
    <p:sldId id="274" r:id="rId7"/>
    <p:sldId id="279" r:id="rId8"/>
    <p:sldId id="282" r:id="rId9"/>
    <p:sldId id="283" r:id="rId10"/>
    <p:sldId id="285" r:id="rId11"/>
    <p:sldId id="286" r:id="rId12"/>
    <p:sldId id="383" r:id="rId13"/>
    <p:sldId id="288" r:id="rId14"/>
    <p:sldId id="384" r:id="rId15"/>
    <p:sldId id="289" r:id="rId16"/>
    <p:sldId id="292" r:id="rId17"/>
    <p:sldId id="294" r:id="rId18"/>
    <p:sldId id="301" r:id="rId19"/>
    <p:sldId id="375" r:id="rId20"/>
    <p:sldId id="376" r:id="rId21"/>
    <p:sldId id="377" r:id="rId22"/>
    <p:sldId id="378" r:id="rId23"/>
    <p:sldId id="379" r:id="rId24"/>
    <p:sldId id="305" r:id="rId25"/>
    <p:sldId id="385" r:id="rId26"/>
    <p:sldId id="306" r:id="rId27"/>
    <p:sldId id="311" r:id="rId28"/>
    <p:sldId id="316" r:id="rId29"/>
    <p:sldId id="387" r:id="rId30"/>
    <p:sldId id="388" r:id="rId31"/>
    <p:sldId id="389" r:id="rId32"/>
    <p:sldId id="386" r:id="rId33"/>
    <p:sldId id="312" r:id="rId34"/>
    <p:sldId id="313" r:id="rId35"/>
    <p:sldId id="314" r:id="rId36"/>
    <p:sldId id="315" r:id="rId37"/>
    <p:sldId id="317" r:id="rId38"/>
    <p:sldId id="318" r:id="rId39"/>
    <p:sldId id="341" r:id="rId40"/>
    <p:sldId id="342" r:id="rId41"/>
    <p:sldId id="343" r:id="rId42"/>
    <p:sldId id="390" r:id="rId43"/>
    <p:sldId id="391" r:id="rId44"/>
    <p:sldId id="392" r:id="rId45"/>
    <p:sldId id="329" r:id="rId46"/>
    <p:sldId id="348" r:id="rId47"/>
    <p:sldId id="545" r:id="rId48"/>
    <p:sldId id="546" r:id="rId49"/>
    <p:sldId id="717" r:id="rId50"/>
    <p:sldId id="721" r:id="rId51"/>
    <p:sldId id="772" r:id="rId52"/>
    <p:sldId id="672" r:id="rId53"/>
    <p:sldId id="726" r:id="rId54"/>
    <p:sldId id="708" r:id="rId55"/>
    <p:sldId id="738" r:id="rId56"/>
    <p:sldId id="774" r:id="rId57"/>
    <p:sldId id="393" r:id="rId58"/>
    <p:sldId id="510" r:id="rId59"/>
    <p:sldId id="394" r:id="rId60"/>
    <p:sldId id="499" r:id="rId61"/>
    <p:sldId id="500" r:id="rId62"/>
    <p:sldId id="501" r:id="rId63"/>
    <p:sldId id="484" r:id="rId64"/>
    <p:sldId id="486" r:id="rId65"/>
    <p:sldId id="490" r:id="rId66"/>
    <p:sldId id="491" r:id="rId67"/>
    <p:sldId id="494" r:id="rId68"/>
    <p:sldId id="503" r:id="rId69"/>
    <p:sldId id="496" r:id="rId70"/>
    <p:sldId id="507" r:id="rId71"/>
    <p:sldId id="495" r:id="rId72"/>
    <p:sldId id="504" r:id="rId73"/>
    <p:sldId id="505" r:id="rId74"/>
    <p:sldId id="506" r:id="rId75"/>
    <p:sldId id="475" r:id="rId76"/>
    <p:sldId id="476" r:id="rId77"/>
    <p:sldId id="508" r:id="rId78"/>
    <p:sldId id="339" r:id="rId79"/>
    <p:sldId id="338" r:id="rId80"/>
    <p:sldId id="340" r:id="rId81"/>
    <p:sldId id="509" r:id="rId82"/>
    <p:sldId id="336" r:id="rId83"/>
    <p:sldId id="337" r:id="rId8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FF"/>
    <a:srgbClr val="00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581" autoAdjust="0"/>
  </p:normalViewPr>
  <p:slideViewPr>
    <p:cSldViewPr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2727511-8432-43A0-848C-398AFA77807F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kumimoji="1" sz="1200" b="0" smtClean="0"/>
            </a:lvl1pPr>
          </a:lstStyle>
          <a:p>
            <a:pPr>
              <a:defRPr/>
            </a:pPr>
            <a:fld id="{FC535CDE-4724-4F97-835F-2488697BE36C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50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8985F92-CBF0-4AE7-AB30-B5534446408E}" type="slidenum">
              <a:rPr kumimoji="0" lang="zh-CN" altLang="en-US"/>
              <a:t>6</a:t>
            </a:fld>
            <a:endParaRPr kumimoji="0" lang="zh-CN" alt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381000" y="685800"/>
            <a:ext cx="6096000" cy="3429000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D7E0F2C-D87D-43FE-9F1A-53A2B13152B1}" type="slidenum">
              <a:rPr kumimoji="0" lang="zh-CN" altLang="en-US"/>
              <a:t>26</a:t>
            </a:fld>
            <a:endParaRPr kumimoji="0" lang="zh-CN" alt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381000" y="685800"/>
            <a:ext cx="6096000" cy="3429000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000"/>
              <a:t>给各成员数据赋初值。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259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135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48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54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81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751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478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136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573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6387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800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047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541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371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429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7093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US" altLang="zh-CN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7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1193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00680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7283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3309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34177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00692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7634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8585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3731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99973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19440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5355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68646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76401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398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1651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30577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69742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58209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24893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99443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729386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70786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5287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25898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002825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938784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包含小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84477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-9832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00453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 userDrawn="1"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9104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232148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87384E-C70B-44BF-935C-0CF1459226D7}" type="datetime1">
              <a:rPr lang="zh-CN" altLang="en-US"/>
              <a:t>2024/11/30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BBCD9-B1AB-44B6-8F0A-97C9B58E303C}" type="slidenum">
              <a:rPr lang="zh-CN" altLang="en-US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531899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包含小图像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1">
            <a:extLst>
              <a:ext uri="{FF2B5EF4-FFF2-40B4-BE49-F238E27FC236}">
                <a16:creationId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80476" y="-9832"/>
            <a:ext cx="2211524" cy="685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CN" altLang="en-US" noProof="0"/>
              <a:t>插入或拖放照片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6990" y="4336464"/>
            <a:ext cx="6798250" cy="1674470"/>
          </a:xfrm>
        </p:spPr>
        <p:txBody>
          <a:bodyPr rtlCol="0" anchor="b"/>
          <a:lstStyle>
            <a:lvl1pPr algn="r">
              <a:lnSpc>
                <a:spcPts val="5000"/>
              </a:lnSpc>
              <a:defRPr sz="6000" b="1" cap="all" spc="-300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演示文稿标题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1904" y="4640707"/>
            <a:ext cx="3401478" cy="1192038"/>
          </a:xfrm>
          <a:solidFill>
            <a:schemeClr val="tx1"/>
          </a:solidFill>
        </p:spPr>
        <p:txBody>
          <a:bodyPr lIns="252000" tIns="0" rtlCol="0"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756F2950-BBCB-4A53-9EAC-D714777B8FA2}"/>
              </a:ext>
            </a:extLst>
          </p:cNvPr>
          <p:cNvSpPr/>
          <p:nvPr userDrawn="1"/>
        </p:nvSpPr>
        <p:spPr>
          <a:xfrm>
            <a:off x="0" y="6784477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D5253865-24CF-4EF5-92A5-F64EB9ABC8B7}"/>
              </a:ext>
            </a:extLst>
          </p:cNvPr>
          <p:cNvSpPr/>
          <p:nvPr userDrawn="1"/>
        </p:nvSpPr>
        <p:spPr>
          <a:xfrm>
            <a:off x="0" y="-9832"/>
            <a:ext cx="9980476" cy="636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BBE19773-9B6A-4A2C-95A5-69A3788C2D94}"/>
              </a:ext>
            </a:extLst>
          </p:cNvPr>
          <p:cNvSpPr/>
          <p:nvPr userDrawn="1"/>
        </p:nvSpPr>
        <p:spPr>
          <a:xfrm rot="5400000">
            <a:off x="-3378441" y="3400453"/>
            <a:ext cx="6826157" cy="6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73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887384E-C70B-44BF-935C-0CF1459226D7}" type="datetime1">
              <a:rPr lang="zh-CN" altLang="en-US" smtClean="0"/>
              <a:t>2024/11/30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2E4C510-4941-4930-A272-1C453584D6E1}" type="slidenum">
              <a:rPr lang="zh-CN" altLang="en-US" smtClean="0"/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508000" y="1600200"/>
            <a:ext cx="11074400" cy="0"/>
          </a:xfrm>
          <a:prstGeom prst="line">
            <a:avLst/>
          </a:prstGeom>
          <a:noFill/>
          <a:ln w="3175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11029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8" r:id="rId16"/>
    <p:sldLayoutId id="2147483669" r:id="rId17"/>
    <p:sldLayoutId id="2147483670" r:id="rId18"/>
    <p:sldLayoutId id="2147483672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1" r:id="rId25"/>
    <p:sldLayoutId id="2147483684" r:id="rId26"/>
    <p:sldLayoutId id="2147483687" r:id="rId27"/>
    <p:sldLayoutId id="2147483688" r:id="rId28"/>
    <p:sldLayoutId id="2147483689" r:id="rId29"/>
    <p:sldLayoutId id="2147483692" r:id="rId30"/>
    <p:sldLayoutId id="2147483693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3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4.pn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09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1524B83-A19C-4DD3-92A9-7717E25D2E01}" type="slidenum">
              <a:rPr lang="zh-CN" altLang="en-US"/>
              <a:t>1</a:t>
            </a:fld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9376" y="592932"/>
            <a:ext cx="10363200" cy="1143000"/>
          </a:xfrm>
        </p:spPr>
        <p:txBody>
          <a:bodyPr/>
          <a:lstStyle/>
          <a:p>
            <a:r>
              <a:rPr lang="zh-CN" altLang="en-US" dirty="0"/>
              <a:t>第 </a:t>
            </a:r>
            <a:r>
              <a:rPr lang="en-US" altLang="zh-CN" dirty="0"/>
              <a:t>9 </a:t>
            </a:r>
            <a:r>
              <a:rPr lang="zh-CN" altLang="en-US" dirty="0"/>
              <a:t>章   类的基础部分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出现大量的全局变量；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zh-CN" altLang="en-US"/>
              <a:t>程序复杂</a:t>
            </a:r>
            <a:r>
              <a:rPr lang="en-US" altLang="zh-CN"/>
              <a:t>:  </a:t>
            </a:r>
            <a:r>
              <a:rPr lang="zh-CN" altLang="en-US"/>
              <a:t>程序员难以理解成百上千的函数；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程序难以进行修改和扩充。</a:t>
            </a:r>
          </a:p>
        </p:txBody>
      </p:sp>
      <p:sp>
        <p:nvSpPr>
          <p:cNvPr id="51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4475764-5A1E-40D9-B8CB-E65E49F1C47A}" type="slidenum">
              <a:rPr lang="zh-CN" altLang="en-US"/>
              <a:t>2</a:t>
            </a:fld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3392" y="836719"/>
            <a:ext cx="8458200" cy="844550"/>
          </a:xfrm>
        </p:spPr>
        <p:txBody>
          <a:bodyPr/>
          <a:lstStyle/>
          <a:p>
            <a:r>
              <a:rPr lang="en-US" altLang="zh-CN" dirty="0"/>
              <a:t>9.1.1 </a:t>
            </a:r>
            <a:r>
              <a:rPr lang="zh-CN" altLang="en-US" dirty="0"/>
              <a:t>过程化程序设计的缺陷 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OOP</a:t>
            </a:r>
            <a:r>
              <a:rPr lang="en-US" altLang="zh-CN"/>
              <a:t> </a:t>
            </a:r>
            <a:r>
              <a:rPr lang="zh-CN" altLang="en-US"/>
              <a:t>以对象为中心，把数据和对数据的操作封装在一起 </a:t>
            </a:r>
          </a:p>
          <a:p>
            <a:r>
              <a:rPr lang="zh-CN" altLang="en-US">
                <a:solidFill>
                  <a:srgbClr val="FF0000"/>
                </a:solidFill>
              </a:rPr>
              <a:t>过程化设计</a:t>
            </a:r>
            <a:r>
              <a:rPr lang="zh-CN" altLang="en-US"/>
              <a:t>是以过程为中心 </a:t>
            </a:r>
            <a:r>
              <a:rPr lang="en-US" altLang="zh-CN"/>
              <a:t>(</a:t>
            </a:r>
            <a:r>
              <a:rPr lang="zh-CN" altLang="en-US"/>
              <a:t>函数</a:t>
            </a:r>
            <a:r>
              <a:rPr lang="en-US" altLang="zh-CN"/>
              <a:t>)</a:t>
            </a:r>
          </a:p>
          <a:p>
            <a:r>
              <a:rPr lang="zh-CN" altLang="en-US"/>
              <a:t>面向对象设计是以对象为中心</a:t>
            </a:r>
            <a:r>
              <a:rPr lang="en-US" altLang="zh-CN"/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Example: </a:t>
            </a:r>
          </a:p>
        </p:txBody>
      </p:sp>
      <p:sp>
        <p:nvSpPr>
          <p:cNvPr id="614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7C9D4E-D610-493A-888E-E3839133F13B}" type="slidenum">
              <a:rPr lang="zh-CN" altLang="en-US"/>
              <a:t>3</a:t>
            </a:fld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9376" y="471464"/>
            <a:ext cx="10363200" cy="1143000"/>
          </a:xfrm>
        </p:spPr>
        <p:txBody>
          <a:bodyPr/>
          <a:lstStyle/>
          <a:p>
            <a:r>
              <a:rPr lang="en-US" altLang="zh-CN" sz="3600" dirty="0"/>
              <a:t>9.1.2 </a:t>
            </a:r>
            <a:r>
              <a:rPr lang="zh-CN" altLang="en-US" sz="3600" dirty="0"/>
              <a:t>面向对象程序设计的基本思想 </a:t>
            </a:r>
            <a:endParaRPr lang="en-US" altLang="zh-CN" sz="3600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2349501"/>
            <a:ext cx="2586038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337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C7.1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面向对象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684756" y="1534577"/>
            <a:ext cx="1265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zh-CN" altLang="zh-CN" dirty="0">
                <a:solidFill>
                  <a:schemeClr val="tx1"/>
                </a:solidFill>
              </a:rPr>
              <a:t>对象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22545" y="1534578"/>
            <a:ext cx="95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zh-CN" altLang="en-US" dirty="0">
                <a:solidFill>
                  <a:schemeClr val="tx1"/>
                </a:solidFill>
              </a:rPr>
              <a:t>类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45699" y="1515028"/>
            <a:ext cx="1265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/>
            <a:r>
              <a:rPr lang="zh-CN" altLang="zh-CN" dirty="0">
                <a:solidFill>
                  <a:schemeClr val="tx1"/>
                </a:solidFill>
              </a:rPr>
              <a:t>对象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919537" y="1988838"/>
            <a:ext cx="2079482" cy="31683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dirty="0">
                <a:solidFill>
                  <a:srgbClr val="7030A0"/>
                </a:solidFill>
              </a:rPr>
              <a:t>矩形</a:t>
            </a:r>
            <a:r>
              <a:rPr lang="zh-CN" altLang="en-US" sz="2000" b="1" dirty="0">
                <a:solidFill>
                  <a:srgbClr val="7030A0"/>
                </a:solidFill>
              </a:rPr>
              <a:t>类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algn="ctr"/>
            <a:endParaRPr lang="en-US" altLang="zh-CN" sz="2000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sz="2000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sz="2000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sz="2000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7030A0"/>
                </a:solidFill>
              </a:rPr>
              <a:t>成员函数</a:t>
            </a:r>
            <a:r>
              <a:rPr lang="en-US" altLang="zh-CN" sz="2000" b="1" dirty="0">
                <a:solidFill>
                  <a:schemeClr val="tx1"/>
                </a:solidFill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</a:rPr>
              <a:t>方法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设置长和宽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获取长和宽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计算面积</a:t>
            </a:r>
          </a:p>
        </p:txBody>
      </p:sp>
      <p:sp>
        <p:nvSpPr>
          <p:cNvPr id="20" name="矩形 19"/>
          <p:cNvSpPr/>
          <p:nvPr/>
        </p:nvSpPr>
        <p:spPr>
          <a:xfrm>
            <a:off x="1919537" y="2639756"/>
            <a:ext cx="2079482" cy="941398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属性</a:t>
            </a:r>
            <a:r>
              <a:rPr lang="en-US" altLang="zh-CN" sz="2000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/</a:t>
            </a:r>
            <a:r>
              <a:rPr lang="zh-CN" altLang="en-US" sz="2000" b="1" dirty="0">
                <a:solidFill>
                  <a:srgbClr val="7030A0"/>
                </a:solidFill>
              </a:rPr>
              <a:t>数据成员</a:t>
            </a:r>
            <a:r>
              <a:rPr lang="zh-CN" altLang="en-US" sz="2000" b="1" dirty="0">
                <a:solidFill>
                  <a:schemeClr val="tx1"/>
                </a:solidFill>
              </a:rPr>
              <a:t>（长，宽）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4371696" y="1974556"/>
            <a:ext cx="2281399" cy="31826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矩形一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设置长和宽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获取长和宽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计算面积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354181" y="2698851"/>
            <a:ext cx="2268583" cy="8232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10</a:t>
            </a:r>
            <a:r>
              <a:rPr lang="zh-CN" altLang="en-US" sz="2000" b="1" dirty="0">
                <a:solidFill>
                  <a:schemeClr val="tx1"/>
                </a:solidFill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</a:rPr>
              <a:t>5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7025772" y="1988840"/>
            <a:ext cx="2173450" cy="31683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矩形二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b="1" dirty="0">
              <a:solidFill>
                <a:schemeClr val="tx1"/>
              </a:solidFill>
            </a:endParaRPr>
          </a:p>
          <a:p>
            <a:pPr algn="ctr"/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设置长和宽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获取长和宽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计算面积</a:t>
            </a:r>
          </a:p>
        </p:txBody>
      </p:sp>
      <p:sp>
        <p:nvSpPr>
          <p:cNvPr id="24" name="矩形 23"/>
          <p:cNvSpPr/>
          <p:nvPr/>
        </p:nvSpPr>
        <p:spPr>
          <a:xfrm>
            <a:off x="7038590" y="2677800"/>
            <a:ext cx="2160632" cy="8232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20</a:t>
            </a:r>
            <a:r>
              <a:rPr lang="zh-CN" altLang="en-US" sz="2000" b="1" dirty="0">
                <a:solidFill>
                  <a:schemeClr val="tx1"/>
                </a:solidFill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</a:rPr>
              <a:t>4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80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7" name="Group 2"/>
          <p:cNvGrpSpPr/>
          <p:nvPr/>
        </p:nvGrpSpPr>
        <p:grpSpPr bwMode="auto">
          <a:xfrm>
            <a:off x="5659536" y="1233582"/>
            <a:ext cx="4495800" cy="4392711"/>
            <a:chOff x="-3" y="-3"/>
            <a:chExt cx="1244" cy="1542"/>
          </a:xfrm>
        </p:grpSpPr>
        <p:grpSp>
          <p:nvGrpSpPr>
            <p:cNvPr id="9218" name="Group 3"/>
            <p:cNvGrpSpPr/>
            <p:nvPr/>
          </p:nvGrpSpPr>
          <p:grpSpPr bwMode="auto">
            <a:xfrm>
              <a:off x="0" y="0"/>
              <a:ext cx="1238" cy="1536"/>
              <a:chOff x="0" y="0"/>
              <a:chExt cx="1238" cy="1536"/>
            </a:xfrm>
          </p:grpSpPr>
          <p:grpSp>
            <p:nvGrpSpPr>
              <p:cNvPr id="9219" name="Group 4"/>
              <p:cNvGrpSpPr/>
              <p:nvPr/>
            </p:nvGrpSpPr>
            <p:grpSpPr bwMode="auto">
              <a:xfrm>
                <a:off x="0" y="0"/>
                <a:ext cx="1238" cy="672"/>
                <a:chOff x="0" y="0"/>
                <a:chExt cx="1238" cy="672"/>
              </a:xfrm>
            </p:grpSpPr>
            <p:sp>
              <p:nvSpPr>
                <p:cNvPr id="9220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152" cy="6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 sz="2800" dirty="0">
                      <a:solidFill>
                        <a:schemeClr val="tx1"/>
                      </a:solidFill>
                    </a:rPr>
                    <a:t>成员</a:t>
                  </a:r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变量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  <a:p>
                  <a:pPr algn="just" eaLnBrk="0" hangingPunct="0"/>
                  <a:r>
                    <a:rPr lang="en-US" altLang="zh-CN" sz="2800" dirty="0">
                      <a:solidFill>
                        <a:schemeClr val="tx1"/>
                      </a:solidFill>
                    </a:rPr>
                    <a:t>float  width; </a:t>
                  </a:r>
                </a:p>
                <a:p>
                  <a:pPr algn="just" eaLnBrk="0" hangingPunct="0"/>
                  <a:r>
                    <a:rPr lang="en-US" altLang="zh-CN" sz="2800" dirty="0">
                      <a:solidFill>
                        <a:schemeClr val="tx1"/>
                      </a:solidFill>
                    </a:rPr>
                    <a:t>float  length; </a:t>
                  </a:r>
                </a:p>
              </p:txBody>
            </p:sp>
            <p:sp>
              <p:nvSpPr>
                <p:cNvPr id="9221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38" cy="672"/>
                </a:xfrm>
                <a:prstGeom prst="rect">
                  <a:avLst/>
                </a:prstGeom>
                <a:noFill/>
                <a:ln w="254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fontAlgn="t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222" name="Group 7"/>
              <p:cNvGrpSpPr/>
              <p:nvPr/>
            </p:nvGrpSpPr>
            <p:grpSpPr bwMode="auto">
              <a:xfrm>
                <a:off x="0" y="672"/>
                <a:ext cx="1238" cy="864"/>
                <a:chOff x="0" y="672"/>
                <a:chExt cx="1238" cy="864"/>
              </a:xfrm>
            </p:grpSpPr>
            <p:sp>
              <p:nvSpPr>
                <p:cNvPr id="9223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672"/>
                  <a:ext cx="1152" cy="8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 sz="2800" dirty="0">
                      <a:solidFill>
                        <a:schemeClr val="tx1"/>
                      </a:solidFill>
                    </a:rPr>
                    <a:t>成员</a:t>
                  </a:r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函数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setData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   { ……}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getLength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){ ……}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getWidth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{ ……} 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calcArea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 { ……}    </a:t>
                  </a:r>
                </a:p>
              </p:txBody>
            </p:sp>
            <p:sp>
              <p:nvSpPr>
                <p:cNvPr id="9224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672"/>
                  <a:ext cx="1238" cy="864"/>
                </a:xfrm>
                <a:prstGeom prst="rect">
                  <a:avLst/>
                </a:prstGeom>
                <a:noFill/>
                <a:ln w="254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fontAlgn="t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9225" name="Rectangle 10"/>
            <p:cNvSpPr>
              <a:spLocks noChangeArrowheads="1"/>
            </p:cNvSpPr>
            <p:nvPr/>
          </p:nvSpPr>
          <p:spPr bwMode="auto">
            <a:xfrm>
              <a:off x="-3" y="-3"/>
              <a:ext cx="1244" cy="15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t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1451" name="AutoShape 11"/>
          <p:cNvSpPr/>
          <p:nvPr/>
        </p:nvSpPr>
        <p:spPr bwMode="auto">
          <a:xfrm>
            <a:off x="10193436" y="1809844"/>
            <a:ext cx="381000" cy="1079500"/>
          </a:xfrm>
          <a:prstGeom prst="rightBrace">
            <a:avLst>
              <a:gd name="adj1" fmla="val 23598"/>
              <a:gd name="adj2" fmla="val 50000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t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10574436" y="2158282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zh-CN" altLang="en-US" sz="3600" dirty="0">
                <a:solidFill>
                  <a:schemeClr val="tx1"/>
                </a:solidFill>
              </a:rPr>
              <a:t>属性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1453" name="AutoShape 13"/>
          <p:cNvSpPr/>
          <p:nvPr/>
        </p:nvSpPr>
        <p:spPr bwMode="auto">
          <a:xfrm>
            <a:off x="10237092" y="3250029"/>
            <a:ext cx="381000" cy="2016125"/>
          </a:xfrm>
          <a:prstGeom prst="rightBrace">
            <a:avLst>
              <a:gd name="adj1" fmla="val 44073"/>
              <a:gd name="adj2" fmla="val 50000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t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454" name="Text Box 14"/>
          <p:cNvSpPr txBox="1">
            <a:spLocks noChangeArrowheads="1"/>
          </p:cNvSpPr>
          <p:nvPr/>
        </p:nvSpPr>
        <p:spPr bwMode="auto">
          <a:xfrm>
            <a:off x="10619118" y="3936641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zh-CN" altLang="en-US" sz="3600" dirty="0">
                <a:solidFill>
                  <a:schemeClr val="tx1"/>
                </a:solidFill>
              </a:rPr>
              <a:t>方法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27448" y="1628998"/>
            <a:ext cx="3805038" cy="40173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矩形</a:t>
            </a:r>
            <a:r>
              <a:rPr lang="zh-CN" altLang="en-US" b="1" dirty="0">
                <a:solidFill>
                  <a:srgbClr val="7030A0"/>
                </a:solidFill>
              </a:rPr>
              <a:t>类</a:t>
            </a:r>
            <a:endParaRPr lang="en-US" altLang="zh-CN" b="1" dirty="0">
              <a:solidFill>
                <a:srgbClr val="7030A0"/>
              </a:solidFill>
            </a:endParaRPr>
          </a:p>
          <a:p>
            <a:pPr algn="ctr"/>
            <a:endParaRPr lang="en-US" altLang="zh-CN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endParaRPr lang="en-US" altLang="zh-CN" b="1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rgbClr val="7030A0"/>
                </a:solidFill>
              </a:rPr>
              <a:t>成员函数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方法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rgbClr val="FFFF00"/>
                </a:solidFill>
              </a:rPr>
              <a:t>设置长和宽</a:t>
            </a:r>
            <a:endParaRPr lang="en-US" altLang="zh-CN" dirty="0">
              <a:solidFill>
                <a:srgbClr val="FFFF00"/>
              </a:solidFill>
            </a:endParaRPr>
          </a:p>
          <a:p>
            <a:pPr algn="ctr"/>
            <a:r>
              <a:rPr lang="zh-CN" altLang="en-US" dirty="0">
                <a:solidFill>
                  <a:srgbClr val="FFFF00"/>
                </a:solidFill>
              </a:rPr>
              <a:t>获取长</a:t>
            </a:r>
            <a:endParaRPr lang="en-US" altLang="zh-CN" dirty="0">
              <a:solidFill>
                <a:srgbClr val="FFFF00"/>
              </a:solidFill>
            </a:endParaRPr>
          </a:p>
          <a:p>
            <a:pPr algn="ctr"/>
            <a:r>
              <a:rPr lang="zh-CN" altLang="en-US" dirty="0">
                <a:solidFill>
                  <a:srgbClr val="FFFF00"/>
                </a:solidFill>
              </a:rPr>
              <a:t>获取宽</a:t>
            </a:r>
            <a:endParaRPr lang="en-US" altLang="zh-CN" dirty="0">
              <a:solidFill>
                <a:srgbClr val="FFFF00"/>
              </a:solidFill>
            </a:endParaRPr>
          </a:p>
          <a:p>
            <a:pPr algn="ctr"/>
            <a:r>
              <a:rPr lang="zh-CN" altLang="en-US" b="1" dirty="0">
                <a:solidFill>
                  <a:srgbClr val="FFFF00"/>
                </a:solidFill>
              </a:rPr>
              <a:t>计算面积</a:t>
            </a:r>
          </a:p>
        </p:txBody>
      </p:sp>
      <p:sp>
        <p:nvSpPr>
          <p:cNvPr id="17" name="矩形 16"/>
          <p:cNvSpPr/>
          <p:nvPr/>
        </p:nvSpPr>
        <p:spPr>
          <a:xfrm>
            <a:off x="1127448" y="2279916"/>
            <a:ext cx="3805038" cy="107642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属性</a:t>
            </a:r>
            <a:r>
              <a:rPr lang="en-US" altLang="zh-CN" b="1" dirty="0">
                <a:solidFill>
                  <a:schemeClr val="tx2">
                    <a:lumMod val="85000"/>
                    <a:lumOff val="15000"/>
                  </a:schemeClr>
                </a:solidFill>
              </a:rPr>
              <a:t>/</a:t>
            </a:r>
            <a:r>
              <a:rPr lang="zh-CN" altLang="en-US" b="1" dirty="0">
                <a:solidFill>
                  <a:srgbClr val="7030A0"/>
                </a:solidFill>
              </a:rPr>
              <a:t>数据成员</a:t>
            </a:r>
            <a:r>
              <a:rPr lang="zh-CN" altLang="en-US" b="1" dirty="0">
                <a:solidFill>
                  <a:srgbClr val="FFFF00"/>
                </a:solidFill>
              </a:rPr>
              <a:t>（长，宽）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2" grpId="0"/>
      <p:bldP spid="61454" grpId="0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63352" y="1814512"/>
            <a:ext cx="7391400" cy="4724400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dirty="0"/>
              <a:t>    类是一种用户自定义类型，声明形式：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class  </a:t>
            </a:r>
            <a:r>
              <a:rPr lang="zh-CN" altLang="en-US" dirty="0"/>
              <a:t>类名 </a:t>
            </a:r>
          </a:p>
          <a:p>
            <a:pPr marL="0" indent="0">
              <a:buNone/>
            </a:pPr>
            <a:r>
              <a:rPr lang="en-US" altLang="zh-CN" dirty="0"/>
              <a:t>	{</a:t>
            </a:r>
          </a:p>
          <a:p>
            <a:pPr marL="0" indent="0">
              <a:buNone/>
            </a:pPr>
            <a:r>
              <a:rPr lang="en-US" altLang="zh-CN" dirty="0"/>
              <a:t>             	</a:t>
            </a:r>
            <a:r>
              <a:rPr lang="zh-CN" altLang="en-US" dirty="0"/>
              <a:t>变量和函数的声明；</a:t>
            </a:r>
          </a:p>
          <a:p>
            <a:pPr marL="0" indent="0">
              <a:buNone/>
            </a:pPr>
            <a:r>
              <a:rPr lang="zh-CN" altLang="en-US" dirty="0"/>
              <a:t>             	</a:t>
            </a:r>
            <a:r>
              <a:rPr lang="en-US" altLang="zh-CN" dirty="0"/>
              <a:t>……</a:t>
            </a:r>
          </a:p>
          <a:p>
            <a:pPr marL="0" indent="0">
              <a:buNone/>
            </a:pPr>
            <a:r>
              <a:rPr lang="en-US" altLang="zh-CN" dirty="0"/>
              <a:t>	} 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r>
              <a:rPr lang="en-US" altLang="zh-CN" dirty="0"/>
              <a:t> </a:t>
            </a:r>
          </a:p>
        </p:txBody>
      </p:sp>
      <p:sp>
        <p:nvSpPr>
          <p:cNvPr id="716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D78A8C6-D525-48CA-9B11-D581064DA675}" type="slidenum">
              <a:rPr lang="zh-CN" altLang="en-US"/>
              <a:t>6</a:t>
            </a:fld>
            <a:endParaRPr lang="zh-CN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91544" y="593725"/>
            <a:ext cx="7315200" cy="1066800"/>
          </a:xfrm>
        </p:spPr>
        <p:txBody>
          <a:bodyPr/>
          <a:lstStyle/>
          <a:p>
            <a:r>
              <a:rPr lang="en-US" altLang="zh-CN" dirty="0"/>
              <a:t>9.2.1 </a:t>
            </a:r>
            <a:r>
              <a:rPr lang="zh-CN" altLang="en-US" dirty="0"/>
              <a:t>类的基本概念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2"/>
          <p:cNvSpPr txBox="1">
            <a:spLocks noChangeArrowheads="1"/>
          </p:cNvSpPr>
          <p:nvPr/>
        </p:nvSpPr>
        <p:spPr bwMode="auto">
          <a:xfrm>
            <a:off x="5638800" y="779717"/>
            <a:ext cx="5943600" cy="47089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  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length: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public</a:t>
            </a:r>
            <a:r>
              <a:rPr lang="zh-CN" altLang="en-US" sz="3000" dirty="0">
                <a:solidFill>
                  <a:schemeClr val="tx1"/>
                </a:solidFill>
              </a:rPr>
              <a:t>：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040097" y="5639372"/>
            <a:ext cx="10200456" cy="523220"/>
          </a:xfrm>
          <a:prstGeom prst="rect">
            <a:avLst/>
          </a:prstGeom>
          <a:noFill/>
          <a:ln w="34925">
            <a:solidFill>
              <a:srgbClr val="C0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zh-CN" altLang="en-US" sz="2800" dirty="0">
                <a:solidFill>
                  <a:srgbClr val="FF0000"/>
                </a:solidFill>
              </a:rPr>
              <a:t>默认情况下</a:t>
            </a:r>
            <a:r>
              <a:rPr lang="zh-CN" altLang="en-US" sz="2800" dirty="0">
                <a:solidFill>
                  <a:srgbClr val="0000CC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类的成员是私有（</a:t>
            </a:r>
            <a:r>
              <a:rPr lang="en-US" altLang="zh-CN" sz="2800" dirty="0">
                <a:solidFill>
                  <a:schemeClr val="tx1"/>
                </a:solidFill>
              </a:rPr>
              <a:t>private</a:t>
            </a:r>
            <a:r>
              <a:rPr lang="zh-CN" altLang="en-US" sz="2800" dirty="0">
                <a:solidFill>
                  <a:schemeClr val="tx1"/>
                </a:solidFill>
              </a:rPr>
              <a:t>）的</a:t>
            </a:r>
            <a:r>
              <a:rPr lang="en-US" altLang="zh-CN" sz="2800" dirty="0">
                <a:solidFill>
                  <a:schemeClr val="tx1"/>
                </a:solidFill>
              </a:rPr>
              <a:t>.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7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5" name="Group 2"/>
          <p:cNvGrpSpPr/>
          <p:nvPr/>
        </p:nvGrpSpPr>
        <p:grpSpPr bwMode="auto">
          <a:xfrm>
            <a:off x="335360" y="909797"/>
            <a:ext cx="4495800" cy="4392711"/>
            <a:chOff x="-3" y="-3"/>
            <a:chExt cx="1244" cy="1542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0" y="0"/>
              <a:ext cx="1238" cy="1536"/>
              <a:chOff x="0" y="0"/>
              <a:chExt cx="1238" cy="1536"/>
            </a:xfrm>
          </p:grpSpPr>
          <p:grpSp>
            <p:nvGrpSpPr>
              <p:cNvPr id="8" name="Group 4"/>
              <p:cNvGrpSpPr/>
              <p:nvPr/>
            </p:nvGrpSpPr>
            <p:grpSpPr bwMode="auto">
              <a:xfrm>
                <a:off x="0" y="0"/>
                <a:ext cx="1238" cy="672"/>
                <a:chOff x="0" y="0"/>
                <a:chExt cx="1238" cy="672"/>
              </a:xfrm>
            </p:grpSpPr>
            <p:sp>
              <p:nvSpPr>
                <p:cNvPr id="12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152" cy="6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 sz="2800" dirty="0">
                      <a:solidFill>
                        <a:schemeClr val="tx1"/>
                      </a:solidFill>
                    </a:rPr>
                    <a:t>成员</a:t>
                  </a:r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变量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  <a:p>
                  <a:pPr algn="just" eaLnBrk="0" hangingPunct="0"/>
                  <a:r>
                    <a:rPr lang="en-US" altLang="zh-CN" sz="2800" dirty="0">
                      <a:solidFill>
                        <a:schemeClr val="tx1"/>
                      </a:solidFill>
                    </a:rPr>
                    <a:t>float  width; </a:t>
                  </a:r>
                </a:p>
                <a:p>
                  <a:pPr algn="just" eaLnBrk="0" hangingPunct="0"/>
                  <a:r>
                    <a:rPr lang="en-US" altLang="zh-CN" sz="2800" dirty="0">
                      <a:solidFill>
                        <a:schemeClr val="tx1"/>
                      </a:solidFill>
                    </a:rPr>
                    <a:t>float  length; </a:t>
                  </a:r>
                </a:p>
              </p:txBody>
            </p:sp>
            <p:sp>
              <p:nvSpPr>
                <p:cNvPr id="13" name="Rectangle 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238" cy="672"/>
                </a:xfrm>
                <a:prstGeom prst="rect">
                  <a:avLst/>
                </a:prstGeom>
                <a:noFill/>
                <a:ln w="254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fontAlgn="t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" name="Group 7"/>
              <p:cNvGrpSpPr/>
              <p:nvPr/>
            </p:nvGrpSpPr>
            <p:grpSpPr bwMode="auto">
              <a:xfrm>
                <a:off x="0" y="672"/>
                <a:ext cx="1238" cy="864"/>
                <a:chOff x="0" y="672"/>
                <a:chExt cx="1238" cy="864"/>
              </a:xfrm>
            </p:grpSpPr>
            <p:sp>
              <p:nvSpPr>
                <p:cNvPr id="10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672"/>
                  <a:ext cx="1152" cy="8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/>
                  <a:r>
                    <a:rPr lang="zh-CN" altLang="en-US" sz="2800" dirty="0">
                      <a:solidFill>
                        <a:schemeClr val="tx1"/>
                      </a:solidFill>
                    </a:rPr>
                    <a:t>成员</a:t>
                  </a:r>
                  <a:r>
                    <a:rPr lang="zh-CN" altLang="en-US" sz="2800" dirty="0">
                      <a:solidFill>
                        <a:srgbClr val="FF0000"/>
                      </a:solidFill>
                    </a:rPr>
                    <a:t>函数</a:t>
                  </a:r>
                  <a:endParaRPr lang="zh-CN" altLang="en-US" sz="2800" dirty="0">
                    <a:solidFill>
                      <a:schemeClr val="tx1"/>
                    </a:solidFill>
                  </a:endParaRP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setData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   { ……}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getLength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){ ……}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getWidth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{ ……}    </a:t>
                  </a:r>
                </a:p>
                <a:p>
                  <a:pPr algn="just" eaLnBrk="0" hangingPunct="0"/>
                  <a:r>
                    <a:rPr lang="en-US" altLang="zh-CN" sz="2800" dirty="0" err="1">
                      <a:solidFill>
                        <a:schemeClr val="tx1"/>
                      </a:solidFill>
                    </a:rPr>
                    <a:t>calcArea</a:t>
                  </a:r>
                  <a:r>
                    <a:rPr lang="en-US" altLang="zh-CN" sz="2800" dirty="0">
                      <a:solidFill>
                        <a:schemeClr val="tx1"/>
                      </a:solidFill>
                    </a:rPr>
                    <a:t>( )  { ……}    </a:t>
                  </a:r>
                </a:p>
              </p:txBody>
            </p:sp>
            <p:sp>
              <p:nvSpPr>
                <p:cNvPr id="11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672"/>
                  <a:ext cx="1238" cy="864"/>
                </a:xfrm>
                <a:prstGeom prst="rect">
                  <a:avLst/>
                </a:prstGeom>
                <a:noFill/>
                <a:ln w="25400">
                  <a:solidFill>
                    <a:srgbClr val="A0A0A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fontAlgn="t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-3" y="-3"/>
              <a:ext cx="1244" cy="15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fontAlgn="t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040097" y="6162425"/>
            <a:ext cx="10658815" cy="695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为了使类的成员能够在类外面被访问，其成员必须定义为</a:t>
            </a:r>
            <a:r>
              <a:rPr lang="en-US" altLang="zh-CN" sz="2800" dirty="0">
                <a:solidFill>
                  <a:srgbClr val="FF0000"/>
                </a:solidFill>
              </a:rPr>
              <a:t>public.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" grpId="0" animBg="1"/>
      <p:bldP spid="62467" grpId="0" bldLvl="0" animBg="1"/>
      <p:bldP spid="62467" grpId="1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2"/>
          <p:cNvSpPr txBox="1">
            <a:spLocks noChangeArrowheads="1"/>
          </p:cNvSpPr>
          <p:nvPr/>
        </p:nvSpPr>
        <p:spPr bwMode="auto">
          <a:xfrm>
            <a:off x="3287688" y="620688"/>
            <a:ext cx="594360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  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length: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2"/>
          <p:cNvSpPr txBox="1">
            <a:spLocks noChangeArrowheads="1"/>
          </p:cNvSpPr>
          <p:nvPr/>
        </p:nvSpPr>
        <p:spPr bwMode="auto">
          <a:xfrm>
            <a:off x="3359696" y="476672"/>
            <a:ext cx="59436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  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setData(float,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calcArea(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getWidth(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getLength(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length: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9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8229600" cy="4114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类的成员函数的定义与普通函数的定义类似</a:t>
            </a:r>
            <a:r>
              <a:rPr lang="en-US" altLang="zh-CN" dirty="0"/>
              <a:t>. </a:t>
            </a: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7030A0"/>
                </a:solidFill>
              </a:rPr>
              <a:t>成员函数在类之外定义</a:t>
            </a:r>
            <a:r>
              <a:rPr lang="zh-CN" altLang="en-US" dirty="0"/>
              <a:t>的常规方式</a:t>
            </a:r>
            <a:r>
              <a:rPr lang="en-US" altLang="zh-CN" dirty="0"/>
              <a:t>: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&lt;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返回值类型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&gt;   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&lt;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类名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&gt; ::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&lt;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函数名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&gt; (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参数列表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{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…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}</a:t>
            </a:r>
          </a:p>
        </p:txBody>
      </p:sp>
      <p:sp>
        <p:nvSpPr>
          <p:cNvPr id="1638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C2C659E-F104-4717-B7DC-3FCE692C7786}" type="slidenum">
              <a:rPr lang="zh-CN" altLang="en-US"/>
              <a:t>10</a:t>
            </a:fld>
            <a:endParaRPr lang="zh-CN" alt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609600"/>
            <a:ext cx="10363200" cy="1143000"/>
          </a:xfrm>
        </p:spPr>
        <p:txBody>
          <a:bodyPr/>
          <a:lstStyle/>
          <a:p>
            <a:r>
              <a:rPr lang="en-US" altLang="zh-CN" dirty="0"/>
              <a:t>9.2.2  </a:t>
            </a:r>
            <a:r>
              <a:rPr lang="zh-CN" altLang="en-US" dirty="0"/>
              <a:t>定义成员函数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2"/>
          <p:cNvSpPr txBox="1">
            <a:spLocks noChangeArrowheads="1"/>
          </p:cNvSpPr>
          <p:nvPr/>
        </p:nvSpPr>
        <p:spPr bwMode="auto">
          <a:xfrm>
            <a:off x="191344" y="548680"/>
            <a:ext cx="594360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  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length: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	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	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11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591944" y="692696"/>
            <a:ext cx="6600056" cy="44012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   </a:t>
            </a:r>
            <a:r>
              <a:rPr lang="en-US" altLang="zh-CN" sz="2800" dirty="0">
                <a:solidFill>
                  <a:srgbClr val="FF0000"/>
                </a:solidFill>
              </a:rPr>
              <a:t>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setData</a:t>
            </a:r>
            <a:r>
              <a:rPr lang="en-US" altLang="zh-CN" sz="2800" dirty="0">
                <a:solidFill>
                  <a:schemeClr val="tx1"/>
                </a:solidFill>
              </a:rPr>
              <a:t>(float  w, float  l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width = w;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	length = 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/>
            <a:endParaRPr lang="en-US" altLang="zh-CN" sz="28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float    </a:t>
            </a:r>
            <a:r>
              <a:rPr lang="en-US" altLang="zh-CN" sz="2800" dirty="0">
                <a:solidFill>
                  <a:srgbClr val="FF0000"/>
                </a:solidFill>
              </a:rPr>
              <a:t>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getWidth</a:t>
            </a:r>
            <a:r>
              <a:rPr lang="en-US" altLang="zh-CN" sz="2800" dirty="0">
                <a:solidFill>
                  <a:schemeClr val="tx1"/>
                </a:solidFill>
              </a:rPr>
              <a:t> 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return width;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1914188" y="6402388"/>
            <a:ext cx="277812" cy="273050"/>
          </a:xfrm>
        </p:spPr>
        <p:txBody>
          <a:bodyPr/>
          <a:lstStyle/>
          <a:p>
            <a:fld id="{19B51A1E-902D-48AF-9020-955120F399B6}" type="slidenum">
              <a:rPr lang="en-ZA" altLang="zh-CN" noProof="0" smtClean="0"/>
              <a:pPr/>
              <a:t>12</a:t>
            </a:fld>
            <a:endParaRPr lang="zh-CN" altLang="en-US" noProof="0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45097" y="976431"/>
            <a:ext cx="11121250" cy="2484276"/>
          </a:xfrm>
          <a:prstGeom prst="rect">
            <a:avLst/>
          </a:prstGeom>
        </p:spPr>
        <p:txBody>
          <a:bodyPr>
            <a:norm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例：设计一个雇员类，其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个数据成员包括姓名和年龄，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个成员函数包括设置姓名，设置年龄，显示姓名和年龄。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916832"/>
            <a:ext cx="7560533" cy="384187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9536" y="5981115"/>
            <a:ext cx="652294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9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注：</a:t>
            </a:r>
            <a:r>
              <a:rPr lang="en-US" altLang="zh-CN" sz="2400" b="1" dirty="0">
                <a:solidFill>
                  <a:srgbClr val="FF0000"/>
                </a:solidFill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成员函数可以访问本类的任意成员！</a:t>
            </a:r>
          </a:p>
        </p:txBody>
      </p:sp>
      <p:sp>
        <p:nvSpPr>
          <p:cNvPr id="8" name="矩形 7"/>
          <p:cNvSpPr/>
          <p:nvPr/>
        </p:nvSpPr>
        <p:spPr>
          <a:xfrm>
            <a:off x="407368" y="309833"/>
            <a:ext cx="9001000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7030A0"/>
                </a:solidFill>
              </a:rPr>
              <a:t>成员</a:t>
            </a:r>
            <a:r>
              <a:rPr lang="zh-CN" altLang="zh-CN" sz="2800" dirty="0">
                <a:solidFill>
                  <a:srgbClr val="7030A0"/>
                </a:solidFill>
              </a:rPr>
              <a:t>函数的原型声明</a:t>
            </a:r>
            <a:r>
              <a:rPr lang="zh-CN" altLang="en-US" sz="2800" dirty="0">
                <a:solidFill>
                  <a:srgbClr val="7030A0"/>
                </a:solidFill>
              </a:rPr>
              <a:t>和函数的实现写在类主体内</a:t>
            </a:r>
          </a:p>
        </p:txBody>
      </p:sp>
    </p:spTree>
    <p:extLst>
      <p:ext uri="{BB962C8B-B14F-4D97-AF65-F5344CB8AC3E}">
        <p14:creationId xmlns:p14="http://schemas.microsoft.com/office/powerpoint/2010/main" val="138718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8153400" cy="4629150"/>
          </a:xfrm>
        </p:spPr>
        <p:txBody>
          <a:bodyPr/>
          <a:lstStyle/>
          <a:p>
            <a:pPr marL="0" indent="0" algn="just"/>
            <a:r>
              <a:rPr lang="zh-CN" altLang="en-US" dirty="0"/>
              <a:t>定义对象称为类的实例化 （模具－铸件）</a:t>
            </a:r>
          </a:p>
          <a:p>
            <a:pPr marL="0" indent="0" algn="just"/>
            <a:r>
              <a:rPr lang="en-US" altLang="zh-CN" dirty="0"/>
              <a:t>Example:  </a:t>
            </a:r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Rectangle     box;</a:t>
            </a:r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box.setData</a:t>
            </a:r>
            <a:r>
              <a:rPr lang="en-US" altLang="zh-CN" dirty="0"/>
              <a:t>(10.0, 12.5);</a:t>
            </a:r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</a:t>
            </a:r>
            <a:r>
              <a:rPr lang="en-US" altLang="zh-CN" dirty="0" err="1"/>
              <a:t>box.getWidth</a:t>
            </a:r>
            <a:r>
              <a:rPr lang="en-US" altLang="zh-CN" dirty="0"/>
              <a:t>( );</a:t>
            </a:r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Rectangle    *</a:t>
            </a:r>
            <a:r>
              <a:rPr lang="en-US" altLang="zh-CN" dirty="0" err="1">
                <a:solidFill>
                  <a:srgbClr val="FF0000"/>
                </a:solidFill>
              </a:rPr>
              <a:t>boxPtr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boxPtr</a:t>
            </a:r>
            <a:r>
              <a:rPr lang="en-US" altLang="zh-CN" dirty="0"/>
              <a:t> = &amp;box;</a:t>
            </a:r>
          </a:p>
          <a:p>
            <a:pPr marL="0" indent="0" algn="just">
              <a:buNone/>
            </a:pPr>
            <a:r>
              <a:rPr lang="en-US" altLang="zh-CN" dirty="0"/>
              <a:t>	</a:t>
            </a:r>
            <a:r>
              <a:rPr lang="en-US" altLang="zh-CN" dirty="0" err="1">
                <a:solidFill>
                  <a:srgbClr val="7030A0"/>
                </a:solidFill>
              </a:rPr>
              <a:t>boxPtr</a:t>
            </a:r>
            <a:r>
              <a:rPr lang="en-US" altLang="zh-CN" dirty="0">
                <a:solidFill>
                  <a:srgbClr val="7030A0"/>
                </a:solidFill>
              </a:rPr>
              <a:t>-&gt;</a:t>
            </a:r>
            <a:r>
              <a:rPr lang="en-US" altLang="zh-CN" dirty="0" err="1"/>
              <a:t>setData</a:t>
            </a:r>
            <a:r>
              <a:rPr lang="en-US" altLang="zh-CN" dirty="0"/>
              <a:t>(15, 12);</a:t>
            </a:r>
          </a:p>
        </p:txBody>
      </p:sp>
      <p:sp>
        <p:nvSpPr>
          <p:cNvPr id="1945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FCB5313-EB95-405D-AF54-38DF5584AC6D}" type="slidenum">
              <a:rPr lang="zh-CN" altLang="en-US"/>
              <a:t>13</a:t>
            </a:fld>
            <a:endParaRPr lang="zh-CN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476672"/>
            <a:ext cx="10363200" cy="1143000"/>
          </a:xfrm>
        </p:spPr>
        <p:txBody>
          <a:bodyPr/>
          <a:lstStyle/>
          <a:p>
            <a:r>
              <a:rPr lang="en-US" altLang="zh-CN" dirty="0"/>
              <a:t>9.2.3   </a:t>
            </a:r>
            <a:r>
              <a:rPr lang="zh-CN" altLang="en-US" dirty="0"/>
              <a:t>定义对象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14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825625"/>
            <a:ext cx="7560533" cy="3841871"/>
          </a:xfrm>
          <a:prstGeom prst="rect">
            <a:avLst/>
          </a:prstGeom>
          <a:ln>
            <a:solidFill>
              <a:schemeClr val="accent1"/>
            </a:solidFill>
          </a:ln>
          <a:effectLst>
            <a:softEdge rad="0"/>
          </a:effec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76300" y="476672"/>
            <a:ext cx="1036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9.2.3   </a:t>
            </a:r>
            <a:r>
              <a:rPr lang="zh-CN" altLang="en-US" b="0" dirty="0"/>
              <a:t>定义对象</a:t>
            </a:r>
          </a:p>
        </p:txBody>
      </p:sp>
      <p:sp>
        <p:nvSpPr>
          <p:cNvPr id="6" name="矩形 5"/>
          <p:cNvSpPr/>
          <p:nvPr/>
        </p:nvSpPr>
        <p:spPr>
          <a:xfrm>
            <a:off x="8040216" y="1638856"/>
            <a:ext cx="3480048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setName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show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327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>
            <a:spLocks noChangeArrowheads="1"/>
          </p:cNvSpPr>
          <p:nvPr/>
        </p:nvSpPr>
        <p:spPr bwMode="auto">
          <a:xfrm>
            <a:off x="7176120" y="228600"/>
            <a:ext cx="4943872" cy="6492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// Program 8-1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length;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area;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 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 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15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0" y="538784"/>
            <a:ext cx="7128792" cy="5643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main( )</a:t>
            </a:r>
          </a:p>
          <a:p>
            <a:pPr fontAlgn="t"/>
            <a:r>
              <a:rPr lang="en-US" altLang="zh-CN" sz="2800" dirty="0">
                <a:solidFill>
                  <a:srgbClr val="7030A0"/>
                </a:solidFill>
              </a:rPr>
              <a:t>{     Rectangle    box;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float   wide, </a:t>
            </a:r>
            <a:r>
              <a:rPr lang="en-US" altLang="zh-CN" sz="2800" dirty="0" err="1">
                <a:solidFill>
                  <a:schemeClr val="tx1"/>
                </a:solidFill>
              </a:rPr>
              <a:t>boxLong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fontAlgn="t"/>
            <a:endParaRPr lang="en-US" altLang="zh-CN" sz="28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&lt;&lt; " </a:t>
            </a:r>
            <a:r>
              <a:rPr lang="zh-CN" altLang="en-US" sz="2800" dirty="0">
                <a:solidFill>
                  <a:schemeClr val="tx1"/>
                </a:solidFill>
              </a:rPr>
              <a:t>请输入长和宽 </a:t>
            </a:r>
            <a:r>
              <a:rPr lang="en-US" altLang="zh-CN" sz="2800" dirty="0">
                <a:solidFill>
                  <a:schemeClr val="tx1"/>
                </a:solidFill>
              </a:rPr>
              <a:t>? ";    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cin</a:t>
            </a:r>
            <a:r>
              <a:rPr lang="en-US" altLang="zh-CN" sz="2800" dirty="0">
                <a:solidFill>
                  <a:schemeClr val="tx1"/>
                </a:solidFill>
              </a:rPr>
              <a:t> &gt;&gt; wide&gt;&gt; </a:t>
            </a:r>
            <a:r>
              <a:rPr lang="en-US" altLang="zh-CN" sz="2800" dirty="0" err="1">
                <a:solidFill>
                  <a:schemeClr val="tx1"/>
                </a:solidFill>
              </a:rPr>
              <a:t>boxLong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box.setData</a:t>
            </a:r>
            <a:r>
              <a:rPr lang="en-US" altLang="zh-CN" sz="2800" dirty="0">
                <a:solidFill>
                  <a:schemeClr val="tx1"/>
                </a:solidFill>
              </a:rPr>
              <a:t>(wide, </a:t>
            </a:r>
            <a:r>
              <a:rPr lang="en-US" altLang="zh-CN" sz="2800" dirty="0" err="1">
                <a:solidFill>
                  <a:schemeClr val="tx1"/>
                </a:solidFill>
              </a:rPr>
              <a:t>boxLong</a:t>
            </a:r>
            <a:r>
              <a:rPr lang="en-US" altLang="zh-CN" sz="2800" dirty="0">
                <a:solidFill>
                  <a:schemeClr val="tx1"/>
                </a:solidFill>
              </a:rPr>
              <a:t>);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box.calcArea</a:t>
            </a:r>
            <a:r>
              <a:rPr lang="en-US" altLang="zh-CN" sz="28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&lt;&lt; "</a:t>
            </a:r>
            <a:r>
              <a:rPr lang="zh-CN" altLang="en-US" sz="2800" dirty="0">
                <a:solidFill>
                  <a:schemeClr val="tx1"/>
                </a:solidFill>
              </a:rPr>
              <a:t>矩形的数据</a:t>
            </a:r>
            <a:r>
              <a:rPr lang="en-US" altLang="zh-CN" sz="2800" dirty="0">
                <a:solidFill>
                  <a:schemeClr val="tx1"/>
                </a:solidFill>
              </a:rPr>
              <a:t>:\n";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&lt;&lt; "</a:t>
            </a:r>
            <a:r>
              <a:rPr lang="zh-CN" altLang="en-US" sz="2800" dirty="0">
                <a:solidFill>
                  <a:schemeClr val="tx1"/>
                </a:solidFill>
              </a:rPr>
              <a:t>宽</a:t>
            </a:r>
            <a:r>
              <a:rPr lang="en-US" altLang="zh-CN" sz="2800" dirty="0">
                <a:solidFill>
                  <a:schemeClr val="tx1"/>
                </a:solidFill>
              </a:rPr>
              <a:t>: "&lt;&lt; </a:t>
            </a:r>
            <a:r>
              <a:rPr lang="en-US" altLang="zh-CN" sz="2800" dirty="0" err="1">
                <a:solidFill>
                  <a:schemeClr val="tx1"/>
                </a:solidFill>
              </a:rPr>
              <a:t>box.getWidth</a:t>
            </a:r>
            <a:r>
              <a:rPr lang="en-US" altLang="zh-CN" sz="2800" dirty="0">
                <a:solidFill>
                  <a:schemeClr val="tx1"/>
                </a:solidFill>
              </a:rPr>
              <a:t>( ) &lt;&lt; 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&lt;&lt; "</a:t>
            </a:r>
            <a:r>
              <a:rPr lang="zh-CN" altLang="en-US" sz="2800" dirty="0">
                <a:solidFill>
                  <a:schemeClr val="tx1"/>
                </a:solidFill>
              </a:rPr>
              <a:t>长</a:t>
            </a:r>
            <a:r>
              <a:rPr lang="en-US" altLang="zh-CN" sz="2800" dirty="0">
                <a:solidFill>
                  <a:schemeClr val="tx1"/>
                </a:solidFill>
              </a:rPr>
              <a:t>: "&lt;&lt; </a:t>
            </a:r>
            <a:r>
              <a:rPr lang="en-US" altLang="zh-CN" sz="2800" dirty="0" err="1">
                <a:solidFill>
                  <a:schemeClr val="tx1"/>
                </a:solidFill>
              </a:rPr>
              <a:t>box.getLength</a:t>
            </a:r>
            <a:r>
              <a:rPr lang="en-US" altLang="zh-CN" sz="2800" dirty="0">
                <a:solidFill>
                  <a:schemeClr val="tx1"/>
                </a:solidFill>
              </a:rPr>
              <a:t>( )&lt;&lt;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&lt;&lt; "</a:t>
            </a:r>
            <a:r>
              <a:rPr lang="zh-CN" altLang="en-US" sz="2800" dirty="0">
                <a:solidFill>
                  <a:schemeClr val="tx1"/>
                </a:solidFill>
              </a:rPr>
              <a:t>面积</a:t>
            </a:r>
            <a:r>
              <a:rPr lang="en-US" altLang="zh-CN" sz="2800" dirty="0">
                <a:solidFill>
                  <a:schemeClr val="tx1"/>
                </a:solidFill>
              </a:rPr>
              <a:t>: "&lt;&lt; </a:t>
            </a:r>
            <a:r>
              <a:rPr lang="en-US" altLang="zh-CN" sz="2800" dirty="0" err="1">
                <a:solidFill>
                  <a:schemeClr val="tx1"/>
                </a:solidFill>
              </a:rPr>
              <a:t>box.getArea</a:t>
            </a:r>
            <a:r>
              <a:rPr lang="en-US" altLang="zh-CN" sz="2800" dirty="0">
                <a:solidFill>
                  <a:schemeClr val="tx1"/>
                </a:solidFill>
              </a:rPr>
              <a:t>( )&lt;&lt;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5015880" y="6182347"/>
            <a:ext cx="15843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fontAlgn="t"/>
            <a:r>
              <a:rPr lang="en-US" altLang="zh-CN" sz="2200">
                <a:solidFill>
                  <a:schemeClr val="tx1"/>
                </a:solidFill>
              </a:rPr>
              <a:t>8-1.cpp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2"/>
          <p:cNvSpPr txBox="1">
            <a:spLocks noChangeArrowheads="1"/>
          </p:cNvSpPr>
          <p:nvPr/>
        </p:nvSpPr>
        <p:spPr bwMode="auto">
          <a:xfrm>
            <a:off x="7104112" y="251460"/>
            <a:ext cx="4896544" cy="62404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返回私有成员变量</a:t>
            </a:r>
            <a:r>
              <a:rPr lang="en-US" altLang="zh-CN" sz="2800" dirty="0">
                <a:solidFill>
                  <a:schemeClr val="tx1"/>
                </a:solidFill>
              </a:rPr>
              <a:t>width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getWidth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	return width;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返回私有成员变量 </a:t>
            </a:r>
            <a:r>
              <a:rPr lang="en-US" altLang="zh-CN" sz="2800" dirty="0">
                <a:solidFill>
                  <a:schemeClr val="tx1"/>
                </a:solidFill>
              </a:rPr>
              <a:t>length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getLength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return length;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>
              <a:lnSpc>
                <a:spcPct val="90000"/>
              </a:lnSpc>
              <a:spcBef>
                <a:spcPct val="40000"/>
              </a:spcBef>
            </a:pPr>
            <a:r>
              <a:rPr lang="en-US" altLang="zh-CN" sz="2800" dirty="0">
                <a:solidFill>
                  <a:schemeClr val="tx1"/>
                </a:solidFill>
              </a:rPr>
              <a:t>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返回私有成员变量 </a:t>
            </a:r>
            <a:r>
              <a:rPr lang="en-US" altLang="zh-CN" sz="2800" dirty="0">
                <a:solidFill>
                  <a:schemeClr val="tx1"/>
                </a:solidFill>
              </a:rPr>
              <a:t>area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getArea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return area;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16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63352" y="976947"/>
            <a:ext cx="6512271" cy="478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参数值传递给私有成员变量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setData</a:t>
            </a:r>
            <a:r>
              <a:rPr lang="en-US" altLang="zh-CN" sz="2800" dirty="0">
                <a:solidFill>
                  <a:schemeClr val="tx1"/>
                </a:solidFill>
              </a:rPr>
              <a:t>( float  w, float  l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     	width = w;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length = 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/>
            <a:endParaRPr lang="en-US" altLang="zh-CN" sz="28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计算面积 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calcArea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area = width * length;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8305800" cy="4114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OOP</a:t>
            </a:r>
            <a:r>
              <a:rPr lang="zh-CN" altLang="en-US" dirty="0"/>
              <a:t>程序设计中，对象保护重要的数据不被破坏是一件很重要的事情，它是通过将关键数据声明为私有成员；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当一个成员变量被定义为私有时，</a:t>
            </a:r>
            <a:r>
              <a:rPr lang="zh-CN" altLang="en-US" dirty="0">
                <a:solidFill>
                  <a:srgbClr val="FF0000"/>
                </a:solidFill>
              </a:rPr>
              <a:t>唯一</a:t>
            </a:r>
            <a:r>
              <a:rPr lang="zh-CN" altLang="en-US" dirty="0"/>
              <a:t>对它的访问途径就是通过公有的成员函数。</a:t>
            </a:r>
          </a:p>
        </p:txBody>
      </p:sp>
      <p:sp>
        <p:nvSpPr>
          <p:cNvPr id="2457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A2E5F8A-91BE-4972-936B-DB235352F5A4}" type="slidenum">
              <a:rPr lang="zh-CN" altLang="en-US"/>
              <a:t>17</a:t>
            </a:fld>
            <a:endParaRPr lang="zh-CN" alt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9376" y="476672"/>
            <a:ext cx="10363200" cy="11430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引入私有成员的原因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67408" y="1786732"/>
            <a:ext cx="10699750" cy="4114800"/>
          </a:xfrm>
        </p:spPr>
        <p:txBody>
          <a:bodyPr/>
          <a:lstStyle/>
          <a:p>
            <a:pPr algn="just"/>
            <a:r>
              <a:rPr lang="zh-CN" altLang="zh-CN" dirty="0"/>
              <a:t>专门用于内部处理的函数，它们在类的外部不能使用，这些函数为私有的。</a:t>
            </a:r>
            <a:endParaRPr lang="zh-CN" altLang="en-US" dirty="0"/>
          </a:p>
          <a:p>
            <a:pPr algn="just"/>
            <a:r>
              <a:rPr lang="zh-CN" altLang="zh-CN" dirty="0"/>
              <a:t>私有函数可以被同一个类中的其它函数调用。</a:t>
            </a:r>
            <a:r>
              <a:rPr lang="en-US" altLang="zh-CN" dirty="0"/>
              <a:t>Example: </a:t>
            </a:r>
          </a:p>
        </p:txBody>
      </p:sp>
      <p:sp>
        <p:nvSpPr>
          <p:cNvPr id="3072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B02CE7B-6D2B-42AC-9A3B-E99D5456AAD4}" type="slidenum">
              <a:rPr lang="zh-CN" altLang="en-US"/>
              <a:t>18</a:t>
            </a:fld>
            <a:endParaRPr lang="zh-CN" alt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54050" y="643732"/>
            <a:ext cx="10363200" cy="1143000"/>
          </a:xfrm>
        </p:spPr>
        <p:txBody>
          <a:bodyPr/>
          <a:lstStyle/>
          <a:p>
            <a:r>
              <a:rPr lang="en-US" altLang="zh-CN" dirty="0"/>
              <a:t>9.2.4  </a:t>
            </a:r>
            <a:r>
              <a:rPr lang="zh-CN" altLang="en-US" dirty="0"/>
              <a:t>私有函数成员的作用 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0" y="3178175"/>
            <a:ext cx="5045645" cy="3543300"/>
          </a:xfrm>
          <a:prstGeom prst="rect">
            <a:avLst/>
          </a:prstGeom>
          <a:noFill/>
          <a:ln w="34925" cap="rnd">
            <a:solidFill>
              <a:schemeClr val="tx1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class Rectangle 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private: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	float   width, length , area;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	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void</a:t>
            </a:r>
            <a:r>
              <a:rPr lang="en-US" altLang="zh-CN" sz="2800" dirty="0">
                <a:solidFill>
                  <a:schemeClr val="tx1"/>
                </a:solidFill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calcArea( );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…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7132" y="3182045"/>
            <a:ext cx="6810995" cy="353943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  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setData</a:t>
            </a:r>
            <a:r>
              <a:rPr lang="en-US" altLang="zh-CN" sz="2800" dirty="0">
                <a:solidFill>
                  <a:schemeClr val="tx1"/>
                </a:solidFill>
              </a:rPr>
              <a:t>(float  w, float  l)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width = w;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length = 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rgbClr val="FF0000"/>
                </a:solidFill>
              </a:rPr>
              <a:t>calcArea</a:t>
            </a:r>
            <a:r>
              <a:rPr lang="en-US" altLang="zh-CN" sz="2800" dirty="0">
                <a:solidFill>
                  <a:srgbClr val="FF0000"/>
                </a:solidFill>
              </a:rPr>
              <a:t>( );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…</a:t>
            </a:r>
          </a:p>
          <a:p>
            <a:pPr fontAlgn="t"/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752600"/>
            <a:ext cx="8686800" cy="4114800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/>
              <a:t>程序的组织方式</a:t>
            </a:r>
            <a:r>
              <a:rPr lang="en-US" altLang="zh-CN" dirty="0"/>
              <a:t>: 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Symbol" panose="05050102010706020507" pitchFamily="18" charset="2"/>
              <a:buChar char="¨"/>
            </a:pPr>
            <a:r>
              <a:rPr lang="zh-CN" altLang="en-US" dirty="0"/>
              <a:t>类的定义存储在头文件里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类定义文件</a:t>
            </a:r>
            <a:r>
              <a:rPr lang="en-US" altLang="zh-CN" dirty="0"/>
              <a:t>). 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Symbol" panose="05050102010706020507" pitchFamily="18" charset="2"/>
              <a:buChar char="¨"/>
            </a:pPr>
            <a:r>
              <a:rPr lang="zh-CN" altLang="en-US" dirty="0"/>
              <a:t>成员函数定义存储在 </a:t>
            </a:r>
            <a:r>
              <a:rPr lang="en-US" altLang="zh-CN" dirty="0"/>
              <a:t>.cpp</a:t>
            </a:r>
            <a:r>
              <a:rPr lang="zh-CN" altLang="en-US" dirty="0"/>
              <a:t>文件 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类的实现文件</a:t>
            </a:r>
            <a:r>
              <a:rPr lang="en-US" altLang="zh-CN" dirty="0"/>
              <a:t>) . 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Symbol" panose="05050102010706020507" pitchFamily="18" charset="2"/>
              <a:buChar char="¨"/>
            </a:pPr>
            <a:r>
              <a:rPr lang="zh-CN" altLang="en-US" dirty="0">
                <a:solidFill>
                  <a:srgbClr val="FF0000"/>
                </a:solidFill>
              </a:rPr>
              <a:t>应用程序通过</a:t>
            </a:r>
            <a:r>
              <a:rPr lang="en-US" altLang="zh-CN" dirty="0">
                <a:solidFill>
                  <a:srgbClr val="FF0000"/>
                </a:solidFill>
              </a:rPr>
              <a:t>#include</a:t>
            </a:r>
            <a:r>
              <a:rPr lang="zh-CN" altLang="en-US" dirty="0">
                <a:solidFill>
                  <a:srgbClr val="FF0000"/>
                </a:solidFill>
              </a:rPr>
              <a:t>包含头文件</a:t>
            </a:r>
            <a:r>
              <a:rPr lang="zh-CN" altLang="en-US" dirty="0"/>
              <a:t>。通过创建工程，将类的实现文件和主程序进行联编，从而生成一个完整的程序。</a:t>
            </a:r>
          </a:p>
        </p:txBody>
      </p:sp>
      <p:sp>
        <p:nvSpPr>
          <p:cNvPr id="256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D5B0373-C0D7-4CD7-8878-8FE8F6947F18}" type="slidenum">
              <a:rPr lang="zh-CN" altLang="en-US"/>
              <a:t>19</a:t>
            </a:fld>
            <a:endParaRPr lang="zh-CN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79160"/>
            <a:ext cx="10363200" cy="1143000"/>
          </a:xfrm>
        </p:spPr>
        <p:txBody>
          <a:bodyPr/>
          <a:lstStyle/>
          <a:p>
            <a:r>
              <a:rPr lang="en-US" altLang="zh-CN" dirty="0"/>
              <a:t>9.3 </a:t>
            </a:r>
            <a:r>
              <a:rPr lang="zh-CN" altLang="en-US" dirty="0"/>
              <a:t>类的多文件组织 </a:t>
            </a:r>
          </a:p>
        </p:txBody>
      </p:sp>
    </p:spTree>
    <p:extLst>
      <p:ext uri="{BB962C8B-B14F-4D97-AF65-F5344CB8AC3E}">
        <p14:creationId xmlns:p14="http://schemas.microsoft.com/office/powerpoint/2010/main" val="300738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2"/>
          <p:cNvSpPr txBox="1">
            <a:spLocks noChangeArrowheads="1"/>
          </p:cNvSpPr>
          <p:nvPr/>
        </p:nvSpPr>
        <p:spPr bwMode="auto">
          <a:xfrm>
            <a:off x="1736725" y="320676"/>
            <a:ext cx="7239000" cy="649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	// Contents of </a:t>
            </a:r>
            <a:r>
              <a:rPr lang="en-US" altLang="zh-CN" sz="3000" dirty="0" err="1">
                <a:solidFill>
                  <a:schemeClr val="tx1"/>
                </a:solidFill>
              </a:rPr>
              <a:t>Rectang.h</a:t>
            </a:r>
            <a:endParaRPr lang="en-US" altLang="zh-CN" sz="30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3000" dirty="0">
                <a:solidFill>
                  <a:srgbClr val="FF0000"/>
                </a:solidFill>
              </a:rPr>
              <a:t>#</a:t>
            </a:r>
            <a:r>
              <a:rPr lang="en-US" altLang="zh-CN" sz="3000" dirty="0" err="1">
                <a:solidFill>
                  <a:srgbClr val="FF0000"/>
                </a:solidFill>
              </a:rPr>
              <a:t>ifndef</a:t>
            </a:r>
            <a:r>
              <a:rPr lang="en-US" altLang="zh-CN" sz="3000" dirty="0">
                <a:solidFill>
                  <a:srgbClr val="FF0000"/>
                </a:solidFill>
              </a:rPr>
              <a:t>  RECTANGLE_H</a:t>
            </a:r>
          </a:p>
          <a:p>
            <a:pPr fontAlgn="t"/>
            <a:r>
              <a:rPr lang="en-US" altLang="zh-CN" sz="3000" dirty="0">
                <a:solidFill>
                  <a:srgbClr val="FF0000"/>
                </a:solidFill>
              </a:rPr>
              <a:t>#define  RECTANGLE_H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   class 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   {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		float 	width,  length , area;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	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		void 	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		void 	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		float 	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		float 	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		float 	</a:t>
            </a:r>
            <a:r>
              <a:rPr lang="en-US" altLang="zh-CN" sz="3000" dirty="0" err="1">
                <a:solidFill>
                  <a:schemeClr val="tx1"/>
                </a:solidFill>
              </a:rPr>
              <a:t>getArea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	};</a:t>
            </a:r>
          </a:p>
          <a:p>
            <a:pPr fontAlgn="t"/>
            <a:r>
              <a:rPr lang="en-US" altLang="zh-CN" sz="3000" dirty="0">
                <a:solidFill>
                  <a:srgbClr val="FF0000"/>
                </a:solidFill>
              </a:rPr>
              <a:t>#</a:t>
            </a:r>
            <a:r>
              <a:rPr lang="en-US" altLang="zh-CN" sz="3000" dirty="0" err="1">
                <a:solidFill>
                  <a:srgbClr val="FF0000"/>
                </a:solidFill>
              </a:rPr>
              <a:t>endif</a:t>
            </a:r>
            <a:endParaRPr lang="en-US" altLang="zh-CN" sz="3000" dirty="0">
              <a:solidFill>
                <a:srgbClr val="FF0000"/>
              </a:solidFill>
            </a:endParaRPr>
          </a:p>
        </p:txBody>
      </p:sp>
      <p:sp>
        <p:nvSpPr>
          <p:cNvPr id="79875" name="AutoShape 3"/>
          <p:cNvSpPr/>
          <p:nvPr/>
        </p:nvSpPr>
        <p:spPr bwMode="auto">
          <a:xfrm>
            <a:off x="7924801" y="904875"/>
            <a:ext cx="411163" cy="5791200"/>
          </a:xfrm>
          <a:prstGeom prst="rightBrace">
            <a:avLst>
              <a:gd name="adj1" fmla="val 117309"/>
              <a:gd name="adj2" fmla="val 50000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t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8401050" y="3511551"/>
            <a:ext cx="21780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zh-CN" altLang="en-US" sz="3000">
                <a:solidFill>
                  <a:srgbClr val="FF0000"/>
                </a:solidFill>
              </a:rPr>
              <a:t>第一个文件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20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61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2"/>
          <p:cNvSpPr txBox="1">
            <a:spLocks noChangeArrowheads="1"/>
          </p:cNvSpPr>
          <p:nvPr/>
        </p:nvSpPr>
        <p:spPr bwMode="auto">
          <a:xfrm>
            <a:off x="1914525" y="260350"/>
            <a:ext cx="8610600" cy="649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Contents of rectang.cpp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#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include</a:t>
            </a:r>
            <a:r>
              <a:rPr lang="en-US" altLang="zh-CN" sz="2800" dirty="0">
                <a:solidFill>
                  <a:schemeClr val="tx1"/>
                </a:solidFill>
              </a:rPr>
              <a:t> "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Rectang.h</a:t>
            </a:r>
            <a:r>
              <a:rPr lang="en-US" altLang="zh-CN" sz="2800" dirty="0">
                <a:solidFill>
                  <a:schemeClr val="tx1"/>
                </a:solidFill>
              </a:rPr>
              <a:t>"</a:t>
            </a:r>
          </a:p>
          <a:p>
            <a:pPr fontAlgn="t"/>
            <a:endParaRPr lang="en-US" altLang="zh-CN" sz="2800" dirty="0">
              <a:solidFill>
                <a:schemeClr val="tx1"/>
              </a:solidFill>
            </a:endParaRP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把参数传递给私有成员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Rectangle::setData(float w, float l)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width = w;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length = 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计算面积 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Rectangle::calcArea(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	area = width * length;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0899" name="AutoShape 3"/>
          <p:cNvSpPr>
            <a:spLocks noChangeArrowheads="1"/>
          </p:cNvSpPr>
          <p:nvPr/>
        </p:nvSpPr>
        <p:spPr bwMode="auto">
          <a:xfrm>
            <a:off x="7772400" y="1341438"/>
            <a:ext cx="2895600" cy="1143000"/>
          </a:xfrm>
          <a:prstGeom prst="cloudCallout">
            <a:avLst>
              <a:gd name="adj1" fmla="val -130097"/>
              <a:gd name="adj2" fmla="val -48333"/>
            </a:avLst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fontAlgn="t"/>
            <a:r>
              <a:rPr lang="zh-CN" altLang="en-US">
                <a:solidFill>
                  <a:schemeClr val="tx1"/>
                </a:solidFill>
              </a:rPr>
              <a:t>为什么需要这行</a:t>
            </a:r>
            <a:r>
              <a:rPr lang="en-US" altLang="zh-CN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21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50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2"/>
          <p:cNvSpPr txBox="1">
            <a:spLocks noChangeArrowheads="1"/>
          </p:cNvSpPr>
          <p:nvPr/>
        </p:nvSpPr>
        <p:spPr bwMode="auto">
          <a:xfrm>
            <a:off x="3182937" y="460667"/>
            <a:ext cx="5427663" cy="606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返回私有成员：</a:t>
            </a:r>
            <a:r>
              <a:rPr lang="en-US" altLang="zh-CN" sz="2800" dirty="0">
                <a:solidFill>
                  <a:schemeClr val="tx1"/>
                </a:solidFill>
              </a:rPr>
              <a:t>width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getWidth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	return width;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返回私有成员： </a:t>
            </a:r>
            <a:r>
              <a:rPr lang="en-US" altLang="zh-CN" sz="2800" dirty="0">
                <a:solidFill>
                  <a:schemeClr val="tx1"/>
                </a:solidFill>
              </a:rPr>
              <a:t>length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getLength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return length;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返回私有成员：</a:t>
            </a:r>
            <a:r>
              <a:rPr lang="en-US" altLang="zh-CN" sz="2800" dirty="0">
                <a:solidFill>
                  <a:schemeClr val="tx1"/>
                </a:solidFill>
              </a:rPr>
              <a:t>area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float Rectangle::</a:t>
            </a:r>
            <a:r>
              <a:rPr lang="en-US" altLang="zh-CN" sz="2800" dirty="0" err="1">
                <a:solidFill>
                  <a:schemeClr val="tx1"/>
                </a:solidFill>
              </a:rPr>
              <a:t>getArea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return area;</a:t>
            </a:r>
          </a:p>
          <a:p>
            <a:pPr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22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368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2"/>
          <p:cNvSpPr txBox="1">
            <a:spLocks noChangeArrowheads="1"/>
          </p:cNvSpPr>
          <p:nvPr/>
        </p:nvSpPr>
        <p:spPr bwMode="auto">
          <a:xfrm>
            <a:off x="2424114" y="333376"/>
            <a:ext cx="8091487" cy="585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	//</a:t>
            </a:r>
            <a:r>
              <a:rPr lang="zh-CN" altLang="en-US" sz="2800" dirty="0">
                <a:solidFill>
                  <a:schemeClr val="tx1"/>
                </a:solidFill>
              </a:rPr>
              <a:t>主程序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#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include</a:t>
            </a:r>
            <a:r>
              <a:rPr lang="en-US" altLang="zh-CN" sz="2800" dirty="0">
                <a:solidFill>
                  <a:schemeClr val="tx1"/>
                </a:solidFill>
              </a:rPr>
              <a:t> "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Rectang.h</a:t>
            </a:r>
            <a:r>
              <a:rPr lang="en-US" altLang="zh-CN" sz="2800" dirty="0">
                <a:solidFill>
                  <a:schemeClr val="tx1"/>
                </a:solidFill>
              </a:rPr>
              <a:t>"  	</a:t>
            </a:r>
            <a:r>
              <a:rPr lang="en-US" altLang="zh-CN" sz="280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lang="zh-CN" altLang="en-US" sz="2800" dirty="0">
                <a:solidFill>
                  <a:srgbClr val="FF0000"/>
                </a:solidFill>
                <a:latin typeface="+mn-lt"/>
                <a:ea typeface="+mn-ea"/>
              </a:rPr>
              <a:t>不能省略这一行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void main( )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{     </a:t>
            </a:r>
            <a:r>
              <a:rPr lang="en-US" altLang="zh-CN" sz="2800" dirty="0">
                <a:solidFill>
                  <a:srgbClr val="0070C0"/>
                </a:solidFill>
              </a:rPr>
              <a:t>Rectangle    box;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float   wide, boxLong;</a:t>
            </a:r>
          </a:p>
          <a:p>
            <a:pPr fontAlgn="t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</a:rPr>
              <a:t>      cout &lt;&lt; " </a:t>
            </a:r>
            <a:r>
              <a:rPr lang="zh-CN" altLang="en-US" sz="2800" dirty="0">
                <a:solidFill>
                  <a:schemeClr val="tx1"/>
                </a:solidFill>
              </a:rPr>
              <a:t>输入长和宽 </a:t>
            </a:r>
            <a:r>
              <a:rPr lang="en-US" altLang="zh-CN" sz="2800" dirty="0">
                <a:solidFill>
                  <a:schemeClr val="tx1"/>
                </a:solidFill>
              </a:rPr>
              <a:t>? ";    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cin &gt;&gt; wide&gt;&gt; boxLong;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box.setData(wide, boxLong);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box.calcArea( );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cout &lt;&lt; "</a:t>
            </a:r>
            <a:r>
              <a:rPr lang="zh-CN" altLang="en-US" sz="2800" dirty="0">
                <a:solidFill>
                  <a:schemeClr val="tx1"/>
                </a:solidFill>
              </a:rPr>
              <a:t>长</a:t>
            </a:r>
            <a:r>
              <a:rPr lang="en-US" altLang="zh-CN" sz="2800" dirty="0">
                <a:solidFill>
                  <a:schemeClr val="tx1"/>
                </a:solidFill>
              </a:rPr>
              <a:t>: "&lt;&lt; box.getLength( )&lt;&lt;endl;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cout &lt;&lt; "</a:t>
            </a:r>
            <a:r>
              <a:rPr lang="zh-CN" altLang="en-US" sz="2800" dirty="0">
                <a:solidFill>
                  <a:schemeClr val="tx1"/>
                </a:solidFill>
              </a:rPr>
              <a:t>宽</a:t>
            </a:r>
            <a:r>
              <a:rPr lang="en-US" altLang="zh-CN" sz="2800" dirty="0">
                <a:solidFill>
                  <a:schemeClr val="tx1"/>
                </a:solidFill>
              </a:rPr>
              <a:t>: "&lt;&lt; box.getWidth( ) &lt;&lt; endl;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      cout &lt;&lt; "</a:t>
            </a:r>
            <a:r>
              <a:rPr lang="zh-CN" altLang="en-US" sz="2800" dirty="0">
                <a:solidFill>
                  <a:schemeClr val="tx1"/>
                </a:solidFill>
              </a:rPr>
              <a:t>面积</a:t>
            </a:r>
            <a:r>
              <a:rPr lang="en-US" altLang="zh-CN" sz="2800" dirty="0">
                <a:solidFill>
                  <a:schemeClr val="tx1"/>
                </a:solidFill>
              </a:rPr>
              <a:t>: "&lt;&lt; box.getArea( )&lt;&lt;endl;</a:t>
            </a:r>
          </a:p>
          <a:p>
            <a:pPr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9698" name="AutoShape 3"/>
          <p:cNvSpPr>
            <a:spLocks noChangeArrowheads="1"/>
          </p:cNvSpPr>
          <p:nvPr/>
        </p:nvSpPr>
        <p:spPr bwMode="auto">
          <a:xfrm>
            <a:off x="4799014" y="6092825"/>
            <a:ext cx="540067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fontAlgn="t"/>
            <a:r>
              <a:rPr lang="en-US" altLang="zh-CN" sz="2200">
                <a:solidFill>
                  <a:schemeClr val="tx1"/>
                </a:solidFill>
              </a:rPr>
              <a:t>Rectangle.h     Rectangle.cpp      8-2.cpp  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23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052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398015B-1824-458D-87BC-3038E8EEF42B}" type="slidenum">
              <a:rPr lang="zh-CN" altLang="en-US"/>
              <a:t>24</a:t>
            </a:fld>
            <a:endParaRPr lang="zh-CN" alt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0913" y="620688"/>
            <a:ext cx="10363200" cy="1143000"/>
          </a:xfrm>
        </p:spPr>
        <p:txBody>
          <a:bodyPr/>
          <a:lstStyle/>
          <a:p>
            <a:r>
              <a:rPr lang="en-US" altLang="zh-CN" dirty="0"/>
              <a:t>9.4  </a:t>
            </a:r>
            <a:r>
              <a:rPr lang="zh-CN" altLang="en-US" dirty="0"/>
              <a:t>构造函数和析构函数 </a:t>
            </a:r>
          </a:p>
        </p:txBody>
      </p:sp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950913" y="1628776"/>
            <a:ext cx="932180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3855" indent="-363855" eaLnBrk="0" hangingPunct="0"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</a:rPr>
              <a:t>构造函数是一个函数成员，当定义类对象时，自动调用该函数对数据成员进行初始化。</a:t>
            </a:r>
          </a:p>
          <a:p>
            <a:pPr eaLnBrk="1" fontAlgn="t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2. </a:t>
            </a:r>
            <a:r>
              <a:rPr lang="zh-CN" altLang="en-US" sz="2800" dirty="0">
                <a:solidFill>
                  <a:schemeClr val="tx1"/>
                </a:solidFill>
              </a:rPr>
              <a:t>析构函数也是一个函数成员，当对象终止时将自动调用该函数进行“善后”处理。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/>
          <p:cNvSpPr txBox="1">
            <a:spLocks noChangeArrowheads="1"/>
          </p:cNvSpPr>
          <p:nvPr/>
        </p:nvSpPr>
        <p:spPr bwMode="auto">
          <a:xfrm>
            <a:off x="335360" y="753328"/>
            <a:ext cx="4943872" cy="609397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class Rectangle 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{private: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width;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length;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area;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public: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 </a:t>
            </a:r>
            <a:r>
              <a:rPr lang="en-US" altLang="zh-CN" sz="3000" dirty="0" err="1">
                <a:solidFill>
                  <a:schemeClr val="tx1"/>
                </a:solidFill>
              </a:rPr>
              <a:t>setData</a:t>
            </a:r>
            <a:r>
              <a:rPr lang="en-US" altLang="zh-CN" sz="3000" dirty="0">
                <a:solidFill>
                  <a:schemeClr val="tx1"/>
                </a:solidFill>
              </a:rPr>
              <a:t>(float, float);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void  </a:t>
            </a:r>
            <a:r>
              <a:rPr lang="en-US" altLang="zh-CN" sz="3000" dirty="0" err="1">
                <a:solidFill>
                  <a:schemeClr val="tx1"/>
                </a:solidFill>
              </a:rPr>
              <a:t>calcArea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getWidth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getLength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     float  </a:t>
            </a:r>
            <a:r>
              <a:rPr lang="en-US" altLang="zh-CN" sz="3000" dirty="0" err="1">
                <a:solidFill>
                  <a:schemeClr val="tx1"/>
                </a:solidFill>
              </a:rPr>
              <a:t>getArea</a:t>
            </a:r>
            <a:r>
              <a:rPr lang="en-US" altLang="zh-CN" sz="3000" dirty="0">
                <a:solidFill>
                  <a:schemeClr val="tx1"/>
                </a:solidFill>
              </a:rPr>
              <a:t>( );</a:t>
            </a:r>
          </a:p>
          <a:p>
            <a:pPr fontAlgn="t"/>
            <a:r>
              <a:rPr lang="en-US" altLang="zh-CN" sz="3000" dirty="0">
                <a:solidFill>
                  <a:srgbClr val="0070C0"/>
                </a:solidFill>
              </a:rPr>
              <a:t>     Rectangle()  { };</a:t>
            </a:r>
          </a:p>
          <a:p>
            <a:pPr fontAlgn="t"/>
            <a:r>
              <a:rPr lang="en-US" altLang="zh-CN" sz="3000" dirty="0">
                <a:solidFill>
                  <a:schemeClr val="tx1"/>
                </a:solidFill>
              </a:rPr>
              <a:t>}; 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744072" y="394692"/>
            <a:ext cx="4320480" cy="138499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fontAlgn="t"/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main( )</a:t>
            </a:r>
          </a:p>
          <a:p>
            <a:pPr fontAlgn="t"/>
            <a:r>
              <a:rPr lang="en-US" altLang="zh-CN" sz="2800" dirty="0">
                <a:solidFill>
                  <a:srgbClr val="7030A0"/>
                </a:solidFill>
              </a:rPr>
              <a:t>{     Rectangle    box;</a:t>
            </a:r>
          </a:p>
          <a:p>
            <a:pPr fontAlgn="t"/>
            <a:r>
              <a:rPr lang="en-US" altLang="zh-CN" sz="2800" dirty="0">
                <a:solidFill>
                  <a:srgbClr val="7030A0"/>
                </a:solidFill>
              </a:rPr>
              <a:t>       return 0;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447928" y="1779687"/>
            <a:ext cx="60486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chemeClr val="tx1"/>
                </a:solidFill>
                <a:latin typeface="隶书" pitchFamily="49" charset="-122"/>
              </a:rPr>
              <a:t>构造函数一定是</a:t>
            </a:r>
            <a:r>
              <a:rPr lang="zh-CN" altLang="en-US" b="1" dirty="0">
                <a:solidFill>
                  <a:srgbClr val="FF0000"/>
                </a:solidFill>
                <a:latin typeface="隶书" pitchFamily="49" charset="-122"/>
              </a:rPr>
              <a:t>公有函数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chemeClr val="tx1"/>
                </a:solidFill>
              </a:rPr>
              <a:t>构造函数与</a:t>
            </a:r>
            <a:r>
              <a:rPr lang="zh-CN" altLang="en-US" b="1" dirty="0">
                <a:solidFill>
                  <a:srgbClr val="FF0000"/>
                </a:solidFill>
              </a:rPr>
              <a:t>类同名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FF0000"/>
                </a:solidFill>
              </a:rPr>
              <a:t>无</a:t>
            </a:r>
            <a:r>
              <a:rPr lang="zh-CN" altLang="en-US" b="1" dirty="0">
                <a:solidFill>
                  <a:schemeClr val="tx1"/>
                </a:solidFill>
              </a:rPr>
              <a:t>返回值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/>
                </a:solidFill>
              </a:rPr>
              <a:t>构造函数不能被直接调用 ，必须在创建对象时由</a:t>
            </a:r>
            <a:r>
              <a:rPr lang="zh-CN" altLang="en-US" b="1" dirty="0">
                <a:solidFill>
                  <a:schemeClr val="tx1"/>
                </a:solidFill>
              </a:rPr>
              <a:t>编译器自动调用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/>
                </a:solidFill>
              </a:rPr>
              <a:t>定义一个类时，若用户未定义构造函数，编译器会提供一个默认的构造函数。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solidFill>
                  <a:schemeClr val="tx1"/>
                </a:solidFill>
              </a:rPr>
              <a:t>构造函数</a:t>
            </a:r>
            <a:r>
              <a:rPr lang="zh-CN" altLang="en-US" dirty="0">
                <a:solidFill>
                  <a:srgbClr val="FF0000"/>
                </a:solidFill>
              </a:rPr>
              <a:t>可以不带参数表，也可以带参数表，可以设默认形参值，还可以重载。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51384" y="78224"/>
            <a:ext cx="7315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 dirty="0"/>
              <a:t>9.4.1   </a:t>
            </a:r>
            <a:r>
              <a:rPr lang="zh-CN" altLang="en-US" sz="3600" b="0" dirty="0"/>
              <a:t>构造函数 </a:t>
            </a:r>
          </a:p>
        </p:txBody>
      </p:sp>
    </p:spTree>
    <p:extLst>
      <p:ext uri="{BB962C8B-B14F-4D97-AF65-F5344CB8AC3E}">
        <p14:creationId xmlns:p14="http://schemas.microsoft.com/office/powerpoint/2010/main" val="3004294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ABBAA2F-5C76-4235-9C99-7FFAA9E5DFDC}" type="slidenum">
              <a:rPr lang="zh-CN" altLang="en-US"/>
              <a:t>26</a:t>
            </a:fld>
            <a:endParaRPr lang="zh-CN" altLang="en-US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493962" y="851387"/>
            <a:ext cx="7488238" cy="5532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class </a:t>
            </a:r>
            <a:r>
              <a:rPr lang="en-US" altLang="zh-CN" sz="2800" dirty="0" err="1">
                <a:solidFill>
                  <a:schemeClr val="tx1"/>
                </a:solidFill>
              </a:rPr>
              <a:t>InvoiceItem</a:t>
            </a:r>
            <a:r>
              <a:rPr lang="en-US" altLang="zh-CN" sz="2800" dirty="0">
                <a:solidFill>
                  <a:schemeClr val="tx1"/>
                </a:solidFill>
              </a:rPr>
              <a:t>    // 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8-6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char 	 *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; //</a:t>
            </a:r>
            <a:r>
              <a:rPr lang="zh-CN" altLang="en-US" sz="2800" dirty="0">
                <a:solidFill>
                  <a:schemeClr val="tx1"/>
                </a:solidFill>
              </a:rPr>
              <a:t>字符串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	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      units;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rgbClr val="7030A0"/>
                </a:solidFill>
              </a:rPr>
              <a:t>public: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rgbClr val="7030A0"/>
                </a:solidFill>
              </a:rPr>
              <a:t>       </a:t>
            </a:r>
            <a:r>
              <a:rPr lang="en-US" altLang="zh-CN" sz="2800" dirty="0" err="1">
                <a:solidFill>
                  <a:srgbClr val="7030A0"/>
                </a:solidFill>
              </a:rPr>
              <a:t>InvoiceItem</a:t>
            </a:r>
            <a:r>
              <a:rPr lang="en-US" altLang="zh-CN" sz="2800" dirty="0">
                <a:solidFill>
                  <a:srgbClr val="7030A0"/>
                </a:solidFill>
              </a:rPr>
              <a:t>(  )  {   </a:t>
            </a:r>
            <a:r>
              <a:rPr lang="en-US" altLang="zh-CN" sz="2800" dirty="0" err="1">
                <a:solidFill>
                  <a:srgbClr val="7030A0"/>
                </a:solidFill>
              </a:rPr>
              <a:t>desc</a:t>
            </a:r>
            <a:r>
              <a:rPr lang="en-US" altLang="zh-CN" sz="2800" dirty="0">
                <a:solidFill>
                  <a:srgbClr val="7030A0"/>
                </a:solidFill>
              </a:rPr>
              <a:t> = new char [51];  }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void </a:t>
            </a:r>
            <a:r>
              <a:rPr lang="en-US" altLang="zh-CN" sz="2800" dirty="0" err="1">
                <a:solidFill>
                  <a:schemeClr val="tx1"/>
                </a:solidFill>
              </a:rPr>
              <a:t>setInfo</a:t>
            </a:r>
            <a:r>
              <a:rPr lang="en-US" altLang="zh-CN" sz="2800" dirty="0">
                <a:solidFill>
                  <a:schemeClr val="tx1"/>
                </a:solidFill>
              </a:rPr>
              <a:t>(char *</a:t>
            </a:r>
            <a:r>
              <a:rPr lang="en-US" altLang="zh-CN" sz="2800" dirty="0" err="1">
                <a:solidFill>
                  <a:schemeClr val="tx1"/>
                </a:solidFill>
              </a:rPr>
              <a:t>dscr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un)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{ 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 err="1">
                <a:solidFill>
                  <a:schemeClr val="tx1"/>
                </a:solidFill>
              </a:rPr>
              <a:t>strcpy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en-US" altLang="zh-CN" sz="2800" dirty="0" err="1">
                <a:solidFill>
                  <a:schemeClr val="tx1"/>
                </a:solidFill>
              </a:rPr>
              <a:t>dscr</a:t>
            </a:r>
            <a:r>
              <a:rPr lang="en-US" altLang="zh-CN" sz="2800" dirty="0">
                <a:solidFill>
                  <a:schemeClr val="tx1"/>
                </a:solidFill>
              </a:rPr>
              <a:t>);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		units = un;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 }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sz="2800" dirty="0">
                <a:solidFill>
                  <a:schemeClr val="tx1"/>
                </a:solidFill>
              </a:rPr>
              <a:t>char  * </a:t>
            </a:r>
            <a:r>
              <a:rPr lang="en-US" altLang="zh-CN" sz="2800" dirty="0" err="1">
                <a:solidFill>
                  <a:schemeClr val="tx1"/>
                </a:solidFill>
              </a:rPr>
              <a:t>getDesc</a:t>
            </a:r>
            <a:r>
              <a:rPr lang="en-US" altLang="zh-CN" sz="2800" dirty="0">
                <a:solidFill>
                  <a:schemeClr val="tx1"/>
                </a:solidFill>
              </a:rPr>
              <a:t>( ) {   return   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;    }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 err="1">
                <a:solidFill>
                  <a:schemeClr val="tx1"/>
                </a:solidFill>
              </a:rPr>
              <a:t>getUnits</a:t>
            </a:r>
            <a:r>
              <a:rPr lang="en-US" altLang="zh-CN" sz="2800" dirty="0">
                <a:solidFill>
                  <a:schemeClr val="tx1"/>
                </a:solidFill>
              </a:rPr>
              <a:t>( ) {   return   units;   }</a:t>
            </a:r>
          </a:p>
          <a:p>
            <a:pPr algn="just" fontAlgn="t">
              <a:lnSpc>
                <a:spcPct val="9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2"/>
          <p:cNvSpPr txBox="1">
            <a:spLocks noChangeArrowheads="1"/>
          </p:cNvSpPr>
          <p:nvPr/>
        </p:nvSpPr>
        <p:spPr bwMode="auto">
          <a:xfrm>
            <a:off x="1847528" y="290513"/>
            <a:ext cx="734377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void  main( )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	</a:t>
            </a:r>
            <a:r>
              <a:rPr lang="en-US" altLang="zh-CN" sz="2800" dirty="0" err="1">
                <a:solidFill>
                  <a:schemeClr val="tx1"/>
                </a:solidFill>
              </a:rPr>
              <a:t>InvoiceItem</a:t>
            </a:r>
            <a:r>
              <a:rPr lang="en-US" altLang="zh-CN" sz="2800" dirty="0">
                <a:solidFill>
                  <a:schemeClr val="tx1"/>
                </a:solidFill>
              </a:rPr>
              <a:t>  stock;</a:t>
            </a:r>
          </a:p>
          <a:p>
            <a:pPr algn="just" fontAlgn="t"/>
            <a:endParaRPr lang="en-US" altLang="zh-CN" sz="2800" dirty="0">
              <a:solidFill>
                <a:schemeClr val="tx1"/>
              </a:solidFill>
            </a:endParaRP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	</a:t>
            </a:r>
            <a:r>
              <a:rPr lang="en-US" altLang="zh-CN" sz="2800" dirty="0" err="1">
                <a:solidFill>
                  <a:schemeClr val="tx1"/>
                </a:solidFill>
              </a:rPr>
              <a:t>stock.setInfo</a:t>
            </a:r>
            <a:r>
              <a:rPr lang="en-US" altLang="zh-CN" sz="2800" dirty="0">
                <a:solidFill>
                  <a:schemeClr val="tx1"/>
                </a:solidFill>
              </a:rPr>
              <a:t>( "</a:t>
            </a:r>
            <a:r>
              <a:rPr lang="zh-CN" altLang="en-US" sz="2800" dirty="0">
                <a:solidFill>
                  <a:schemeClr val="tx1"/>
                </a:solidFill>
              </a:rPr>
              <a:t>鼠标</a:t>
            </a:r>
            <a:r>
              <a:rPr lang="en-US" altLang="zh-CN" sz="2800" dirty="0">
                <a:solidFill>
                  <a:schemeClr val="tx1"/>
                </a:solidFill>
              </a:rPr>
              <a:t>", 20);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	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	&lt;&lt; "</a:t>
            </a:r>
            <a:r>
              <a:rPr lang="zh-CN" altLang="en-US" sz="2800" dirty="0">
                <a:solidFill>
                  <a:schemeClr val="tx1"/>
                </a:solidFill>
              </a:rPr>
              <a:t>库存物品</a:t>
            </a:r>
            <a:r>
              <a:rPr lang="en-US" altLang="zh-CN" sz="2800" dirty="0">
                <a:solidFill>
                  <a:schemeClr val="tx1"/>
                </a:solidFill>
              </a:rPr>
              <a:t>: "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	 	&lt;&lt; </a:t>
            </a:r>
            <a:r>
              <a:rPr lang="en-US" altLang="zh-CN" sz="2800" dirty="0" err="1">
                <a:solidFill>
                  <a:schemeClr val="tx1"/>
                </a:solidFill>
              </a:rPr>
              <a:t>stock.getDesc</a:t>
            </a:r>
            <a:r>
              <a:rPr lang="en-US" altLang="zh-CN" sz="2800" dirty="0">
                <a:solidFill>
                  <a:schemeClr val="tx1"/>
                </a:solidFill>
              </a:rPr>
              <a:t>( ) &lt;&lt; 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 	&lt;&lt; </a:t>
            </a:r>
            <a:r>
              <a:rPr lang="en-US" altLang="zh-CN" dirty="0">
                <a:solidFill>
                  <a:schemeClr val="tx1"/>
                </a:solidFill>
              </a:rPr>
              <a:t>"</a:t>
            </a:r>
            <a:r>
              <a:rPr lang="zh-CN" altLang="en-US" sz="2800" dirty="0">
                <a:solidFill>
                  <a:schemeClr val="tx1"/>
                </a:solidFill>
              </a:rPr>
              <a:t>库存量</a:t>
            </a:r>
            <a:r>
              <a:rPr lang="en-US" altLang="zh-CN" sz="2800" dirty="0">
                <a:solidFill>
                  <a:schemeClr val="tx1"/>
                </a:solidFill>
              </a:rPr>
              <a:t>:  "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		&lt;&lt; </a:t>
            </a:r>
            <a:r>
              <a:rPr lang="en-US" altLang="zh-CN" sz="2800" dirty="0" err="1">
                <a:solidFill>
                  <a:schemeClr val="tx1"/>
                </a:solidFill>
              </a:rPr>
              <a:t>stock.getUnits</a:t>
            </a:r>
            <a:r>
              <a:rPr lang="en-US" altLang="zh-CN" sz="2800" dirty="0">
                <a:solidFill>
                  <a:schemeClr val="tx1"/>
                </a:solidFill>
              </a:rPr>
              <a:t>( ) &lt;&lt; </a:t>
            </a:r>
            <a:r>
              <a:rPr lang="en-US" altLang="zh-CN" sz="2800" dirty="0" err="1">
                <a:solidFill>
                  <a:schemeClr val="tx1"/>
                </a:solidFill>
              </a:rPr>
              <a:t>endl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9938" name="Text Box 3"/>
          <p:cNvSpPr txBox="1">
            <a:spLocks noChangeArrowheads="1"/>
          </p:cNvSpPr>
          <p:nvPr/>
        </p:nvSpPr>
        <p:spPr bwMode="auto">
          <a:xfrm>
            <a:off x="2063552" y="5326062"/>
            <a:ext cx="7345363" cy="11969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fontAlgn="t"/>
            <a:r>
              <a:rPr lang="zh-CN" altLang="en-US" dirty="0">
                <a:solidFill>
                  <a:schemeClr val="tx1"/>
                </a:solidFill>
              </a:rPr>
              <a:t>指向对象的指针：</a:t>
            </a:r>
          </a:p>
          <a:p>
            <a:pPr fontAlgn="t"/>
            <a:r>
              <a:rPr lang="en-US" altLang="zh-CN" dirty="0">
                <a:solidFill>
                  <a:schemeClr val="tx1"/>
                </a:solidFill>
              </a:rPr>
              <a:t>	InvoiceItem  </a:t>
            </a:r>
            <a:r>
              <a:rPr lang="en-US" altLang="zh-CN" dirty="0">
                <a:solidFill>
                  <a:srgbClr val="FF0000"/>
                </a:solidFill>
              </a:rPr>
              <a:t>*ptr 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pPr fontAlgn="t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ptr = new  InvoiceItem ;  // </a:t>
            </a:r>
            <a:r>
              <a:rPr lang="zh-CN" altLang="en-US" dirty="0">
                <a:solidFill>
                  <a:schemeClr val="tx1"/>
                </a:solidFill>
              </a:rPr>
              <a:t>此时调用构造函数</a:t>
            </a:r>
          </a:p>
        </p:txBody>
      </p:sp>
      <p:sp>
        <p:nvSpPr>
          <p:cNvPr id="39939" name="AutoShape 4"/>
          <p:cNvSpPr>
            <a:spLocks noChangeArrowheads="1"/>
          </p:cNvSpPr>
          <p:nvPr/>
        </p:nvSpPr>
        <p:spPr bwMode="auto">
          <a:xfrm>
            <a:off x="8832851" y="4652963"/>
            <a:ext cx="15843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fontAlgn="t"/>
            <a:r>
              <a:rPr lang="en-US" altLang="zh-CN" sz="2200">
                <a:solidFill>
                  <a:schemeClr val="tx1"/>
                </a:solidFill>
              </a:rPr>
              <a:t>8-6.cpp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27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dirty="0"/>
              <a:t>常常需要把某些数据传递给构造函数用于初始化对象成员。</a:t>
            </a:r>
          </a:p>
          <a:p>
            <a:pPr>
              <a:spcBef>
                <a:spcPct val="50000"/>
              </a:spcBef>
            </a:pPr>
            <a:r>
              <a:rPr lang="zh-CN" altLang="en-US" dirty="0"/>
              <a:t>构造函数可以有缺省参数。</a:t>
            </a:r>
          </a:p>
        </p:txBody>
      </p:sp>
      <p:sp>
        <p:nvSpPr>
          <p:cNvPr id="4505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F473EA5-5402-4243-A6EF-1475D8CBDDE7}" type="slidenum">
              <a:rPr lang="zh-CN" altLang="en-US"/>
              <a:t>28</a:t>
            </a:fld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503238"/>
            <a:ext cx="10363200" cy="1143000"/>
          </a:xfrm>
        </p:spPr>
        <p:txBody>
          <a:bodyPr/>
          <a:lstStyle/>
          <a:p>
            <a:r>
              <a:rPr lang="en-US" altLang="zh-CN" dirty="0"/>
              <a:t>9.4.2   </a:t>
            </a:r>
            <a:r>
              <a:rPr lang="zh-CN" altLang="en-US" dirty="0"/>
              <a:t>带参构造函数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99" y="2996952"/>
            <a:ext cx="5915897" cy="23273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52" y="5281481"/>
            <a:ext cx="5430431" cy="121355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148310" y="2689525"/>
            <a:ext cx="504056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张三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19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show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29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2548408" y="547590"/>
            <a:ext cx="12530608" cy="10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>
              <a:lnSpc>
                <a:spcPct val="150000"/>
              </a:lnSpc>
            </a:pPr>
            <a:r>
              <a:rPr lang="en-US" altLang="zh-CN" sz="4400" b="0" dirty="0">
                <a:solidFill>
                  <a:schemeClr val="tx1"/>
                </a:solidFill>
              </a:rPr>
              <a:t>9.4.3</a:t>
            </a:r>
            <a:r>
              <a:rPr lang="zh-CN" altLang="en-US" sz="4400" b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带默认参数的构造函数</a:t>
            </a:r>
            <a:endParaRPr lang="en-US" altLang="zh-CN" b="0" dirty="0">
              <a:solidFill>
                <a:srgbClr val="00206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56" y="1810355"/>
            <a:ext cx="6363080" cy="21239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886" y="2106436"/>
            <a:ext cx="1988992" cy="72396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456" y="5082720"/>
            <a:ext cx="3322608" cy="159271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456" y="4066208"/>
            <a:ext cx="4747671" cy="8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46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628776"/>
            <a:ext cx="8799830" cy="4772025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如果类中没有定义构造函数，系统将提供一个无参构造函数</a:t>
            </a:r>
            <a:r>
              <a:rPr lang="en-US" altLang="zh-CN" sz="2400" dirty="0"/>
              <a:t>(</a:t>
            </a:r>
            <a:r>
              <a:rPr lang="zh-CN" altLang="en-US" sz="2400" dirty="0"/>
              <a:t>属缺省构造函数</a:t>
            </a:r>
            <a:r>
              <a:rPr lang="en-US" altLang="zh-CN" sz="2400" dirty="0"/>
              <a:t>)</a:t>
            </a:r>
            <a:r>
              <a:rPr lang="zh-CN" altLang="en-US" sz="2400" dirty="0"/>
              <a:t>，该函数不实现任何功能。如果用户自定义了一个构造函数 ，那么系统缺省的构造函数将失效。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如果类中定义有无参的构造函数，那么该构造函数也属于缺省的构造函数。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如果类中定义有带参的构造函数，并且</a:t>
            </a:r>
            <a:r>
              <a:rPr lang="zh-CN" altLang="en-US" sz="2400" b="1" dirty="0">
                <a:solidFill>
                  <a:srgbClr val="FF0000"/>
                </a:solidFill>
              </a:rPr>
              <a:t>所有形参均具有缺省值，那么该构造函数也属于缺省的构造函数。</a:t>
            </a:r>
          </a:p>
          <a:p>
            <a:pPr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4.  </a:t>
            </a:r>
            <a:r>
              <a:rPr lang="zh-CN" altLang="en-US" sz="2400" dirty="0">
                <a:solidFill>
                  <a:srgbClr val="FF0000"/>
                </a:solidFill>
              </a:rPr>
              <a:t>一个类只能有一个缺省构造函数，</a:t>
            </a:r>
            <a:r>
              <a:rPr lang="zh-CN" altLang="en-US" sz="2400" dirty="0"/>
              <a:t>否则将产生二义性。</a:t>
            </a:r>
            <a:endParaRPr lang="en-US" altLang="zh-CN" sz="2400" dirty="0"/>
          </a:p>
        </p:txBody>
      </p:sp>
      <p:sp>
        <p:nvSpPr>
          <p:cNvPr id="5836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DDBA610-BB37-41BC-BC00-20817BFA927B}" type="slidenum">
              <a:rPr lang="zh-CN" altLang="en-US"/>
              <a:t>30</a:t>
            </a:fld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43472" y="456482"/>
            <a:ext cx="8153400" cy="1143000"/>
          </a:xfrm>
        </p:spPr>
        <p:txBody>
          <a:bodyPr/>
          <a:lstStyle/>
          <a:p>
            <a:r>
              <a:rPr lang="en-US" altLang="zh-CN" dirty="0"/>
              <a:t>9.4.4   </a:t>
            </a:r>
            <a:r>
              <a:rPr lang="zh-CN" altLang="en-US" dirty="0"/>
              <a:t>缺省构造函数的表现形式 </a:t>
            </a:r>
          </a:p>
        </p:txBody>
      </p:sp>
    </p:spTree>
    <p:extLst>
      <p:ext uri="{BB962C8B-B14F-4D97-AF65-F5344CB8AC3E}">
        <p14:creationId xmlns:p14="http://schemas.microsoft.com/office/powerpoint/2010/main" val="4257017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2"/>
          <p:cNvSpPr txBox="1">
            <a:spLocks noChangeArrowheads="1"/>
          </p:cNvSpPr>
          <p:nvPr/>
        </p:nvSpPr>
        <p:spPr bwMode="auto">
          <a:xfrm>
            <a:off x="1631950" y="949326"/>
            <a:ext cx="8929688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class InvoiceItem 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char   *desc;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int      units;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public: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chemeClr val="tx1"/>
                </a:solidFill>
              </a:rPr>
              <a:t>Invoiceltem</a:t>
            </a:r>
            <a:r>
              <a:rPr lang="en-US" altLang="zh-CN" sz="2800" dirty="0">
                <a:solidFill>
                  <a:schemeClr val="tx1"/>
                </a:solidFill>
              </a:rPr>
              <a:t>( )  {     desc = new char[80];   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InvoiceItem(</a:t>
            </a:r>
            <a:r>
              <a:rPr lang="en-US" altLang="zh-CN" sz="2800" dirty="0">
                <a:solidFill>
                  <a:srgbClr val="FF0000"/>
                </a:solidFill>
              </a:rPr>
              <a:t>int size = 51</a:t>
            </a:r>
            <a:r>
              <a:rPr lang="en-US" altLang="zh-CN" sz="2800" dirty="0">
                <a:solidFill>
                  <a:schemeClr val="tx1"/>
                </a:solidFill>
              </a:rPr>
              <a:t>) {  desc = new char[size];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    	~InvoiceItem( )  { delete[ ] desc; 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	// </a:t>
            </a:r>
            <a:r>
              <a:rPr lang="zh-CN" altLang="en-US" sz="2800" dirty="0">
                <a:solidFill>
                  <a:schemeClr val="tx1"/>
                </a:solidFill>
              </a:rPr>
              <a:t>其他函数略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};</a:t>
            </a:r>
          </a:p>
        </p:txBody>
      </p:sp>
      <p:grpSp>
        <p:nvGrpSpPr>
          <p:cNvPr id="59394" name="Group 6"/>
          <p:cNvGrpSpPr/>
          <p:nvPr/>
        </p:nvGrpSpPr>
        <p:grpSpPr bwMode="auto">
          <a:xfrm>
            <a:off x="4079875" y="1844675"/>
            <a:ext cx="5562600" cy="2667000"/>
            <a:chOff x="1392" y="240"/>
            <a:chExt cx="3504" cy="1680"/>
          </a:xfrm>
        </p:grpSpPr>
        <p:sp>
          <p:nvSpPr>
            <p:cNvPr id="59395" name="AutoShape 3"/>
            <p:cNvSpPr>
              <a:spLocks noChangeArrowheads="1"/>
            </p:cNvSpPr>
            <p:nvPr/>
          </p:nvSpPr>
          <p:spPr bwMode="auto">
            <a:xfrm>
              <a:off x="2880" y="240"/>
              <a:ext cx="2016" cy="528"/>
            </a:xfrm>
            <a:prstGeom prst="cloudCallout">
              <a:avLst>
                <a:gd name="adj1" fmla="val -8977"/>
                <a:gd name="adj2" fmla="val 41667"/>
              </a:avLst>
            </a:prstGeom>
            <a:noFill/>
            <a:ln w="9525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fontAlgn="t"/>
              <a:r>
                <a:rPr lang="en-US" altLang="zh-CN" sz="3200">
                  <a:solidFill>
                    <a:schemeClr val="tx1"/>
                  </a:solidFill>
                </a:rPr>
                <a:t>illegal</a:t>
              </a:r>
            </a:p>
          </p:txBody>
        </p:sp>
        <p:sp>
          <p:nvSpPr>
            <p:cNvPr id="59396" name="Line 4"/>
            <p:cNvSpPr>
              <a:spLocks noChangeShapeType="1"/>
            </p:cNvSpPr>
            <p:nvPr/>
          </p:nvSpPr>
          <p:spPr bwMode="auto">
            <a:xfrm flipH="1">
              <a:off x="1392" y="720"/>
              <a:ext cx="2016" cy="912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9397" name="Line 5"/>
            <p:cNvSpPr>
              <a:spLocks noChangeShapeType="1"/>
            </p:cNvSpPr>
            <p:nvPr/>
          </p:nvSpPr>
          <p:spPr bwMode="auto">
            <a:xfrm flipH="1">
              <a:off x="2352" y="720"/>
              <a:ext cx="1152" cy="120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31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80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F473EA5-5402-4243-A6EF-1475D8CBDDE7}" type="slidenum">
              <a:rPr lang="zh-CN" altLang="en-US"/>
              <a:t>32</a:t>
            </a:fld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503238"/>
            <a:ext cx="10363200" cy="1143000"/>
          </a:xfrm>
        </p:spPr>
        <p:txBody>
          <a:bodyPr/>
          <a:lstStyle/>
          <a:p>
            <a:r>
              <a:rPr lang="en-US" altLang="zh-CN" dirty="0"/>
              <a:t>9.4.5</a:t>
            </a:r>
            <a:r>
              <a:rPr lang="zh-CN" altLang="en-US" dirty="0"/>
              <a:t>构造函数的重载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89" y="1652987"/>
            <a:ext cx="5917714" cy="253754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64" y="4271496"/>
            <a:ext cx="6382824" cy="258650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320136" y="1988840"/>
            <a:ext cx="4537720" cy="3785652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张三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19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show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Employee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e2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e2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setName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李四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e2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setAge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e2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show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624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析构函数也与类同名，前面多个波浪号</a:t>
            </a:r>
            <a:r>
              <a:rPr lang="en-US" altLang="zh-CN"/>
              <a:t>(~) 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当一个对象终止时会自动调用析构函数</a:t>
            </a:r>
            <a:r>
              <a:rPr lang="en-US" altLang="zh-CN"/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Example: Program 8-7. </a:t>
            </a:r>
          </a:p>
        </p:txBody>
      </p:sp>
      <p:sp>
        <p:nvSpPr>
          <p:cNvPr id="4096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B970236-FA8B-4E31-AE9F-0B09643DB74E}" type="slidenum">
              <a:rPr lang="zh-CN" altLang="en-US"/>
              <a:t>33</a:t>
            </a:fld>
            <a:endParaRPr lang="zh-CN" alt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7408" y="652185"/>
            <a:ext cx="10363200" cy="1143000"/>
          </a:xfrm>
        </p:spPr>
        <p:txBody>
          <a:bodyPr/>
          <a:lstStyle/>
          <a:p>
            <a:r>
              <a:rPr lang="en-US" altLang="zh-CN" dirty="0"/>
              <a:t>9.4.6    </a:t>
            </a:r>
            <a:r>
              <a:rPr lang="zh-CN" altLang="en-US" dirty="0"/>
              <a:t>析构函数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2"/>
          <p:cNvSpPr txBox="1">
            <a:spLocks noChangeArrowheads="1"/>
          </p:cNvSpPr>
          <p:nvPr/>
        </p:nvSpPr>
        <p:spPr bwMode="auto">
          <a:xfrm>
            <a:off x="3719736" y="712788"/>
            <a:ext cx="5649912" cy="564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class   </a:t>
            </a:r>
            <a:r>
              <a:rPr lang="en-US" altLang="zh-CN" sz="2800" dirty="0" err="1">
                <a:solidFill>
                  <a:schemeClr val="tx1"/>
                </a:solidFill>
              </a:rPr>
              <a:t>InvoiceItem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char    *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      units;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public: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</a:t>
            </a:r>
            <a:r>
              <a:rPr lang="en-US" altLang="zh-CN" sz="2800" dirty="0" err="1">
                <a:solidFill>
                  <a:schemeClr val="tx1"/>
                </a:solidFill>
              </a:rPr>
              <a:t>InvoiceItem</a:t>
            </a:r>
            <a:r>
              <a:rPr lang="en-US" altLang="zh-CN" sz="2800" dirty="0">
                <a:solidFill>
                  <a:schemeClr val="tx1"/>
                </a:solidFill>
              </a:rPr>
              <a:t>( ) 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{ 	 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 = new char[51]; 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	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 "</a:t>
            </a:r>
            <a:r>
              <a:rPr lang="zh-CN" altLang="en-US" sz="2800" dirty="0">
                <a:solidFill>
                  <a:schemeClr val="tx1"/>
                </a:solidFill>
              </a:rPr>
              <a:t>构造函数 </a:t>
            </a:r>
            <a:r>
              <a:rPr lang="en-US" altLang="zh-CN" sz="2800" dirty="0">
                <a:solidFill>
                  <a:schemeClr val="tx1"/>
                </a:solidFill>
              </a:rPr>
              <a:t>\n";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}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~</a:t>
            </a:r>
            <a:r>
              <a:rPr lang="en-US" altLang="zh-CN" sz="2800" dirty="0" err="1">
                <a:solidFill>
                  <a:schemeClr val="tx1"/>
                </a:solidFill>
              </a:rPr>
              <a:t>InvoiceItem</a:t>
            </a:r>
            <a:r>
              <a:rPr lang="en-US" altLang="zh-CN" sz="2800" dirty="0">
                <a:solidFill>
                  <a:schemeClr val="tx1"/>
                </a:solidFill>
              </a:rPr>
              <a:t>( )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{    delete [  ]</a:t>
            </a:r>
            <a:r>
              <a:rPr lang="en-US" altLang="zh-CN" sz="2800" dirty="0" err="1">
                <a:solidFill>
                  <a:schemeClr val="tx1"/>
                </a:solidFill>
              </a:rPr>
              <a:t>desc</a:t>
            </a:r>
            <a:r>
              <a:rPr lang="en-US" altLang="zh-CN" sz="2800" dirty="0">
                <a:solidFill>
                  <a:schemeClr val="tx1"/>
                </a:solidFill>
              </a:rPr>
              <a:t>; 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	 </a:t>
            </a:r>
            <a:r>
              <a:rPr lang="en-US" altLang="zh-CN" sz="2800" dirty="0" err="1">
                <a:solidFill>
                  <a:schemeClr val="tx1"/>
                </a:solidFill>
              </a:rPr>
              <a:t>cout</a:t>
            </a:r>
            <a:r>
              <a:rPr lang="en-US" altLang="zh-CN" sz="2800" dirty="0">
                <a:solidFill>
                  <a:schemeClr val="tx1"/>
                </a:solidFill>
              </a:rPr>
              <a:t>&lt;&lt; "</a:t>
            </a:r>
            <a:r>
              <a:rPr lang="zh-CN" altLang="en-US" sz="2800" dirty="0">
                <a:solidFill>
                  <a:schemeClr val="tx1"/>
                </a:solidFill>
              </a:rPr>
              <a:t>析构函数 </a:t>
            </a:r>
            <a:r>
              <a:rPr lang="en-US" altLang="zh-CN" sz="2800" dirty="0">
                <a:solidFill>
                  <a:schemeClr val="tx1"/>
                </a:solidFill>
              </a:rPr>
              <a:t>\n";</a:t>
            </a:r>
          </a:p>
          <a:p>
            <a:pPr algn="just" fontAlgn="t"/>
            <a:r>
              <a:rPr lang="en-US" altLang="zh-CN" sz="2800" dirty="0">
                <a:solidFill>
                  <a:schemeClr val="tx1"/>
                </a:solidFill>
              </a:rPr>
              <a:t>     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34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2"/>
          <p:cNvSpPr txBox="1">
            <a:spLocks noChangeArrowheads="1"/>
          </p:cNvSpPr>
          <p:nvPr/>
        </p:nvSpPr>
        <p:spPr bwMode="auto">
          <a:xfrm>
            <a:off x="2208213" y="333375"/>
            <a:ext cx="8305800" cy="649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/>
            <a:r>
              <a:rPr lang="zh-CN" altLang="en-US" sz="2800">
                <a:solidFill>
                  <a:schemeClr val="tx1"/>
                </a:solidFill>
              </a:rPr>
              <a:t>	 </a:t>
            </a:r>
            <a:r>
              <a:rPr lang="en-US" altLang="zh-CN" sz="2800">
                <a:solidFill>
                  <a:schemeClr val="tx1"/>
                </a:solidFill>
              </a:rPr>
              <a:t>void setInfo(char *dscr, int un) 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	{  	strcpy(desc, dscr);	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		units = un;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	 }	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         char *getDesc( )	{ return desc;  }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         int 	getUnits( )  	{ return units;  }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};</a:t>
            </a:r>
          </a:p>
          <a:p>
            <a:pPr algn="just" fontAlgn="t"/>
            <a:endParaRPr lang="en-US" altLang="zh-CN" sz="2800">
              <a:solidFill>
                <a:schemeClr val="tx1"/>
              </a:solidFill>
            </a:endParaRP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void main( )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{    	InvoiceItem    stock;</a:t>
            </a:r>
          </a:p>
          <a:p>
            <a:pPr algn="just" fontAlgn="t"/>
            <a:endParaRPr lang="en-US" altLang="zh-CN" sz="2800">
              <a:solidFill>
                <a:schemeClr val="tx1"/>
              </a:solidFill>
            </a:endParaRP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     	stock.setInfo( "</a:t>
            </a:r>
            <a:r>
              <a:rPr lang="zh-CN" altLang="en-US" sz="2800">
                <a:solidFill>
                  <a:schemeClr val="tx1"/>
                </a:solidFill>
              </a:rPr>
              <a:t>鼠标</a:t>
            </a:r>
            <a:r>
              <a:rPr lang="en-US" altLang="zh-CN" sz="2800">
                <a:solidFill>
                  <a:schemeClr val="tx1"/>
                </a:solidFill>
              </a:rPr>
              <a:t>", 20);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    	cout 	&lt;&lt; stock.getDesc( ) &lt;&lt; endl;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	cout 	&lt;&lt; stock.getUnits( ) &lt;&lt; endl;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3010" name="AutoShape 3"/>
          <p:cNvSpPr>
            <a:spLocks noChangeArrowheads="1"/>
          </p:cNvSpPr>
          <p:nvPr/>
        </p:nvSpPr>
        <p:spPr bwMode="auto">
          <a:xfrm>
            <a:off x="8832851" y="5013325"/>
            <a:ext cx="1584325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fontAlgn="t"/>
            <a:r>
              <a:rPr lang="en-US" altLang="zh-CN" sz="2200">
                <a:solidFill>
                  <a:schemeClr val="tx1"/>
                </a:solidFill>
              </a:rPr>
              <a:t>8-7.cpp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35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2628901" y="4148138"/>
            <a:ext cx="7859713" cy="2017712"/>
          </a:xfrm>
        </p:spPr>
        <p:txBody>
          <a:bodyPr/>
          <a:lstStyle/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600" dirty="0">
                <a:latin typeface="宋体" panose="02010600030101010101" pitchFamily="2" charset="-122"/>
              </a:rPr>
              <a:t>1. </a:t>
            </a:r>
            <a:r>
              <a:rPr lang="zh-CN" altLang="en-US" sz="2600" dirty="0">
                <a:latin typeface="宋体" panose="02010600030101010101" pitchFamily="2" charset="-122"/>
              </a:rPr>
              <a:t>同构造函数一样，析构函数也没有返回值类型；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600" dirty="0">
                <a:latin typeface="宋体" panose="02010600030101010101" pitchFamily="2" charset="-122"/>
              </a:rPr>
              <a:t>2. </a:t>
            </a:r>
            <a:r>
              <a:rPr lang="zh-CN" altLang="en-US" sz="2600" dirty="0">
                <a:latin typeface="宋体" panose="02010600030101010101" pitchFamily="2" charset="-122"/>
              </a:rPr>
              <a:t>析构函数无参数。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600" dirty="0">
                <a:latin typeface="宋体" panose="02010600030101010101" pitchFamily="2" charset="-122"/>
              </a:rPr>
              <a:t>3. 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</a:rPr>
              <a:t>一个类只能有一个析构函数</a:t>
            </a:r>
            <a:r>
              <a:rPr lang="zh-CN" altLang="en-US" sz="2600" dirty="0">
                <a:latin typeface="宋体" panose="02010600030101010101" pitchFamily="2" charset="-122"/>
              </a:rPr>
              <a:t>。 </a:t>
            </a:r>
          </a:p>
        </p:txBody>
      </p:sp>
      <p:sp>
        <p:nvSpPr>
          <p:cNvPr id="4403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AA85486-E0DA-4944-9F29-8B63D271D03D}" type="slidenum">
              <a:rPr lang="zh-CN" altLang="en-US"/>
              <a:t>36</a:t>
            </a:fld>
            <a:endParaRPr lang="zh-CN" alt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9416" y="606426"/>
            <a:ext cx="10363200" cy="1143000"/>
          </a:xfrm>
        </p:spPr>
        <p:txBody>
          <a:bodyPr/>
          <a:lstStyle/>
          <a:p>
            <a:r>
              <a:rPr lang="en-US" altLang="zh-CN" dirty="0"/>
              <a:t>9.4.6    </a:t>
            </a:r>
            <a:r>
              <a:rPr lang="zh-CN" altLang="en-US" dirty="0"/>
              <a:t>析构函数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2063750" y="1844676"/>
            <a:ext cx="81359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en-US" altLang="zh-CN" sz="2800">
                <a:solidFill>
                  <a:schemeClr val="tx1"/>
                </a:solidFill>
              </a:rPr>
              <a:t>Delete</a:t>
            </a:r>
            <a:r>
              <a:rPr lang="zh-CN" altLang="en-US" sz="2800">
                <a:solidFill>
                  <a:schemeClr val="tx1"/>
                </a:solidFill>
              </a:rPr>
              <a:t>对象时，将调用析构函数，例如：</a:t>
            </a:r>
          </a:p>
          <a:p>
            <a:pPr fontAlgn="t"/>
            <a:r>
              <a:rPr lang="zh-CN" altLang="en-US" sz="2800">
                <a:solidFill>
                  <a:schemeClr val="tx1"/>
                </a:solidFill>
              </a:rPr>
              <a:t>        	</a:t>
            </a:r>
            <a:r>
              <a:rPr lang="en-US" altLang="zh-CN" sz="2800">
                <a:solidFill>
                  <a:schemeClr val="tx1"/>
                </a:solidFill>
              </a:rPr>
              <a:t>InvoiceItem   *ptr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	ptr = </a:t>
            </a:r>
            <a:r>
              <a:rPr lang="en-US" altLang="zh-CN" sz="2800">
                <a:solidFill>
                  <a:srgbClr val="FF0000"/>
                </a:solidFill>
              </a:rPr>
              <a:t>new   </a:t>
            </a:r>
            <a:r>
              <a:rPr lang="en-US" altLang="zh-CN" sz="2800">
                <a:solidFill>
                  <a:schemeClr val="tx1"/>
                </a:solidFill>
              </a:rPr>
              <a:t>InvoiceItem ;	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	</a:t>
            </a:r>
            <a:r>
              <a:rPr lang="en-US" altLang="zh-CN" sz="2800">
                <a:solidFill>
                  <a:srgbClr val="FF0000"/>
                </a:solidFill>
              </a:rPr>
              <a:t>delete   </a:t>
            </a:r>
            <a:r>
              <a:rPr lang="en-US" altLang="zh-CN" sz="2800">
                <a:solidFill>
                  <a:schemeClr val="tx1"/>
                </a:solidFill>
              </a:rPr>
              <a:t>ptr ; 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812925" y="4483101"/>
            <a:ext cx="649288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zh-CN" altLang="en-US" sz="3000">
                <a:solidFill>
                  <a:schemeClr val="tx1"/>
                </a:solidFill>
              </a:rPr>
              <a:t>注</a:t>
            </a:r>
          </a:p>
          <a:p>
            <a:pPr fontAlgn="t">
              <a:spcBef>
                <a:spcPct val="50000"/>
              </a:spcBef>
            </a:pPr>
            <a:r>
              <a:rPr lang="zh-CN" altLang="en-US" sz="3000">
                <a:solidFill>
                  <a:schemeClr val="tx1"/>
                </a:solidFill>
              </a:rPr>
              <a:t>意</a:t>
            </a:r>
          </a:p>
        </p:txBody>
      </p:sp>
      <p:sp>
        <p:nvSpPr>
          <p:cNvPr id="44038" name="AutoShape 6"/>
          <p:cNvSpPr/>
          <p:nvPr/>
        </p:nvSpPr>
        <p:spPr bwMode="auto">
          <a:xfrm>
            <a:off x="2474914" y="4293097"/>
            <a:ext cx="153987" cy="1558429"/>
          </a:xfrm>
          <a:prstGeom prst="leftBrace">
            <a:avLst>
              <a:gd name="adj1" fmla="val 83935"/>
              <a:gd name="adj2" fmla="val 50000"/>
            </a:avLst>
          </a:prstGeom>
          <a:noFill/>
          <a:ln w="3175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t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2"/>
          <p:cNvSpPr txBox="1">
            <a:spLocks noChangeArrowheads="1"/>
          </p:cNvSpPr>
          <p:nvPr/>
        </p:nvSpPr>
        <p:spPr bwMode="auto">
          <a:xfrm>
            <a:off x="2855913" y="908051"/>
            <a:ext cx="74168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	// Contents of sale2.h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class </a:t>
            </a:r>
            <a:r>
              <a:rPr lang="en-US" altLang="zh-CN" sz="2800">
                <a:solidFill>
                  <a:srgbClr val="FF0000"/>
                </a:solidFill>
              </a:rPr>
              <a:t>Sale </a:t>
            </a:r>
            <a:endParaRPr lang="en-US" altLang="zh-CN" sz="2800">
              <a:solidFill>
                <a:schemeClr val="tx1"/>
              </a:solidFill>
            </a:endParaRP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{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	float  taxRate ,  total;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public: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	</a:t>
            </a:r>
            <a:r>
              <a:rPr lang="en-US" altLang="zh-CN" sz="2800">
                <a:solidFill>
                  <a:srgbClr val="FF0000"/>
                </a:solidFill>
              </a:rPr>
              <a:t>Sale</a:t>
            </a:r>
            <a:r>
              <a:rPr lang="en-US" altLang="zh-CN" sz="2800">
                <a:solidFill>
                  <a:schemeClr val="tx1"/>
                </a:solidFill>
              </a:rPr>
              <a:t>(</a:t>
            </a:r>
            <a:r>
              <a:rPr lang="en-US" altLang="zh-CN" sz="2800">
                <a:solidFill>
                  <a:srgbClr val="FF0000"/>
                </a:solidFill>
              </a:rPr>
              <a:t>float  rate</a:t>
            </a:r>
            <a:r>
              <a:rPr lang="en-US" altLang="zh-CN" sz="2800">
                <a:solidFill>
                  <a:schemeClr val="tx1"/>
                </a:solidFill>
              </a:rPr>
              <a:t> ) {   taxRate = rate;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     	void  calcSale( float   cost)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   	{    total = cost +(cost * taxRate);   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     	float  getTotal( ) {    return total;   }</a:t>
            </a:r>
          </a:p>
          <a:p>
            <a:pPr algn="just" fontAlgn="t">
              <a:lnSpc>
                <a:spcPct val="130000"/>
              </a:lnSpc>
            </a:pPr>
            <a:r>
              <a:rPr lang="en-US" altLang="zh-CN" sz="280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37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2"/>
          <p:cNvSpPr txBox="1">
            <a:spLocks noChangeArrowheads="1"/>
          </p:cNvSpPr>
          <p:nvPr/>
        </p:nvSpPr>
        <p:spPr bwMode="auto">
          <a:xfrm>
            <a:off x="3071814" y="979489"/>
            <a:ext cx="7331075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//Contents of main program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void main( )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   Sale  cashier( </a:t>
            </a:r>
            <a:r>
              <a:rPr lang="en-US" altLang="zh-CN" sz="2800">
                <a:solidFill>
                  <a:srgbClr val="FF0000"/>
                </a:solidFill>
              </a:rPr>
              <a:t>0.06f </a:t>
            </a:r>
            <a:r>
              <a:rPr lang="en-US" altLang="zh-CN" sz="2800">
                <a:solidFill>
                  <a:schemeClr val="tx1"/>
                </a:solidFill>
              </a:rPr>
              <a:t>) ;    // 6% </a:t>
            </a:r>
            <a:r>
              <a:rPr lang="zh-CN" altLang="en-US" sz="2800">
                <a:solidFill>
                  <a:schemeClr val="tx1"/>
                </a:solidFill>
              </a:rPr>
              <a:t>税率</a:t>
            </a:r>
          </a:p>
          <a:p>
            <a:pPr fontAlgn="t"/>
            <a:r>
              <a:rPr lang="zh-CN" altLang="en-US" sz="2800">
                <a:solidFill>
                  <a:schemeClr val="tx1"/>
                </a:solidFill>
              </a:rPr>
              <a:t>             </a:t>
            </a:r>
            <a:r>
              <a:rPr lang="en-US" altLang="zh-CN" sz="2800">
                <a:solidFill>
                  <a:schemeClr val="tx1"/>
                </a:solidFill>
              </a:rPr>
              <a:t>float  amount ;</a:t>
            </a:r>
          </a:p>
          <a:p>
            <a:pPr fontAlgn="t"/>
            <a:endParaRPr lang="en-US" altLang="zh-CN" sz="2800">
              <a:solidFill>
                <a:schemeClr val="tx1"/>
              </a:solidFill>
            </a:endParaRP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  cout &lt;&lt; "</a:t>
            </a:r>
            <a:r>
              <a:rPr lang="zh-CN" altLang="en-US" sz="2800">
                <a:solidFill>
                  <a:schemeClr val="tx1"/>
                </a:solidFill>
              </a:rPr>
              <a:t>请输入销售额</a:t>
            </a:r>
            <a:r>
              <a:rPr lang="en-US" altLang="zh-CN" sz="2800">
                <a:solidFill>
                  <a:schemeClr val="tx1"/>
                </a:solidFill>
              </a:rPr>
              <a:t>: "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  cin &gt;&gt; amount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  cashier.calculateSale( amount )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  cout &lt;&lt; "</a:t>
            </a:r>
            <a:r>
              <a:rPr lang="zh-CN" altLang="en-US" sz="2800">
                <a:solidFill>
                  <a:schemeClr val="tx1"/>
                </a:solidFill>
              </a:rPr>
              <a:t>销售总额是 </a:t>
            </a:r>
            <a:r>
              <a:rPr lang="en-US" altLang="zh-CN" sz="2800">
                <a:solidFill>
                  <a:schemeClr val="tx1"/>
                </a:solidFill>
              </a:rPr>
              <a:t>RMB"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  cout &lt;&lt; cashier.getTotal( ) &lt;&lt; endl ; 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38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2"/>
          <p:cNvSpPr txBox="1">
            <a:spLocks noChangeArrowheads="1"/>
          </p:cNvSpPr>
          <p:nvPr/>
        </p:nvSpPr>
        <p:spPr bwMode="auto">
          <a:xfrm>
            <a:off x="3071814" y="981076"/>
            <a:ext cx="7331075" cy="56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/>
            <a:r>
              <a:rPr lang="zh-CN" altLang="en-US" sz="2800">
                <a:solidFill>
                  <a:schemeClr val="tx1"/>
                </a:solidFill>
              </a:rPr>
              <a:t>构造函数可以有缺省参数：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class </a:t>
            </a:r>
            <a:r>
              <a:rPr lang="en-US" altLang="zh-CN" sz="2800">
                <a:solidFill>
                  <a:srgbClr val="FF0000"/>
                </a:solidFill>
              </a:rPr>
              <a:t>Sale </a:t>
            </a:r>
            <a:endParaRPr lang="en-US" altLang="zh-CN" sz="2800">
              <a:solidFill>
                <a:schemeClr val="tx1"/>
              </a:solidFill>
            </a:endParaRP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float  taxRate ,  total;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public: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</a:t>
            </a:r>
            <a:r>
              <a:rPr lang="en-US" altLang="zh-CN" sz="2800">
                <a:solidFill>
                  <a:srgbClr val="FF0000"/>
                </a:solidFill>
              </a:rPr>
              <a:t>Sale</a:t>
            </a:r>
            <a:r>
              <a:rPr lang="en-US" altLang="zh-CN" sz="2800">
                <a:solidFill>
                  <a:schemeClr val="tx1"/>
                </a:solidFill>
              </a:rPr>
              <a:t>( float  rate</a:t>
            </a:r>
            <a:r>
              <a:rPr lang="en-US" altLang="zh-CN" sz="2800">
                <a:solidFill>
                  <a:srgbClr val="FF0000"/>
                </a:solidFill>
              </a:rPr>
              <a:t> = 0.05f</a:t>
            </a:r>
            <a:r>
              <a:rPr lang="en-US" altLang="zh-CN" sz="2800">
                <a:solidFill>
                  <a:schemeClr val="tx1"/>
                </a:solidFill>
              </a:rPr>
              <a:t> )</a:t>
            </a:r>
            <a:endParaRPr lang="zh-CN" altLang="en-US" sz="2800">
              <a:solidFill>
                <a:schemeClr val="tx1"/>
              </a:solidFill>
            </a:endParaRP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{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  	taxRate = rate ;  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} 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	void  calcSale( float   cost)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	{     total = cost +(cost * taxRate);  }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	float  getTotal( ) { return total; }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1681164" y="3573463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zh-CN" altLang="en-US" sz="2800">
                <a:solidFill>
                  <a:schemeClr val="tx1"/>
                </a:solidFill>
              </a:rPr>
              <a:t>例 </a:t>
            </a:r>
            <a:r>
              <a:rPr lang="en-US" altLang="zh-CN" sz="2800">
                <a:solidFill>
                  <a:schemeClr val="tx1"/>
                </a:solidFill>
              </a:rPr>
              <a:t>8-9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48131" name="AutoShape 4"/>
          <p:cNvSpPr/>
          <p:nvPr/>
        </p:nvSpPr>
        <p:spPr bwMode="auto">
          <a:xfrm>
            <a:off x="2782889" y="1196976"/>
            <a:ext cx="288925" cy="5256213"/>
          </a:xfrm>
          <a:prstGeom prst="leftBrace">
            <a:avLst>
              <a:gd name="adj1" fmla="val 151518"/>
              <a:gd name="adj2" fmla="val 50000"/>
            </a:avLst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t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39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2"/>
          <p:cNvSpPr txBox="1">
            <a:spLocks noChangeArrowheads="1"/>
          </p:cNvSpPr>
          <p:nvPr/>
        </p:nvSpPr>
        <p:spPr bwMode="auto">
          <a:xfrm>
            <a:off x="2063750" y="1098551"/>
            <a:ext cx="8483600" cy="56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//Contents of main program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void main( )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{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Sale    cashier1 ;        	 </a:t>
            </a:r>
            <a:r>
              <a:rPr lang="en-US" altLang="zh-CN" sz="2800">
                <a:solidFill>
                  <a:srgbClr val="FF0000"/>
                </a:solidFill>
              </a:rPr>
              <a:t> // </a:t>
            </a:r>
            <a:r>
              <a:rPr lang="zh-CN" altLang="en-US" sz="2800">
                <a:solidFill>
                  <a:srgbClr val="FF0000"/>
                </a:solidFill>
              </a:rPr>
              <a:t>缺省形参值</a:t>
            </a:r>
            <a:endParaRPr lang="en-US" altLang="zh-CN" sz="2800">
              <a:solidFill>
                <a:schemeClr val="tx1"/>
              </a:solidFill>
            </a:endParaRP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Sale    cashier2(0.06f ) ;   </a:t>
            </a:r>
            <a:r>
              <a:rPr lang="en-US" altLang="zh-CN" sz="2800">
                <a:solidFill>
                  <a:srgbClr val="FF0000"/>
                </a:solidFill>
              </a:rPr>
              <a:t> // </a:t>
            </a:r>
            <a:r>
              <a:rPr lang="zh-CN" altLang="en-US" sz="2800">
                <a:solidFill>
                  <a:srgbClr val="FF0000"/>
                </a:solidFill>
              </a:rPr>
              <a:t>指定形参值</a:t>
            </a:r>
            <a:endParaRPr lang="en-US" altLang="zh-CN" sz="2800">
              <a:solidFill>
                <a:schemeClr val="tx1"/>
              </a:solidFill>
            </a:endParaRP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float   amount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cout &lt;&lt; "</a:t>
            </a:r>
            <a:r>
              <a:rPr lang="zh-CN" altLang="en-US" sz="2800">
                <a:solidFill>
                  <a:schemeClr val="tx1"/>
                </a:solidFill>
              </a:rPr>
              <a:t>请输入销售额</a:t>
            </a:r>
            <a:r>
              <a:rPr lang="en-US" altLang="zh-CN" sz="2800">
                <a:solidFill>
                  <a:schemeClr val="tx1"/>
                </a:solidFill>
              </a:rPr>
              <a:t>: "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cin &gt;&gt; amount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cashier1.calculateSale( amount )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          cashier2.calculateSale( amount )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cout &lt;&lt; cashier1.getTotal( ) &lt;&lt; endl ;</a:t>
            </a:r>
          </a:p>
          <a:p>
            <a:pPr fontAlgn="t"/>
            <a:r>
              <a:rPr lang="en-US" altLang="zh-CN" sz="2800">
                <a:solidFill>
                  <a:schemeClr val="tx1"/>
                </a:solidFill>
              </a:rPr>
              <a:t>	cout &lt;&lt; cashier2.getTotal( ) &lt;&lt; endl ; </a:t>
            </a:r>
          </a:p>
          <a:p>
            <a:pPr algn="just" fontAlgn="t"/>
            <a:r>
              <a:rPr lang="en-US" altLang="zh-CN" sz="28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40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/>
              <a:t>设计一个</a:t>
            </a:r>
            <a:r>
              <a:rPr lang="en-US" altLang="zh-CN" dirty="0" err="1"/>
              <a:t>CharRange</a:t>
            </a:r>
            <a:r>
              <a:rPr lang="zh-CN" altLang="en-US" dirty="0"/>
              <a:t>类，这种类型的对象允许用户输入一个字符，然后检验该字符是否位于指定范围（例如，</a:t>
            </a:r>
            <a:r>
              <a:rPr lang="en-US" altLang="zh-CN" dirty="0"/>
              <a:t>‘A’~‘D’</a:t>
            </a:r>
            <a:r>
              <a:rPr lang="zh-CN" altLang="en-US" dirty="0"/>
              <a:t>）之内。当用户输入的字符超出指定范围时，该对象将显示一个出错信息，并等待用户重新输入一个新字符 。</a:t>
            </a:r>
          </a:p>
        </p:txBody>
      </p:sp>
      <p:sp>
        <p:nvSpPr>
          <p:cNvPr id="5120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ABF96F6-B651-42FD-A1B9-AB9AEDF378BF}" type="slidenum">
              <a:rPr lang="zh-CN" altLang="en-US"/>
              <a:t>41</a:t>
            </a:fld>
            <a:endParaRPr lang="zh-CN" alt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3392" y="652185"/>
            <a:ext cx="10363200" cy="1143000"/>
          </a:xfrm>
        </p:spPr>
        <p:txBody>
          <a:bodyPr/>
          <a:lstStyle/>
          <a:p>
            <a:r>
              <a:rPr lang="zh-CN" altLang="en-US" sz="3200" dirty="0"/>
              <a:t>构造函数应用举例</a:t>
            </a:r>
            <a:r>
              <a:rPr lang="en-US" altLang="zh-CN" sz="3200" dirty="0"/>
              <a:t>—</a:t>
            </a:r>
            <a:r>
              <a:rPr lang="zh-CN" altLang="en-US" sz="3200" dirty="0"/>
              <a:t>输入有效的对象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9336" y="193169"/>
            <a:ext cx="11881320" cy="4387959"/>
          </a:xfrm>
          <a:prstGeom prst="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42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9336" y="354136"/>
            <a:ext cx="5184576" cy="4154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CharRange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upper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lower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CharRange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l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lower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upper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    char 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zh-CN" altLang="en-US" dirty="0">
                <a:solidFill>
                  <a:srgbClr val="C10000"/>
                </a:solidFill>
                <a:latin typeface="consolas" panose="020B0609020204030204" pitchFamily="49" charset="0"/>
              </a:rPr>
              <a:t>；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47928" y="354136"/>
            <a:ext cx="6408712" cy="415498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CharRange</a:t>
            </a:r>
            <a:r>
              <a:rPr lang="zh-CN" altLang="en-US" dirty="0">
                <a:solidFill>
                  <a:srgbClr val="008080"/>
                </a:solidFill>
                <a:latin typeface="consolas" panose="020B0609020204030204" pitchFamily="49" charset="0"/>
              </a:rPr>
              <a:t>：：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 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((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toupper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lower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)||(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toupper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)&gt;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upper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"input error("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lower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"-"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upper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":)"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&gt;&gt;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11996" y="4577060"/>
            <a:ext cx="6096000" cy="2308324"/>
          </a:xfrm>
          <a:prstGeom prst="rect">
            <a:avLst/>
          </a:prstGeom>
          <a:solidFill>
            <a:schemeClr val="accent1">
              <a:lumMod val="20000"/>
              <a:lumOff val="80000"/>
              <a:alpha val="57000"/>
            </a:schemeClr>
          </a:solidFill>
          <a:ln>
            <a:solidFill>
              <a:srgbClr val="7030A0"/>
            </a:solidFill>
          </a:ln>
        </p:spPr>
        <p:txBody>
          <a:bodyPr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CharRange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'N'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19336" y="-5910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类：</a:t>
            </a:r>
          </a:p>
        </p:txBody>
      </p:sp>
      <p:sp>
        <p:nvSpPr>
          <p:cNvPr id="9" name="矩形 8"/>
          <p:cNvSpPr/>
          <p:nvPr/>
        </p:nvSpPr>
        <p:spPr>
          <a:xfrm>
            <a:off x="9984432" y="6284342"/>
            <a:ext cx="1728192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8-10(2).cpp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807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5DAB45-B3C0-4993-B9F9-08B123D91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838" y="1124744"/>
            <a:ext cx="10515600" cy="4351338"/>
          </a:xfrm>
        </p:spPr>
        <p:txBody>
          <a:bodyPr/>
          <a:lstStyle/>
          <a:p>
            <a:r>
              <a:rPr lang="en-US" altLang="zh-CN" dirty="0"/>
              <a:t>9.4.7</a:t>
            </a:r>
            <a:r>
              <a:rPr lang="zh-CN" altLang="en-US" dirty="0"/>
              <a:t>构造函数与析构函数总结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1AE822-B0FD-431A-8B52-34CAA05F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43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74A5B0-1A30-4ABE-98DE-5D526F2580C8}"/>
              </a:ext>
            </a:extLst>
          </p:cNvPr>
          <p:cNvSpPr/>
          <p:nvPr/>
        </p:nvSpPr>
        <p:spPr>
          <a:xfrm>
            <a:off x="1127448" y="1859340"/>
            <a:ext cx="993710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</a:rPr>
              <a:t>公有成员函数</a:t>
            </a:r>
            <a:endParaRPr lang="en-US" altLang="zh-CN" dirty="0">
              <a:solidFill>
                <a:srgbClr val="002060"/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</a:rPr>
              <a:t>构造函数（</a:t>
            </a:r>
            <a:r>
              <a:rPr lang="en-US" altLang="zh-CN" dirty="0">
                <a:solidFill>
                  <a:srgbClr val="002060"/>
                </a:solidFill>
              </a:rPr>
              <a:t>constructor</a:t>
            </a:r>
            <a:r>
              <a:rPr lang="zh-CN" altLang="en-US" dirty="0">
                <a:solidFill>
                  <a:srgbClr val="002060"/>
                </a:solidFill>
              </a:rPr>
              <a:t>）负责初始化新对象。</a:t>
            </a:r>
            <a:endParaRPr lang="en-US" altLang="zh-CN" dirty="0">
              <a:solidFill>
                <a:srgbClr val="002060"/>
              </a:solidFill>
            </a:endParaRP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</a:rPr>
              <a:t>析构函数（</a:t>
            </a:r>
            <a:r>
              <a:rPr lang="en-US" altLang="zh-CN" dirty="0">
                <a:solidFill>
                  <a:srgbClr val="002060"/>
                </a:solidFill>
              </a:rPr>
              <a:t>destructor</a:t>
            </a:r>
            <a:r>
              <a:rPr lang="zh-CN" altLang="en-US" dirty="0">
                <a:solidFill>
                  <a:srgbClr val="002060"/>
                </a:solidFill>
              </a:rPr>
              <a:t>）负责在对象生命周期结束，其内存被释放前做清理（</a:t>
            </a:r>
            <a:r>
              <a:rPr lang="en-US" altLang="zh-CN" dirty="0">
                <a:solidFill>
                  <a:srgbClr val="002060"/>
                </a:solidFill>
              </a:rPr>
              <a:t>cleanup</a:t>
            </a:r>
            <a:r>
              <a:rPr lang="zh-CN" altLang="en-US" dirty="0">
                <a:solidFill>
                  <a:srgbClr val="002060"/>
                </a:solidFill>
              </a:rPr>
              <a:t>）工作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9922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6EF4C9-8B76-4AF7-A4E6-517D5727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620688"/>
            <a:ext cx="10515600" cy="4351338"/>
          </a:xfrm>
        </p:spPr>
        <p:txBody>
          <a:bodyPr/>
          <a:lstStyle/>
          <a:p>
            <a:r>
              <a:rPr lang="zh-CN" altLang="en-US" dirty="0"/>
              <a:t>例：</a:t>
            </a:r>
            <a:r>
              <a:rPr lang="en-US" altLang="zh-CN" dirty="0"/>
              <a:t>Fish </a:t>
            </a:r>
            <a:r>
              <a:rPr lang="zh-CN" altLang="en-US" dirty="0"/>
              <a:t>的类，设计了特殊的构造及析构函数，以便演示对象的构造和析构函数的“调用”方法。</a:t>
            </a: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4750D3-CA2B-4A36-99BD-EAF0C29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44</a:t>
            </a:fld>
            <a:endParaRPr lang="en-US" altLang="zh-CN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28FFC3-B167-42FA-B1F8-FF29556C7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610"/>
          <a:stretch/>
        </p:blipFill>
        <p:spPr>
          <a:xfrm>
            <a:off x="321365" y="1742550"/>
            <a:ext cx="5990659" cy="49830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3DBCD1-9E33-43E3-AEB4-625E096F69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084"/>
          <a:stretch/>
        </p:blipFill>
        <p:spPr>
          <a:xfrm>
            <a:off x="7081479" y="1883711"/>
            <a:ext cx="3692517" cy="182529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835694-357B-4262-9802-CB57A2DEF9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2672"/>
          <a:stretch/>
        </p:blipFill>
        <p:spPr>
          <a:xfrm>
            <a:off x="7104112" y="4365104"/>
            <a:ext cx="3647252" cy="165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30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76401"/>
            <a:ext cx="8153400" cy="463232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600"/>
              <a:t>创建对象数组时，数组中每个元素（对象）都将调用构造函数。 </a:t>
            </a:r>
          </a:p>
          <a:p>
            <a:pPr>
              <a:lnSpc>
                <a:spcPct val="130000"/>
              </a:lnSpc>
            </a:pPr>
            <a:r>
              <a:rPr lang="zh-CN" altLang="en-US" sz="2600"/>
              <a:t>如果没有为数组元素指定显式初始值，数组元素便使用缺省值初始化（调用缺省构造函数）。</a:t>
            </a:r>
          </a:p>
          <a:p>
            <a:pPr>
              <a:lnSpc>
                <a:spcPct val="130000"/>
              </a:lnSpc>
            </a:pPr>
            <a:r>
              <a:rPr lang="zh-CN" altLang="en-US" sz="2600"/>
              <a:t>当数组中每一个对象被删除时，都要调用一次析构函数。</a:t>
            </a:r>
          </a:p>
          <a:p>
            <a:pPr>
              <a:lnSpc>
                <a:spcPct val="130000"/>
              </a:lnSpc>
            </a:pPr>
            <a:r>
              <a:rPr lang="zh-CN" altLang="en-US" sz="2600"/>
              <a:t>例</a:t>
            </a:r>
            <a:r>
              <a:rPr lang="en-US" altLang="zh-CN" sz="2600"/>
              <a:t>8-12</a:t>
            </a:r>
          </a:p>
        </p:txBody>
      </p:sp>
      <p:sp>
        <p:nvSpPr>
          <p:cNvPr id="6041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20CA4FB-0450-462E-8023-ECE37DD27CCE}" type="slidenum">
              <a:rPr lang="zh-CN" altLang="en-US"/>
              <a:t>45</a:t>
            </a:fld>
            <a:endParaRPr lang="zh-CN" alt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533401"/>
            <a:ext cx="10363200" cy="1143000"/>
          </a:xfrm>
        </p:spPr>
        <p:txBody>
          <a:bodyPr/>
          <a:lstStyle/>
          <a:p>
            <a:r>
              <a:rPr lang="en-US" altLang="zh-CN" dirty="0"/>
              <a:t>9.5  </a:t>
            </a:r>
            <a:r>
              <a:rPr lang="zh-CN" altLang="en-US" dirty="0"/>
              <a:t>对象数组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AutoShape 6"/>
          <p:cNvSpPr>
            <a:spLocks noChangeArrowheads="1"/>
          </p:cNvSpPr>
          <p:nvPr/>
        </p:nvSpPr>
        <p:spPr bwMode="auto">
          <a:xfrm>
            <a:off x="6528048" y="6309266"/>
            <a:ext cx="2706514" cy="4318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fontAlgn="t"/>
            <a:r>
              <a:rPr lang="en-US" altLang="zh-CN" sz="2200" dirty="0">
                <a:solidFill>
                  <a:schemeClr val="tx1"/>
                </a:solidFill>
              </a:rPr>
              <a:t>8</a:t>
            </a:r>
            <a:r>
              <a:rPr lang="en-US" altLang="zh-CN" sz="2200">
                <a:solidFill>
                  <a:schemeClr val="tx1"/>
                </a:solidFill>
              </a:rPr>
              <a:t>-12-1</a:t>
            </a:r>
            <a:r>
              <a:rPr lang="en-US" altLang="zh-CN" sz="2200" dirty="0">
                <a:solidFill>
                  <a:schemeClr val="tx1"/>
                </a:solidFill>
              </a:rPr>
              <a:t>.cpp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42045-C6E4-4C1E-B916-B90572BF1289}" type="slidenum">
              <a:rPr lang="zh-CN" altLang="en-US"/>
              <a:t>46</a:t>
            </a:fld>
            <a:endParaRPr lang="en-US" altLang="zh-CN" dirty="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336" y="154191"/>
            <a:ext cx="6096000" cy="6370975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60E7A"/>
                </a:solidFill>
                <a:latin typeface="consolas" panose="020B0609020204030204" pitchFamily="49" charset="0"/>
              </a:rPr>
              <a:t>count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Fish</a:t>
            </a:r>
            <a:b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Fish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660E7A"/>
                </a:solidFill>
                <a:latin typeface="consolas" panose="020B0609020204030204" pitchFamily="49" charset="0"/>
              </a:rPr>
              <a:t>count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660E7A"/>
                </a:solidFill>
                <a:latin typeface="consolas" panose="020B0609020204030204" pitchFamily="49" charset="0"/>
              </a:rPr>
              <a:t>count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"No."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 fish is born."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~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Fish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"No."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 fish is died."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456040" y="260648"/>
            <a:ext cx="5447928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Fish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sfish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"No."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sfish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].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number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 fish is swimming."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22830" y="248285"/>
            <a:ext cx="34671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C16 </a:t>
            </a:r>
            <a:r>
              <a:rPr lang="zh-CN" altLang="en-US" sz="40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对象复制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06145" y="2602230"/>
            <a:ext cx="995045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根据语义，上述第 2 行是把 a 对象的内容复制到 b 对象。当对象的类型是原生数据类型（primitive data type）时，只要把 a 对象的内存内容按比特原封不动地拷贝到 b 对象的内存即可。当对象是自定义的复合类型时，问题则要复杂得多。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05" y="1476375"/>
            <a:ext cx="10968990" cy="83312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0493108-0323-4A04-9A8F-3769F66501D9}"/>
              </a:ext>
            </a:extLst>
          </p:cNvPr>
          <p:cNvSpPr txBox="1">
            <a:spLocks noChangeArrowheads="1"/>
          </p:cNvSpPr>
          <p:nvPr/>
        </p:nvSpPr>
        <p:spPr>
          <a:xfrm>
            <a:off x="2322830" y="7871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/>
              <a:t>9. 6</a:t>
            </a:r>
            <a:r>
              <a:rPr lang="zh-CN" altLang="en-US" b="0"/>
              <a:t>拷贝构造函数</a:t>
            </a:r>
            <a:endParaRPr lang="zh-CN" altLang="en-US" b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37351" y="433585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C16.1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赋值与传值</a:t>
            </a:r>
          </a:p>
        </p:txBody>
      </p: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19810" y="1141095"/>
            <a:ext cx="989012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我们通过下述 C++程序来研究当复合类型对象被赋值或者传值（pass by value）时的复制行为。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C6AF6F0-FB09-4DED-87A0-ABE9611A0A32}"/>
              </a:ext>
            </a:extLst>
          </p:cNvPr>
          <p:cNvSpPr txBox="1">
            <a:spLocks noChangeArrowheads="1"/>
          </p:cNvSpPr>
          <p:nvPr/>
        </p:nvSpPr>
        <p:spPr>
          <a:xfrm>
            <a:off x="2151534" y="92272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9. 6.1</a:t>
            </a:r>
            <a:r>
              <a:rPr lang="zh-CN" altLang="en-US" b="0" dirty="0"/>
              <a:t>拷贝构造函数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E991CC-4502-4E06-8CC5-9394968C3E6A}"/>
              </a:ext>
            </a:extLst>
          </p:cNvPr>
          <p:cNvSpPr/>
          <p:nvPr/>
        </p:nvSpPr>
        <p:spPr>
          <a:xfrm>
            <a:off x="264688" y="1700808"/>
            <a:ext cx="7516787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class Circle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public:int x = 0, y = 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float Radius = 3.2f;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Circle() {cout &lt;&lt; "Circle::Cricle()" &lt;&lt; endl;}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	~Circle() {cout &lt;&lt; "Circle::~Cricle() " &lt;&lt; endl;}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};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void drawcircle(Circle c)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cout &lt;&lt; "x:" &lt;&lt; c.x &lt;&lt; " y:" &lt;&lt; c.y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     &lt;&lt; " radius:" &lt;&lt; c.Radius &lt;&lt; endl;}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DBD1DA-99C6-4D06-B1B2-BCA1AF132AC9}"/>
              </a:ext>
            </a:extLst>
          </p:cNvPr>
          <p:cNvSpPr/>
          <p:nvPr/>
        </p:nvSpPr>
        <p:spPr>
          <a:xfrm>
            <a:off x="7896200" y="1931469"/>
            <a:ext cx="4238264" cy="40934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Circle 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.x = 10;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.y = 15;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.Radius = 3.5;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drawcircle(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);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Circle </a:t>
            </a:r>
            <a:r>
              <a:rPr lang="en-US" altLang="zh-CN" dirty="0">
                <a:solidFill>
                  <a:schemeClr val="tx1"/>
                </a:solidFill>
              </a:rPr>
              <a:t>c2</a:t>
            </a:r>
            <a:r>
              <a:rPr lang="zh-CN" altLang="en-US" dirty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);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//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定义并构建</a:t>
            </a:r>
            <a:r>
              <a:rPr lang="en-US" altLang="zh-CN" sz="2000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Circle </a:t>
            </a:r>
            <a:r>
              <a:rPr lang="en-US" altLang="zh-CN" sz="2000" b="0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类型的对象</a:t>
            </a:r>
            <a:r>
              <a:rPr lang="en-US" altLang="zh-CN" sz="2000" b="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c2，c2对象的内容从c1对象复制</a:t>
            </a:r>
            <a:endParaRPr lang="zh-CN" altLang="en-US" sz="2000" b="0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	Circle </a:t>
            </a:r>
            <a:r>
              <a:rPr lang="en-US" altLang="zh-CN" dirty="0">
                <a:solidFill>
                  <a:schemeClr val="tx1"/>
                </a:solidFill>
              </a:rPr>
              <a:t>c3</a:t>
            </a:r>
            <a:r>
              <a:rPr lang="zh-CN" altLang="en-US" dirty="0">
                <a:solidFill>
                  <a:schemeClr val="tx1"/>
                </a:solidFill>
              </a:rPr>
              <a:t> = </a:t>
            </a:r>
            <a:r>
              <a:rPr lang="en-US" altLang="zh-CN" dirty="0">
                <a:solidFill>
                  <a:schemeClr val="tx1"/>
                </a:solidFill>
              </a:rPr>
              <a:t>c2</a:t>
            </a:r>
            <a:r>
              <a:rPr lang="zh-CN" altLang="en-US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return 0;}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V="1">
            <a:off x="1037590" y="4034790"/>
            <a:ext cx="9493885" cy="228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2">
            <a:extLst>
              <a:ext uri="{FF2B5EF4-FFF2-40B4-BE49-F238E27FC236}">
                <a16:creationId xmlns:a16="http://schemas.microsoft.com/office/drawing/2014/main" id="{11B7F3F1-33FC-4B24-87CD-14946379EF64}"/>
              </a:ext>
            </a:extLst>
          </p:cNvPr>
          <p:cNvSpPr txBox="1">
            <a:spLocks noChangeArrowheads="1"/>
          </p:cNvSpPr>
          <p:nvPr/>
        </p:nvSpPr>
        <p:spPr>
          <a:xfrm>
            <a:off x="2423592" y="5331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9. 6.1</a:t>
            </a:r>
            <a:r>
              <a:rPr lang="zh-CN" altLang="en-US" b="0" dirty="0"/>
              <a:t>拷贝构造函数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32218EE-681C-4805-AAB2-DBFA0A9C7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785" y="1841944"/>
            <a:ext cx="3500831" cy="196366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9F3FD8A-2EC1-4244-9054-640DA25FA873}"/>
              </a:ext>
            </a:extLst>
          </p:cNvPr>
          <p:cNvSpPr txBox="1"/>
          <p:nvPr/>
        </p:nvSpPr>
        <p:spPr>
          <a:xfrm>
            <a:off x="1487488" y="4241111"/>
            <a:ext cx="890397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altLang="zh-C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总共创建了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4 个 Circle 类型的对象，分别是：c1、c2、c3 以及 drawCircle( )的形参对象 x。在执行结果中，我们观察到 4 次析构函数的执行， 但却只观察到构造函数的 1 </a:t>
            </a:r>
            <a:r>
              <a:rPr lang="en-US" altLang="zh-CN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次执行</a:t>
            </a:r>
            <a:r>
              <a:rPr lang="en-US" altLang="zh-CN" b="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6FF591-9E32-410A-88FA-A61843A1A449}"/>
              </a:ext>
            </a:extLst>
          </p:cNvPr>
          <p:cNvSpPr txBox="1"/>
          <p:nvPr/>
        </p:nvSpPr>
        <p:spPr>
          <a:xfrm>
            <a:off x="1332547" y="1252353"/>
            <a:ext cx="890397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zh-CN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程序运行结果：</a:t>
            </a:r>
            <a:endParaRPr lang="en-US" altLang="zh-CN" b="0" dirty="0">
              <a:solidFill>
                <a:schemeClr val="tx1"/>
              </a:solidFill>
              <a:effectLst/>
              <a:latin typeface="Consolas" panose="020B0609020204030204" pitchFamily="49" charset="0"/>
              <a:ea typeface="仿宋" panose="02010609060101010101" pitchFamily="49" charset="-122"/>
              <a:cs typeface="阿里巴巴普惠体 R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B3E733-759D-4DEE-B643-ADF863ED573F}"/>
              </a:ext>
            </a:extLst>
          </p:cNvPr>
          <p:cNvSpPr/>
          <p:nvPr/>
        </p:nvSpPr>
        <p:spPr>
          <a:xfrm>
            <a:off x="1487488" y="5582955"/>
            <a:ext cx="90439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程序所创建的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 4 个 Circle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对象，只有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 c1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是被正常构造的，其余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 c2、c3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以及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 x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  <a:sym typeface="+mn-ea"/>
              </a:rPr>
              <a:t>都是通过拷贝构造函数构造的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237351" y="433585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C16.1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赋值与传值</a:t>
            </a:r>
          </a:p>
        </p:txBody>
      </p: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28725" y="2201606"/>
            <a:ext cx="9890125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拷贝构造函数是一种特殊的构造函数，它通过从其它对象复制数据的方法来初始化对象。</a:t>
            </a:r>
            <a:r>
              <a:rPr lang="en-US" altLang="zh-CN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本例中，c2 对象的构造函数并没有执行，c2 </a:t>
            </a:r>
            <a:r>
              <a:rPr lang="en-US" altLang="zh-CN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事实上是通过拷贝构造函数来完成初始化的。所以代码没有在执行结果中产生输出</a:t>
            </a:r>
            <a:r>
              <a:rPr lang="en-US" altLang="zh-CN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。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B59312F-EC9F-4FFE-BB3A-00EA297D8483}"/>
              </a:ext>
            </a:extLst>
          </p:cNvPr>
          <p:cNvSpPr txBox="1">
            <a:spLocks noChangeArrowheads="1"/>
          </p:cNvSpPr>
          <p:nvPr/>
        </p:nvSpPr>
        <p:spPr>
          <a:xfrm>
            <a:off x="2143125" y="126723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b="0" dirty="0"/>
              <a:t>9. 6.1</a:t>
            </a:r>
            <a:r>
              <a:rPr lang="zh-CN" altLang="en-US" b="0" dirty="0"/>
              <a:t>拷贝构造函数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4780DB-FC29-4886-8E6B-937394A54B63}"/>
              </a:ext>
            </a:extLst>
          </p:cNvPr>
          <p:cNvSpPr/>
          <p:nvPr/>
        </p:nvSpPr>
        <p:spPr>
          <a:xfrm>
            <a:off x="1847528" y="1504832"/>
            <a:ext cx="1945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Circle </a:t>
            </a:r>
            <a:r>
              <a:rPr lang="en-US" altLang="zh-CN" dirty="0">
                <a:solidFill>
                  <a:schemeClr val="tx1"/>
                </a:solidFill>
              </a:rPr>
              <a:t>c2</a:t>
            </a:r>
            <a:r>
              <a:rPr lang="zh-CN" altLang="en-US" dirty="0">
                <a:solidFill>
                  <a:schemeClr val="tx1"/>
                </a:solidFill>
              </a:rPr>
              <a:t>(</a:t>
            </a:r>
            <a:r>
              <a:rPr lang="en-US" altLang="zh-CN" dirty="0">
                <a:solidFill>
                  <a:schemeClr val="tx1"/>
                </a:solidFill>
              </a:rPr>
              <a:t>c1</a:t>
            </a:r>
            <a:r>
              <a:rPr lang="zh-CN" altLang="en-US" dirty="0">
                <a:solidFill>
                  <a:schemeClr val="tx1"/>
                </a:solidFill>
              </a:rPr>
              <a:t>);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12782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379320" y="435323"/>
            <a:ext cx="51956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C</a:t>
            </a:r>
            <a:r>
              <a:rPr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1</a:t>
            </a:r>
            <a:r>
              <a:rPr lang="en-US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6</a:t>
            </a:r>
            <a:r>
              <a:rPr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.2 </a:t>
            </a:r>
            <a:r>
              <a:rPr lang="zh-CN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拷贝</a:t>
            </a:r>
            <a:r>
              <a:rPr lang="en-US" altLang="zh-CN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/</a:t>
            </a:r>
            <a:r>
              <a:rPr lang="zh-CN" altLang="en-US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复制构造</a:t>
            </a:r>
            <a:r>
              <a:rPr lang="zh-CN" sz="32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函数</a:t>
            </a:r>
            <a:endParaRPr lang="en-US" altLang="zh-CN" sz="32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  <a:p>
            <a:pPr algn="l"/>
            <a:endParaRPr lang="en-US" altLang="zh-CN" sz="32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</p:txBody>
      </p: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62" y="334755"/>
            <a:ext cx="793066" cy="79306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81683" y="1349646"/>
            <a:ext cx="85748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7030A0"/>
                </a:solidFill>
              </a:rPr>
              <a:t>复制构造函数</a:t>
            </a:r>
            <a:r>
              <a:rPr lang="zh-CN" altLang="en-US" dirty="0">
                <a:solidFill>
                  <a:schemeClr val="tx1"/>
                </a:solidFill>
              </a:rPr>
              <a:t>：一种特殊的构造函数，用于在建立新对象时将已存在的数据成员值复制给新对象。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类名（类名 </a:t>
            </a:r>
            <a:r>
              <a:rPr lang="en-US" altLang="zh-CN" dirty="0">
                <a:solidFill>
                  <a:srgbClr val="FF0000"/>
                </a:solidFill>
              </a:rPr>
              <a:t>&amp; </a:t>
            </a:r>
            <a:r>
              <a:rPr lang="zh-CN" altLang="en-US" dirty="0">
                <a:solidFill>
                  <a:srgbClr val="FF0000"/>
                </a:solidFill>
              </a:rPr>
              <a:t>对象名）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{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。。。。。。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}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49958" y="4945349"/>
            <a:ext cx="7079718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调用拷贝构造函数一般是下面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种情况：</a:t>
            </a:r>
            <a:endParaRPr lang="en-US" altLang="zh-C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7030A0"/>
                </a:solidFill>
              </a:rPr>
              <a:t>当用类的一个对象初始化该项的另一个对象时。</a:t>
            </a:r>
            <a:endParaRPr lang="en-US" altLang="zh-CN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7030A0"/>
                </a:solidFill>
              </a:rPr>
              <a:t>如果函数的形参是类的对象</a:t>
            </a:r>
            <a:endParaRPr lang="en-US" altLang="zh-CN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7030A0"/>
                </a:solidFill>
              </a:rPr>
              <a:t>如果的返回值 是类的对象。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8BF7FFE-A944-4DE5-A2D9-62AED25A7DE5}"/>
              </a:ext>
            </a:extLst>
          </p:cNvPr>
          <p:cNvSpPr txBox="1">
            <a:spLocks noChangeArrowheads="1"/>
          </p:cNvSpPr>
          <p:nvPr/>
        </p:nvSpPr>
        <p:spPr>
          <a:xfrm>
            <a:off x="2143125" y="126723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 dirty="0"/>
              <a:t>9. 6.2</a:t>
            </a:r>
            <a:r>
              <a:rPr lang="zh-CN" altLang="en-US" sz="3600" b="0" dirty="0"/>
              <a:t>拷贝构造函数的声明</a:t>
            </a:r>
          </a:p>
        </p:txBody>
      </p:sp>
    </p:spTree>
    <p:extLst>
      <p:ext uri="{BB962C8B-B14F-4D97-AF65-F5344CB8AC3E}">
        <p14:creationId xmlns:p14="http://schemas.microsoft.com/office/powerpoint/2010/main" val="41346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7" y="144206"/>
            <a:ext cx="914400" cy="914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13155" y="1175385"/>
            <a:ext cx="940689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</a:t>
            </a:r>
            <a:r>
              <a:rPr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给前</a:t>
            </a:r>
            <a:r>
              <a:rPr lang="zh-CN" altLang="en-US" sz="2000" dirty="0">
                <a:solidFill>
                  <a:schemeClr val="tx1"/>
                </a:solidFill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面</a:t>
            </a:r>
            <a:r>
              <a:rPr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的 Circle </a:t>
            </a:r>
            <a:r>
              <a:rPr sz="20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类型添加拷贝构造函数，来观察拷贝构造的执行过程</a:t>
            </a:r>
            <a:r>
              <a:rPr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。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5254283-7001-427C-A396-D8E697DB37BB}"/>
              </a:ext>
            </a:extLst>
          </p:cNvPr>
          <p:cNvSpPr txBox="1">
            <a:spLocks noChangeArrowheads="1"/>
          </p:cNvSpPr>
          <p:nvPr/>
        </p:nvSpPr>
        <p:spPr>
          <a:xfrm>
            <a:off x="2423592" y="5331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 dirty="0"/>
              <a:t>9. 6.2</a:t>
            </a:r>
            <a:r>
              <a:rPr lang="zh-CN" altLang="en-US" sz="3600" b="0" dirty="0"/>
              <a:t>拷贝构造函数的声明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7D0868-1762-4042-B53C-E75D9CA81C24}"/>
              </a:ext>
            </a:extLst>
          </p:cNvPr>
          <p:cNvSpPr/>
          <p:nvPr/>
        </p:nvSpPr>
        <p:spPr>
          <a:xfrm>
            <a:off x="256154" y="1614485"/>
            <a:ext cx="8181547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class Circle 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{public:int x = 0, y = 0;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float Radius = 3.2f;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Circle() {cout &lt;&lt; "Circle::Cricle()" &lt;&lt; endl;}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~Circle() {cout &lt;&lt; "Circle::~Cricle() " &lt;&lt; endl;}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Circle(Circle &amp;r) {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x = r.x;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y = r.y;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Radius = r.Radius;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cout &lt;&lt; "Circle::Cricle(Circle &amp;r)" &lt;&lt; endl;}};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void drawcircle(Circle c) {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cout &lt;&lt; "x:" &lt;&lt; c.x &lt;&lt; " y:" &lt;&lt; c.y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     &lt;&lt; " radius:" &lt;&lt; c.Radius &lt;&lt; endl;}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5C5FEC-39FC-488E-AA04-94C623214267}"/>
              </a:ext>
            </a:extLst>
          </p:cNvPr>
          <p:cNvSpPr/>
          <p:nvPr/>
        </p:nvSpPr>
        <p:spPr>
          <a:xfrm>
            <a:off x="8645780" y="2360770"/>
            <a:ext cx="3300199" cy="34163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Circle c1;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c1.x = 10;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c1.y = 15;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c1.Radius = 3.5;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drawcircle(c1);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Circle c2(c1);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Circle c3 = c2;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	return 0;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05860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01C1B30-D210-45D7-BCF0-E246EE54C986}"/>
              </a:ext>
            </a:extLst>
          </p:cNvPr>
          <p:cNvSpPr txBox="1">
            <a:spLocks noChangeArrowheads="1"/>
          </p:cNvSpPr>
          <p:nvPr/>
        </p:nvSpPr>
        <p:spPr>
          <a:xfrm>
            <a:off x="2423592" y="5331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zh-CN" sz="3600" b="0" dirty="0"/>
              <a:t>9. 6.2</a:t>
            </a:r>
            <a:r>
              <a:rPr lang="zh-CN" altLang="en-US" sz="3600" b="0" dirty="0"/>
              <a:t>拷贝构造函数的声明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9E170E-D4DF-43FC-995C-745F186D3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1556792"/>
            <a:ext cx="4232846" cy="29523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96B5FCD-D8C8-4234-8F04-694FA6550C16}"/>
              </a:ext>
            </a:extLst>
          </p:cNvPr>
          <p:cNvSpPr txBox="1"/>
          <p:nvPr/>
        </p:nvSpPr>
        <p:spPr>
          <a:xfrm>
            <a:off x="1228725" y="4797152"/>
            <a:ext cx="8319770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   </a:t>
            </a:r>
            <a:r>
              <a:rPr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上述事实提醒我们，</a:t>
            </a:r>
            <a:r>
              <a:rPr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对于非原始数据类型，在传参时应尽量传递常量型引用，而不是传值</a:t>
            </a:r>
            <a:r>
              <a:rPr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。因为传值本身会带来至少两次额外的函数调用：拷贝构造以及析构。当对象本身较大时，例如包含一幅图像的对象，传值的代价非常高。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228725" y="1127821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6472" y="1083244"/>
            <a:ext cx="9442016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以下程序</a:t>
            </a:r>
            <a:r>
              <a:rPr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没有为</a:t>
            </a:r>
            <a:r>
              <a:rPr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 Circle 类型定义拷贝构造函数，但从程序执行结果看，对象仍然获得了正确的复制。</a:t>
            </a:r>
            <a:r>
              <a:rPr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当自定义类型没有定义拷贝构造函数时，编译器会为其生成一个默认的拷贝构造函数</a:t>
            </a:r>
            <a:r>
              <a:rPr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，该拷贝构造函数会：</a:t>
            </a:r>
            <a:r>
              <a:rPr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逐一通过拷贝构造来复制对象的全部成员对象及父对象；</a:t>
            </a:r>
            <a:r>
              <a:rPr b="1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当成员对象是原生数据类型时，则按比特复制</a:t>
            </a:r>
            <a:r>
              <a:rPr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仿宋" panose="02010609060101010101" pitchFamily="49" charset="-122"/>
                <a:cs typeface="阿里巴巴普惠体 R" panose="00020600040101010101" pitchFamily="18" charset="-122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88D629-93C7-4BA5-8015-F3FD9BBEB9FF}"/>
              </a:ext>
            </a:extLst>
          </p:cNvPr>
          <p:cNvSpPr/>
          <p:nvPr/>
        </p:nvSpPr>
        <p:spPr>
          <a:xfrm>
            <a:off x="723963" y="3022236"/>
            <a:ext cx="7516787" cy="353943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#include &lt;iostream&gt;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using namespace std;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class Circle {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public:int x = 0, y = 0;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float Radius = 3.2f;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Circle() {cout &lt;&lt; "Circle::Cricle()" &lt;&lt; endl;}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	~Circle() {cout &lt;&lt; "Circle::~Cricle() " &lt;&lt; endl;}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};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void drawcircle(Circle c) {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cout &lt;&lt; "x:" &lt;&lt; c.x &lt;&lt; " y:" &lt;&lt; c.y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     &lt;&lt; " radius:" &lt;&lt; c.Radius &lt;&lt; endl;}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638A-BC88-4EC5-B746-47E8E9A26AA0}"/>
              </a:ext>
            </a:extLst>
          </p:cNvPr>
          <p:cNvSpPr/>
          <p:nvPr/>
        </p:nvSpPr>
        <p:spPr>
          <a:xfrm>
            <a:off x="8688288" y="3205205"/>
            <a:ext cx="2937001" cy="28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Circle 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.x = 10;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.y = 15;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.Radius = 3.5;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drawcircle(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);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Circle </a:t>
            </a:r>
            <a:r>
              <a:rPr lang="en-US" altLang="zh-CN" sz="2000" dirty="0">
                <a:solidFill>
                  <a:schemeClr val="tx1"/>
                </a:solidFill>
              </a:rPr>
              <a:t>c2</a:t>
            </a:r>
            <a:r>
              <a:rPr lang="zh-CN" altLang="en-US" sz="2000" dirty="0">
                <a:solidFill>
                  <a:schemeClr val="tx1"/>
                </a:solidFill>
              </a:rPr>
              <a:t>(</a:t>
            </a:r>
            <a:r>
              <a:rPr lang="en-US" altLang="zh-CN" sz="2000" dirty="0">
                <a:solidFill>
                  <a:schemeClr val="tx1"/>
                </a:solidFill>
              </a:rPr>
              <a:t>c1</a:t>
            </a:r>
            <a:r>
              <a:rPr lang="zh-CN" altLang="en-US" sz="2000" dirty="0">
                <a:solidFill>
                  <a:schemeClr val="tx1"/>
                </a:solidFill>
              </a:rPr>
              <a:t>);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	Circle </a:t>
            </a:r>
            <a:r>
              <a:rPr lang="en-US" altLang="zh-CN" sz="2000" dirty="0">
                <a:solidFill>
                  <a:schemeClr val="tx1"/>
                </a:solidFill>
              </a:rPr>
              <a:t>c3</a:t>
            </a:r>
            <a:r>
              <a:rPr lang="zh-CN" altLang="en-US" sz="2000" dirty="0">
                <a:solidFill>
                  <a:schemeClr val="tx1"/>
                </a:solidFill>
              </a:rPr>
              <a:t> = </a:t>
            </a:r>
            <a:r>
              <a:rPr lang="en-US" altLang="zh-CN" sz="2000" dirty="0">
                <a:solidFill>
                  <a:schemeClr val="tx1"/>
                </a:solidFill>
              </a:rPr>
              <a:t>c2</a:t>
            </a:r>
            <a:r>
              <a:rPr lang="zh-CN" altLang="en-US" sz="2000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	return 0;}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44D885-F2E6-4235-B33C-59B21F98CB03}"/>
              </a:ext>
            </a:extLst>
          </p:cNvPr>
          <p:cNvSpPr txBox="1"/>
          <p:nvPr/>
        </p:nvSpPr>
        <p:spPr>
          <a:xfrm>
            <a:off x="2495600" y="383900"/>
            <a:ext cx="4583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9.6</a:t>
            </a:r>
            <a:r>
              <a:rPr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.</a:t>
            </a:r>
            <a:r>
              <a:rPr 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3</a:t>
            </a:r>
            <a:r>
              <a:rPr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默认拷贝构造函数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7351" y="4335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课堂练习</a:t>
            </a:r>
            <a:endParaRPr 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63352" y="433585"/>
            <a:ext cx="6422794" cy="52322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1.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下列那个代码不会调用对象的拷贝构造函数（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  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 ）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MyClass a;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宋体" panose="02010600030101010101" pitchFamily="2" charset="-122"/>
              </a:rPr>
              <a:t>MyClass b=a;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B.</a:t>
            </a: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MyClass a;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latin typeface="宋体" panose="02010600030101010101" pitchFamily="2" charset="-122"/>
              </a:rPr>
              <a:t>MyClass </a:t>
            </a:r>
            <a:r>
              <a:rPr lang="zh-CN" altLang="zh-CN" sz="2000" b="1" dirty="0">
                <a:latin typeface="宋体" panose="02010600030101010101" pitchFamily="2" charset="-122"/>
              </a:rPr>
              <a:t>b</a:t>
            </a:r>
            <a:r>
              <a:rPr lang="zh-CN" altLang="zh-CN" sz="2000" dirty="0">
                <a:latin typeface="宋体" panose="02010600030101010101" pitchFamily="2" charset="-122"/>
              </a:rPr>
              <a:t>(</a:t>
            </a:r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a);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C.</a:t>
            </a:r>
            <a:endParaRPr lang="zh-CN" altLang="zh-CN" sz="2000" dirty="0"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MyClass a;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MyClass b;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b=a;</a:t>
            </a:r>
            <a:endParaRPr lang="zh-CN" altLang="zh-CN" sz="2000" dirty="0"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D.</a:t>
            </a:r>
          </a:p>
          <a:p>
            <a:pPr lvl="0"/>
            <a:r>
              <a:rPr lang="zh-CN" altLang="zh-CN" sz="2000" b="1" dirty="0">
                <a:solidFill>
                  <a:srgbClr val="333333"/>
                </a:solidFill>
                <a:latin typeface="宋体" panose="02010600030101010101" pitchFamily="2" charset="-122"/>
              </a:rPr>
              <a:t>void</a:t>
            </a:r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 </a:t>
            </a:r>
            <a:r>
              <a:rPr lang="zh-CN" altLang="zh-CN" sz="2000" b="1" dirty="0">
                <a:solidFill>
                  <a:srgbClr val="990000"/>
                </a:solidFill>
                <a:latin typeface="宋体" panose="02010600030101010101" pitchFamily="2" charset="-122"/>
              </a:rPr>
              <a:t>f</a:t>
            </a:r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(MyClass obj)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{ .... }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MyClass a; </a:t>
            </a:r>
            <a:endParaRPr lang="en-US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f(a);</a:t>
            </a:r>
            <a:endParaRPr lang="zh-CN" altLang="zh-CN" sz="2000" dirty="0">
              <a:latin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28138" y="158902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6395142" y="1587371"/>
            <a:ext cx="5603957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2.</a:t>
            </a:r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下列种类的函数中，哪种不是类的成员函数？</a:t>
            </a:r>
            <a:r>
              <a:rPr lang="zh-CN" altLang="en-US" sz="2000" dirty="0">
                <a:solidFill>
                  <a:srgbClr val="404040"/>
                </a:solidFill>
                <a:latin typeface="宋体" panose="02010600030101010101" pitchFamily="2" charset="-122"/>
              </a:rPr>
              <a:t>（   ）</a:t>
            </a:r>
            <a:endParaRPr lang="zh-CN" altLang="zh-CN" sz="2000" dirty="0">
              <a:solidFill>
                <a:srgbClr val="404040"/>
              </a:solidFill>
              <a:latin typeface="宋体" panose="02010600030101010101" pitchFamily="2" charset="-122"/>
            </a:endParaRPr>
          </a:p>
          <a:p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A.构造函数</a:t>
            </a:r>
          </a:p>
          <a:p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B.析构函数</a:t>
            </a:r>
          </a:p>
          <a:p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C.友元函数</a:t>
            </a:r>
          </a:p>
          <a:p>
            <a:r>
              <a:rPr lang="zh-CN" altLang="zh-CN" sz="2000" dirty="0">
                <a:solidFill>
                  <a:srgbClr val="404040"/>
                </a:solidFill>
                <a:latin typeface="宋体" panose="02010600030101010101" pitchFamily="2" charset="-122"/>
              </a:rPr>
              <a:t>D.拷贝构造函数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1660545" y="177368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6260123" y="1266092"/>
            <a:ext cx="0" cy="4984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5D523210-BF46-494F-A8D7-A8A4ACE8455D}"/>
              </a:ext>
            </a:extLst>
          </p:cNvPr>
          <p:cNvSpPr/>
          <p:nvPr/>
        </p:nvSpPr>
        <p:spPr>
          <a:xfrm>
            <a:off x="2097308" y="5496476"/>
            <a:ext cx="2274469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Excercise1.cpp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19FBC2-D16A-457C-B176-6575D8331D43}"/>
              </a:ext>
            </a:extLst>
          </p:cNvPr>
          <p:cNvSpPr txBox="1"/>
          <p:nvPr/>
        </p:nvSpPr>
        <p:spPr>
          <a:xfrm>
            <a:off x="6746577" y="183749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C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CB62C1-2CEC-41DB-ACAE-4EF66024C0B8}"/>
              </a:ext>
            </a:extLst>
          </p:cNvPr>
          <p:cNvSpPr txBox="1"/>
          <p:nvPr/>
        </p:nvSpPr>
        <p:spPr>
          <a:xfrm>
            <a:off x="5612557" y="43358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C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7351" y="4335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课堂练习</a:t>
            </a:r>
            <a:endParaRPr 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662027" y="234415"/>
            <a:ext cx="6297809" cy="62170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effectLst/>
                <a:latin typeface="宋体" panose="02010600030101010101" pitchFamily="2" charset="-122"/>
              </a:rPr>
              <a:t>3.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effectLst/>
                <a:latin typeface="宋体" panose="02010600030101010101" pitchFamily="2" charset="-122"/>
              </a:rPr>
              <a:t>下列那个代码不会调用对象的拷贝构造函数（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effectLst/>
                <a:latin typeface="宋体" panose="02010600030101010101" pitchFamily="2" charset="-122"/>
              </a:rPr>
              <a:t>   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effectLst/>
                <a:latin typeface="宋体" panose="02010600030101010101" pitchFamily="2" charset="-122"/>
              </a:rPr>
              <a:t> 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effectLst/>
                <a:latin typeface="宋体" panose="02010600030101010101" pitchFamily="2" charset="-122"/>
              </a:rPr>
              <a:t>A.</a:t>
            </a: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a;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*pa=&amp;a;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b=*pa;</a:t>
            </a:r>
            <a:r>
              <a:rPr lang="zh-CN" altLang="zh-CN" sz="1600" dirty="0">
                <a:latin typeface="宋体" panose="02010600030101010101" pitchFamily="2" charset="-122"/>
              </a:rPr>
              <a:t> </a:t>
            </a:r>
            <a:endParaRPr lang="zh-CN" altLang="zh-CN" sz="4400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B.</a:t>
            </a: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a;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b(a); </a:t>
            </a:r>
            <a:endParaRPr lang="en-US" altLang="zh-CN" dirty="0">
              <a:latin typeface="宋体" panose="02010600030101010101" pitchFamily="2" charset="-122"/>
            </a:endParaRPr>
          </a:p>
          <a:p>
            <a:r>
              <a:rPr lang="zh-CN" altLang="zh-CN" dirty="0">
                <a:latin typeface="宋体" panose="02010600030101010101" pitchFamily="2" charset="-122"/>
              </a:rPr>
              <a:t>C.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en-US" altLang="zh-CN" dirty="0" err="1">
                <a:latin typeface="宋体" panose="02010600030101010101" pitchFamily="2" charset="-122"/>
              </a:rPr>
              <a:t>MyClass</a:t>
            </a:r>
            <a:r>
              <a:rPr lang="en-US" altLang="zh-CN" dirty="0">
                <a:latin typeface="宋体" panose="02010600030101010101" pitchFamily="2" charset="-122"/>
              </a:rPr>
              <a:t> a; </a:t>
            </a:r>
          </a:p>
          <a:p>
            <a:r>
              <a:rPr lang="en-US" altLang="zh-CN" dirty="0" err="1">
                <a:latin typeface="宋体" panose="02010600030101010101" pitchFamily="2" charset="-122"/>
              </a:rPr>
              <a:t>MyClass</a:t>
            </a:r>
            <a:r>
              <a:rPr lang="en-US" altLang="zh-CN" dirty="0">
                <a:latin typeface="宋体" panose="02010600030101010101" pitchFamily="2" charset="-122"/>
              </a:rPr>
              <a:t>&amp; b=a;</a:t>
            </a:r>
          </a:p>
          <a:p>
            <a:r>
              <a:rPr lang="zh-CN" altLang="zh-CN" dirty="0">
                <a:latin typeface="宋体" panose="02010600030101010101" pitchFamily="2" charset="-122"/>
              </a:rPr>
              <a:t>D.</a:t>
            </a: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void f(MyClass obj)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{ .... }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MyClass a; 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0"/>
            <a:r>
              <a:rPr lang="zh-CN" altLang="zh-CN" dirty="0">
                <a:latin typeface="宋体" panose="02010600030101010101" pitchFamily="2" charset="-122"/>
              </a:rPr>
              <a:t>f(a);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i="0" u="none" strike="noStrike" cap="none" normalizeH="0" baseline="0" dirty="0">
              <a:ln>
                <a:noFill/>
              </a:ln>
              <a:effectLst/>
              <a:latin typeface="宋体" panose="02010600030101010101" pitchFamily="2" charset="-122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60073" y="153033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6901961" y="1389184"/>
            <a:ext cx="0" cy="4984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948004" y="2492896"/>
            <a:ext cx="5251759" cy="2345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0" dirty="0">
                <a:solidFill>
                  <a:srgbClr val="404040"/>
                </a:solidFill>
                <a:ea typeface="Harmony"/>
              </a:rPr>
              <a:t>4.</a:t>
            </a: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下面关于C++类的描述哪些是错误的：(</a:t>
            </a:r>
            <a:r>
              <a:rPr lang="en-US" altLang="zh-CN" sz="2000" b="0" dirty="0">
                <a:solidFill>
                  <a:srgbClr val="404040"/>
                </a:solidFill>
                <a:ea typeface="Harmony"/>
              </a:rPr>
              <a:t>     </a:t>
            </a: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A.任何一个类都有构造函数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B.可以没有构造函数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C.可以有拷贝构造函数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000" b="0" dirty="0">
                <a:solidFill>
                  <a:srgbClr val="404040"/>
                </a:solidFill>
                <a:ea typeface="Harmony"/>
              </a:rPr>
              <a:t>D.可以包含多个构造函数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246533" y="272506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E89F27-74BC-48A4-ABA2-9DB9687918D0}"/>
              </a:ext>
            </a:extLst>
          </p:cNvPr>
          <p:cNvSpPr txBox="1"/>
          <p:nvPr/>
        </p:nvSpPr>
        <p:spPr>
          <a:xfrm>
            <a:off x="6156331" y="17072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C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6F57337-1BBA-485E-8F75-E66AB24C1F91}"/>
              </a:ext>
            </a:extLst>
          </p:cNvPr>
          <p:cNvSpPr txBox="1"/>
          <p:nvPr/>
        </p:nvSpPr>
        <p:spPr>
          <a:xfrm>
            <a:off x="11570974" y="2512141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B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04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08E849B-8AF5-47BC-9DD7-1FBB03FA5389}" type="slidenum">
              <a:rPr lang="zh-CN" altLang="en-US"/>
              <a:t>57</a:t>
            </a:fld>
            <a:endParaRPr lang="zh-CN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557213"/>
            <a:ext cx="8458200" cy="1143000"/>
          </a:xfrm>
        </p:spPr>
        <p:txBody>
          <a:bodyPr/>
          <a:lstStyle/>
          <a:p>
            <a:r>
              <a:rPr lang="en-US" altLang="zh-CN" sz="4400" dirty="0"/>
              <a:t>9. 7</a:t>
            </a:r>
            <a:r>
              <a:rPr lang="zh-CN" altLang="en-US" sz="4400" dirty="0"/>
              <a:t>对象指针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965DB-01D2-4A01-9CE3-DEB3EF1D6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286"/>
            <a:ext cx="10515600" cy="4351338"/>
          </a:xfrm>
        </p:spPr>
        <p:txBody>
          <a:bodyPr/>
          <a:lstStyle/>
          <a:p>
            <a:r>
              <a:rPr lang="zh-CN" altLang="en-US" dirty="0"/>
              <a:t>隐藏的</a:t>
            </a:r>
            <a:r>
              <a:rPr lang="en-US" altLang="zh-CN" dirty="0"/>
              <a:t>this</a:t>
            </a:r>
            <a:r>
              <a:rPr lang="zh-CN" altLang="en-US" dirty="0"/>
              <a:t>指针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AC34D9-5446-4167-8244-B63A9ACF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70" y="324225"/>
            <a:ext cx="6711769" cy="28961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7A5B9D-7BCE-4628-8C4F-E9A213B31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70" y="3453387"/>
            <a:ext cx="6508603" cy="3035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D99E4F-47E1-463A-ACE6-4686FF30D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2348880"/>
            <a:ext cx="3816077" cy="27922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E3EA21C-D52D-438B-A381-429A79D9F5A4}"/>
              </a:ext>
            </a:extLst>
          </p:cNvPr>
          <p:cNvSpPr/>
          <p:nvPr/>
        </p:nvSpPr>
        <p:spPr>
          <a:xfrm>
            <a:off x="361072" y="5118855"/>
            <a:ext cx="457630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chemeClr val="tx1"/>
                </a:solidFill>
              </a:rPr>
              <a:t>类型的每一个成员函数（静态成员函数除外），包括构造函数，都包含一个隐藏的名为 </a:t>
            </a:r>
            <a:r>
              <a:rPr lang="en-US" altLang="zh-CN" sz="2000" b="0" dirty="0">
                <a:solidFill>
                  <a:schemeClr val="tx1"/>
                </a:solidFill>
              </a:rPr>
              <a:t>this </a:t>
            </a:r>
            <a:r>
              <a:rPr lang="zh-CN" altLang="en-US" sz="2000" b="0" dirty="0">
                <a:solidFill>
                  <a:schemeClr val="tx1"/>
                </a:solidFill>
              </a:rPr>
              <a:t>的形式参数，这个 </a:t>
            </a:r>
            <a:r>
              <a:rPr lang="en-US" altLang="zh-CN" sz="2000" b="0" dirty="0">
                <a:solidFill>
                  <a:schemeClr val="tx1"/>
                </a:solidFill>
              </a:rPr>
              <a:t>this </a:t>
            </a:r>
            <a:r>
              <a:rPr lang="zh-CN" altLang="en-US" sz="2000" b="0" dirty="0">
                <a:solidFill>
                  <a:schemeClr val="tx1"/>
                </a:solidFill>
              </a:rPr>
              <a:t>参数为指向该类型的指针，用于指明被执行该成员函数的对象。</a:t>
            </a:r>
          </a:p>
        </p:txBody>
      </p:sp>
    </p:spTree>
    <p:extLst>
      <p:ext uri="{BB962C8B-B14F-4D97-AF65-F5344CB8AC3E}">
        <p14:creationId xmlns:p14="http://schemas.microsoft.com/office/powerpoint/2010/main" val="10033225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FC2019-D80C-44EA-852A-F2AC4479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052736"/>
            <a:ext cx="10515600" cy="4351338"/>
          </a:xfrm>
        </p:spPr>
        <p:txBody>
          <a:bodyPr/>
          <a:lstStyle/>
          <a:p>
            <a:r>
              <a:rPr lang="zh-CN" altLang="en-US" dirty="0"/>
              <a:t>动态对象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85CAC3-A944-4002-8CA8-BD1B5996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BBCD9-B1AB-44B6-8F0A-97C9B58E303C}" type="slidenum">
              <a:rPr lang="zh-CN" altLang="en-US" smtClean="0"/>
              <a:t>58</a:t>
            </a:fld>
            <a:endParaRPr lang="en-US" altLang="zh-CN">
              <a:solidFill>
                <a:srgbClr val="FFFFFF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9D10FC5-2A5F-44A1-B69D-DF521B640867}"/>
              </a:ext>
            </a:extLst>
          </p:cNvPr>
          <p:cNvGrpSpPr/>
          <p:nvPr/>
        </p:nvGrpSpPr>
        <p:grpSpPr>
          <a:xfrm>
            <a:off x="0" y="1617775"/>
            <a:ext cx="5663952" cy="4907569"/>
            <a:chOff x="1228725" y="2626392"/>
            <a:chExt cx="4657251" cy="38179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6D8C2CF-BA21-46D6-9890-FAC2E27650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7418"/>
            <a:stretch/>
          </p:blipFill>
          <p:spPr>
            <a:xfrm>
              <a:off x="1228725" y="2626392"/>
              <a:ext cx="4657251" cy="191278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4259AEA-0A97-428F-95C1-B1D5C7394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7418"/>
            <a:stretch/>
          </p:blipFill>
          <p:spPr>
            <a:xfrm>
              <a:off x="1228725" y="4539178"/>
              <a:ext cx="4657251" cy="1905165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13D76944-5FB3-48B5-80E1-7F5AE32262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30010"/>
          <a:stretch/>
        </p:blipFill>
        <p:spPr>
          <a:xfrm>
            <a:off x="5640338" y="1780823"/>
            <a:ext cx="6504334" cy="449254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F719DB-178D-4070-A6F3-32376A8330EB}"/>
              </a:ext>
            </a:extLst>
          </p:cNvPr>
          <p:cNvCxnSpPr>
            <a:cxnSpLocks/>
          </p:cNvCxnSpPr>
          <p:nvPr/>
        </p:nvCxnSpPr>
        <p:spPr>
          <a:xfrm>
            <a:off x="5640338" y="1780823"/>
            <a:ext cx="0" cy="5077177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636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08E849B-8AF5-47BC-9DD7-1FBB03FA5389}" type="slidenum">
              <a:rPr lang="zh-CN" altLang="en-US"/>
              <a:t>59</a:t>
            </a:fld>
            <a:endParaRPr lang="zh-CN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5400" y="557213"/>
            <a:ext cx="8458200" cy="1143000"/>
          </a:xfrm>
        </p:spPr>
        <p:txBody>
          <a:bodyPr/>
          <a:lstStyle/>
          <a:p>
            <a:r>
              <a:rPr lang="en-US" altLang="zh-CN" sz="4400" dirty="0"/>
              <a:t>9. 8</a:t>
            </a:r>
            <a:r>
              <a:rPr lang="zh-CN" altLang="en-US" sz="4400" dirty="0"/>
              <a:t>类的特殊成员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965DB-01D2-4A01-9CE3-DEB3EF1D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静态成员</a:t>
            </a:r>
            <a:endParaRPr lang="en-US" altLang="zh-CN" dirty="0"/>
          </a:p>
          <a:p>
            <a:r>
              <a:rPr lang="zh-CN" altLang="en-US" dirty="0"/>
              <a:t>常成员</a:t>
            </a:r>
          </a:p>
        </p:txBody>
      </p:sp>
    </p:spTree>
    <p:extLst>
      <p:ext uri="{BB962C8B-B14F-4D97-AF65-F5344CB8AC3E}">
        <p14:creationId xmlns:p14="http://schemas.microsoft.com/office/powerpoint/2010/main" val="41842079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内容占位符 2"/>
          <p:cNvSpPr txBox="1">
            <a:spLocks/>
          </p:cNvSpPr>
          <p:nvPr/>
        </p:nvSpPr>
        <p:spPr>
          <a:xfrm>
            <a:off x="904240" y="1710127"/>
            <a:ext cx="9794240" cy="1458611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+mn-ea"/>
              </a:rPr>
              <a:t>用来解决同一个类的不同对象之间数据和函数的共享问题</a:t>
            </a:r>
            <a:endParaRPr lang="en-US" altLang="zh-CN" sz="2400" dirty="0">
              <a:latin typeface="+mn-ea"/>
            </a:endParaRPr>
          </a:p>
          <a:p>
            <a:pPr marL="1200150" lvl="2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类的静态数据成员</a:t>
            </a:r>
            <a:endParaRPr lang="en-US" altLang="zh-CN" sz="2400" dirty="0">
              <a:latin typeface="+mn-ea"/>
            </a:endParaRPr>
          </a:p>
          <a:p>
            <a:pPr marL="1200150" lvl="2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类的静态成员函数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79576" y="559949"/>
            <a:ext cx="3640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9.8.1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类的静态成员</a:t>
            </a:r>
          </a:p>
        </p:txBody>
      </p:sp>
      <p:pic>
        <p:nvPicPr>
          <p:cNvPr id="9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3143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3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内容占位符 2"/>
          <p:cNvSpPr txBox="1">
            <a:spLocks/>
          </p:cNvSpPr>
          <p:nvPr/>
        </p:nvSpPr>
        <p:spPr>
          <a:xfrm>
            <a:off x="975360" y="2519681"/>
            <a:ext cx="9885680" cy="3251200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宋体" charset="-122"/>
              </a:rPr>
              <a:t>静态数据成员是类的数据成员的一种特例</a:t>
            </a:r>
            <a:endParaRPr lang="en-US" altLang="zh-CN" sz="2400" dirty="0">
              <a:latin typeface="Times New Roman" pitchFamily="18" charset="0"/>
              <a:ea typeface="宋体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宋体" charset="-122"/>
              </a:rPr>
              <a:t>类的数据成员在类的每一个对象中分别存储不同的数值，但是静态数据成员在</a:t>
            </a:r>
            <a:r>
              <a:rPr lang="zh-CN" altLang="zh-CN" sz="2400" dirty="0">
                <a:solidFill>
                  <a:srgbClr val="FF0000"/>
                </a:solidFill>
              </a:rPr>
              <a:t>每个类只有一个副本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由</a:t>
            </a:r>
            <a:r>
              <a:rPr lang="zh-CN" altLang="en-US" sz="2400" dirty="0">
                <a:solidFill>
                  <a:srgbClr val="FF0000"/>
                </a:solidFill>
              </a:rPr>
              <a:t>该类的所有对象共同维护和使用</a:t>
            </a:r>
            <a:r>
              <a:rPr lang="zh-CN" altLang="en-US" sz="2400" dirty="0"/>
              <a:t>，从而实现了同一类的不同对象之间的数据共享</a:t>
            </a:r>
            <a:endParaRPr lang="en-US" altLang="zh-CN" sz="2400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具有</a:t>
            </a:r>
            <a:r>
              <a:rPr lang="zh-CN" altLang="en-US" sz="2400" dirty="0">
                <a:solidFill>
                  <a:srgbClr val="FF0000"/>
                </a:solidFill>
              </a:rPr>
              <a:t>静态生存期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80005" y="596732"/>
            <a:ext cx="29530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C9.1 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类的静态成员</a:t>
            </a:r>
          </a:p>
        </p:txBody>
      </p:sp>
      <p:pic>
        <p:nvPicPr>
          <p:cNvPr id="9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314386"/>
            <a:ext cx="914400" cy="914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5A52C79-04E6-47CF-8221-E6DC9918BF6C}"/>
              </a:ext>
            </a:extLst>
          </p:cNvPr>
          <p:cNvSpPr txBox="1"/>
          <p:nvPr/>
        </p:nvSpPr>
        <p:spPr>
          <a:xfrm>
            <a:off x="1504427" y="1333628"/>
            <a:ext cx="88275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静态对象存储于全局静态数据区，其生存周期一直持续到程序运行结束。如果将</a:t>
            </a:r>
            <a:r>
              <a:rPr lang="zh-CN" altLang="en-US" dirty="0">
                <a:solidFill>
                  <a:srgbClr val="FF0000"/>
                </a:solidFill>
              </a:rPr>
              <a:t>静态对象定义为类的数据成员</a:t>
            </a:r>
            <a:r>
              <a:rPr lang="zh-CN" altLang="en-US" sz="2000" dirty="0">
                <a:solidFill>
                  <a:schemeClr val="tx1"/>
                </a:solidFill>
              </a:rPr>
              <a:t>，便为</a:t>
            </a:r>
            <a:r>
              <a:rPr lang="zh-CN" altLang="en-US" b="1" dirty="0">
                <a:solidFill>
                  <a:srgbClr val="FF0000"/>
                </a:solidFill>
              </a:rPr>
              <a:t>类的静态数据成员</a:t>
            </a:r>
            <a:r>
              <a:rPr lang="zh-CN" altLang="en-US" sz="2000" dirty="0"/>
              <a:t>。</a:t>
            </a:r>
            <a:endParaRPr lang="zh-CN" altLang="en-US" sz="2000" b="1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E4838E-EA52-420F-ADDF-33A4BB28C909}"/>
              </a:ext>
            </a:extLst>
          </p:cNvPr>
          <p:cNvSpPr/>
          <p:nvPr/>
        </p:nvSpPr>
        <p:spPr>
          <a:xfrm>
            <a:off x="2279576" y="559949"/>
            <a:ext cx="3640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9.8.1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类的静态成员</a:t>
            </a:r>
          </a:p>
        </p:txBody>
      </p:sp>
    </p:spTree>
    <p:extLst>
      <p:ext uri="{BB962C8B-B14F-4D97-AF65-F5344CB8AC3E}">
        <p14:creationId xmlns:p14="http://schemas.microsoft.com/office/powerpoint/2010/main" val="108256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内容占位符 2"/>
          <p:cNvSpPr txBox="1">
            <a:spLocks/>
          </p:cNvSpPr>
          <p:nvPr/>
        </p:nvSpPr>
        <p:spPr>
          <a:xfrm>
            <a:off x="968469" y="2273105"/>
            <a:ext cx="9885680" cy="3251200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静态数据成员的声明及初始化</a:t>
            </a:r>
            <a:endParaRPr lang="en-US" altLang="zh-CN" sz="2400" b="1" i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采用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static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关键字来声明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类的声明是抽象的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，只能声明静态数据成员的存在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静态数据成员的初始化需要</a:t>
            </a:r>
            <a:r>
              <a:rPr lang="zh-CN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在类的外部进行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语法格式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数据类型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类名：：标识符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初始化列表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800100" lvl="1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静态数据成员是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属于类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的，可以通过类名对它进行访问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algn="l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语法格式：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类名</a:t>
            </a:r>
            <a:r>
              <a:rPr lang="en-US" altLang="zh-CN" sz="2800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标识符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314386"/>
            <a:ext cx="914400" cy="9144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8033EDB-5034-4AE0-AA1A-2571F8ED3128}"/>
              </a:ext>
            </a:extLst>
          </p:cNvPr>
          <p:cNvSpPr/>
          <p:nvPr/>
        </p:nvSpPr>
        <p:spPr>
          <a:xfrm>
            <a:off x="2279576" y="559949"/>
            <a:ext cx="4387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类的静态数据成员</a:t>
            </a:r>
          </a:p>
        </p:txBody>
      </p:sp>
    </p:spTree>
    <p:extLst>
      <p:ext uri="{BB962C8B-B14F-4D97-AF65-F5344CB8AC3E}">
        <p14:creationId xmlns:p14="http://schemas.microsoft.com/office/powerpoint/2010/main" val="696373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静态数据成员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7962E74-045B-4349-9CA1-2ECB300E6CA9}"/>
              </a:ext>
            </a:extLst>
          </p:cNvPr>
          <p:cNvSpPr txBox="1"/>
          <p:nvPr/>
        </p:nvSpPr>
        <p:spPr>
          <a:xfrm>
            <a:off x="1228725" y="1256230"/>
            <a:ext cx="88275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下述 C++程序中的 Tomato 类型试图通过静态数据成员来记录“切水果”</a:t>
            </a:r>
            <a:r>
              <a:rPr lang="zh-CN" altLang="en-US" dirty="0"/>
              <a:t>游戏当中剩余的番茄数量。（定义一个蕃茄类，用静态数据成员来记录现有蕃茄的数量）</a:t>
            </a:r>
          </a:p>
        </p:txBody>
      </p:sp>
      <p:sp>
        <p:nvSpPr>
          <p:cNvPr id="4" name="线形标注 2 3"/>
          <p:cNvSpPr/>
          <p:nvPr/>
        </p:nvSpPr>
        <p:spPr>
          <a:xfrm>
            <a:off x="5166322" y="6219372"/>
            <a:ext cx="3901478" cy="475077"/>
          </a:xfrm>
          <a:prstGeom prst="borderCallout2">
            <a:avLst>
              <a:gd name="adj1" fmla="val 87900"/>
              <a:gd name="adj2" fmla="val -2528"/>
              <a:gd name="adj3" fmla="val 74371"/>
              <a:gd name="adj4" fmla="val -16931"/>
              <a:gd name="adj5" fmla="val 76932"/>
              <a:gd name="adj6" fmla="val -12175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静态数据成员在类外进行初始化</a:t>
            </a:r>
          </a:p>
        </p:txBody>
      </p:sp>
      <p:sp>
        <p:nvSpPr>
          <p:cNvPr id="14" name="线形标注 2 13"/>
          <p:cNvSpPr/>
          <p:nvPr/>
        </p:nvSpPr>
        <p:spPr>
          <a:xfrm>
            <a:off x="4128585" y="1975650"/>
            <a:ext cx="1490628" cy="756362"/>
          </a:xfrm>
          <a:prstGeom prst="borderCallout2">
            <a:avLst>
              <a:gd name="adj1" fmla="val 87900"/>
              <a:gd name="adj2" fmla="val -2528"/>
              <a:gd name="adj3" fmla="val 127836"/>
              <a:gd name="adj4" fmla="val -23854"/>
              <a:gd name="adj5" fmla="val 226686"/>
              <a:gd name="adj6" fmla="val -8600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声明静态数据成员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BA5BD6-21A8-4DD9-93CF-FAF168C9ABEE}"/>
              </a:ext>
            </a:extLst>
          </p:cNvPr>
          <p:cNvSpPr/>
          <p:nvPr/>
        </p:nvSpPr>
        <p:spPr>
          <a:xfrm>
            <a:off x="5968962" y="1713182"/>
            <a:ext cx="6096000" cy="4524315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</a:rPr>
              <a:t>int main() {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Tomato t1;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Tomato t2[10];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Tomato *t3 = new Tomato;</a:t>
            </a:r>
            <a:endParaRPr lang="en-US" altLang="zh-CN" sz="1800" dirty="0">
              <a:solidFill>
                <a:schemeClr val="tx1"/>
              </a:solidFill>
            </a:endParaRPr>
          </a:p>
          <a:p>
            <a:endParaRPr lang="zh-CN" altLang="en-US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	cout &lt;&lt; "t1.objectCount=" &lt;&lt; t1.objectCount &lt;&lt; "t3-&gt;objectCount="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     &lt;&lt; t3-&gt;objectCount &lt;&lt; "Tomato::objectCount=" &lt;&lt; Tomato::objectCount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     &lt;&lt; endl;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delete t3;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cout &lt;&lt; "t1.objectCount=" &lt;&lt; t1.objectCount &lt;&lt; "Tomato::objectCount=" &lt;&lt; Tomato::objectCount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     &lt;&lt; endl;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	return 0;</a:t>
            </a:r>
          </a:p>
          <a:p>
            <a:r>
              <a:rPr lang="zh-CN" altLang="en-US" sz="18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4E8C38-9F5E-446B-AED0-7056A98CBDAC}"/>
              </a:ext>
            </a:extLst>
          </p:cNvPr>
          <p:cNvSpPr/>
          <p:nvPr/>
        </p:nvSpPr>
        <p:spPr>
          <a:xfrm>
            <a:off x="345573" y="2007447"/>
            <a:ext cx="5296924" cy="463203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//</a:t>
            </a:r>
            <a:r>
              <a:rPr lang="en-US" altLang="zh-CN" sz="2000" dirty="0">
                <a:solidFill>
                  <a:schemeClr val="tx1"/>
                </a:solidFill>
              </a:rPr>
              <a:t>tomatocount.cpp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#include &lt;iostream&gt;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using namespace std;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class Tomato {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public: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static int objectCount;   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float fSize {10};	 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Tomato() {objectCount++;}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~Tomato() {objectCount--;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	cout &lt;&lt; objectCount &lt;&lt; endl;}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	};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int Tomato::objectCount = 0;  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84B7F0-6107-402B-83EA-8984B8C62AB3}"/>
              </a:ext>
            </a:extLst>
          </p:cNvPr>
          <p:cNvSpPr/>
          <p:nvPr/>
        </p:nvSpPr>
        <p:spPr>
          <a:xfrm>
            <a:off x="2279576" y="559949"/>
            <a:ext cx="4387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类的静态数据成员</a:t>
            </a:r>
          </a:p>
        </p:txBody>
      </p:sp>
    </p:spTree>
    <p:extLst>
      <p:ext uri="{BB962C8B-B14F-4D97-AF65-F5344CB8AC3E}">
        <p14:creationId xmlns:p14="http://schemas.microsoft.com/office/powerpoint/2010/main" val="26356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静态数据成员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DB8C7A-0A7A-4C0B-A7A2-2EE136857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5602" y="1628800"/>
            <a:ext cx="6269453" cy="432738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DA5C08A-6A65-453A-BB20-508205048EB5}"/>
              </a:ext>
            </a:extLst>
          </p:cNvPr>
          <p:cNvSpPr txBox="1"/>
          <p:nvPr/>
        </p:nvSpPr>
        <p:spPr>
          <a:xfrm>
            <a:off x="5951156" y="1380523"/>
            <a:ext cx="57614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非静态的</a:t>
            </a:r>
            <a:r>
              <a:rPr lang="zh-CN" altLang="en-US" sz="2000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普通</a:t>
            </a:r>
            <a:r>
              <a:rPr lang="zh-CN" altLang="en-US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数据成员 fSize 在每一个 Tomato 对象内均分配存储空间，各对象的fSize 成员相互独立。</a:t>
            </a:r>
            <a:endParaRPr lang="en-US" altLang="zh-CN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静态数据成员 Tomato::objectCount 仅在全局静态数据区存储一个副本，无论是 1 号番茄还是 3 号番茄，它们的 objectCount 成员代表同一个 int 类型的对象，即Tomato::objectCount。</a:t>
            </a:r>
            <a:endParaRPr lang="en-US" altLang="zh-CN" b="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只有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类的静态数据成员可以使用类名::成员名</a:t>
            </a:r>
            <a:r>
              <a:rPr lang="zh-CN" altLang="en-US" b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的形式来使用，例如本例中objectCount 不依赖于具体的 Tomato 对象而存在。对于普通数据成fSize，Tomato::fSize 是错误的使用形式，因为 fSize 属于具体的Tomato 对象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881B13-65FC-4AA7-A51B-3B12314EEC58}"/>
              </a:ext>
            </a:extLst>
          </p:cNvPr>
          <p:cNvSpPr/>
          <p:nvPr/>
        </p:nvSpPr>
        <p:spPr>
          <a:xfrm>
            <a:off x="2279576" y="559949"/>
            <a:ext cx="4387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类的静态数据成员</a:t>
            </a:r>
          </a:p>
        </p:txBody>
      </p:sp>
    </p:spTree>
    <p:extLst>
      <p:ext uri="{BB962C8B-B14F-4D97-AF65-F5344CB8AC3E}">
        <p14:creationId xmlns:p14="http://schemas.microsoft.com/office/powerpoint/2010/main" val="86206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418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C9.1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静态成员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-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静态成员函数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F52C7F3-A903-4F58-B08F-586A8FDCABFD}"/>
              </a:ext>
            </a:extLst>
          </p:cNvPr>
          <p:cNvSpPr txBox="1"/>
          <p:nvPr/>
        </p:nvSpPr>
        <p:spPr>
          <a:xfrm>
            <a:off x="1228725" y="1810335"/>
            <a:ext cx="88275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类的成员函数也可以是静态的，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静态成员函数有如下特点：</a:t>
            </a:r>
            <a:endParaRPr lang="en-US" altLang="zh-CN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• </a:t>
            </a:r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没有 this 指针参数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，其执行不依赖于任何具体的对象。</a:t>
            </a:r>
            <a:endParaRPr lang="en-US" altLang="zh-CN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• 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在静态成员函数的函数体内，只能访问类的静态数据成员及其他静态成员函数，不能访问类的非静态成员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这是因为：非静态成员的访问依赖于具体的对象，需要通过 this 指针进行，但静态成员函数没有 this 指针。</a:t>
            </a:r>
            <a:endParaRPr lang="en-US" altLang="zh-CN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E50B2D-C28C-4BD7-B1F0-36A3ADB54011}"/>
              </a:ext>
            </a:extLst>
          </p:cNvPr>
          <p:cNvSpPr/>
          <p:nvPr/>
        </p:nvSpPr>
        <p:spPr>
          <a:xfrm>
            <a:off x="2279576" y="559949"/>
            <a:ext cx="4387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类的静态数据成员</a:t>
            </a:r>
          </a:p>
        </p:txBody>
      </p:sp>
    </p:spTree>
    <p:extLst>
      <p:ext uri="{BB962C8B-B14F-4D97-AF65-F5344CB8AC3E}">
        <p14:creationId xmlns:p14="http://schemas.microsoft.com/office/powerpoint/2010/main" val="305998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A4B24E3-BEE6-4F60-B7EC-526673E86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573" y="1312849"/>
            <a:ext cx="5453172" cy="36202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65CBB9-38BB-403C-B7EE-958E010B41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573" y="4946375"/>
            <a:ext cx="5393344" cy="16532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DB7D23-4A28-46EE-ADB1-11637B0488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6933" y="1391933"/>
            <a:ext cx="6500604" cy="33974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CD38A0-2C0C-480E-98DB-9F811D2F369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37718"/>
          <a:stretch/>
        </p:blipFill>
        <p:spPr>
          <a:xfrm>
            <a:off x="6644968" y="5401220"/>
            <a:ext cx="4131552" cy="8636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CEE9017-BA1C-4CF9-805C-3DA10D2CEDA1}"/>
              </a:ext>
            </a:extLst>
          </p:cNvPr>
          <p:cNvSpPr txBox="1"/>
          <p:nvPr/>
        </p:nvSpPr>
        <p:spPr>
          <a:xfrm>
            <a:off x="6142656" y="4560476"/>
            <a:ext cx="3481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上述程序的执行结果为：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418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C9.1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静态成员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-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静态成员函数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67069C-18C2-4DD2-8B5D-BA84D70FA623}"/>
              </a:ext>
            </a:extLst>
          </p:cNvPr>
          <p:cNvSpPr/>
          <p:nvPr/>
        </p:nvSpPr>
        <p:spPr>
          <a:xfrm>
            <a:off x="2279576" y="559949"/>
            <a:ext cx="43877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9.8.3</a:t>
            </a:r>
            <a:r>
              <a:rPr lang="zh-CN" altLang="en-US" sz="3200" b="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类的静态成员函数</a:t>
            </a:r>
          </a:p>
        </p:txBody>
      </p:sp>
    </p:spTree>
    <p:extLst>
      <p:ext uri="{BB962C8B-B14F-4D97-AF65-F5344CB8AC3E}">
        <p14:creationId xmlns:p14="http://schemas.microsoft.com/office/powerpoint/2010/main" val="366234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79576" y="551567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内容占位符 11"/>
          <p:cNvSpPr txBox="1">
            <a:spLocks/>
          </p:cNvSpPr>
          <p:nvPr/>
        </p:nvSpPr>
        <p:spPr>
          <a:xfrm>
            <a:off x="520918" y="1283916"/>
            <a:ext cx="7238464" cy="5319015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b="1" i="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常对象</a:t>
            </a:r>
            <a:endParaRPr lang="en-US" altLang="zh-CN" sz="2800" b="1" i="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定义对象时用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const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进行修饰，称为常对象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它的数据成员值在对象的整个生存期间内不能被改变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57300" lvl="2" indent="-3429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600" i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常对象在定义时必须进行初始化</a:t>
            </a:r>
            <a:endParaRPr lang="en-US" altLang="zh-CN" sz="2600" i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57300" lvl="2" indent="-3429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p"/>
            </a:pPr>
            <a:r>
              <a:rPr lang="zh-CN" altLang="en-US" sz="2600" i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常对象不能被更新</a:t>
            </a:r>
            <a:endParaRPr lang="en-US" altLang="zh-CN" sz="2600" i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声明的语法格式：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 algn="l">
              <a:lnSpc>
                <a:spcPct val="150000"/>
              </a:lnSpc>
              <a:spcBef>
                <a:spcPts val="600"/>
              </a:spcBef>
            </a:pPr>
            <a:r>
              <a:rPr lang="zh-CN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类名</a:t>
            </a:r>
            <a:r>
              <a:rPr lang="en-US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 b="1" i="1" dirty="0" err="1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const</a:t>
            </a:r>
            <a:r>
              <a:rPr lang="en-US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对象名</a:t>
            </a:r>
            <a:r>
              <a:rPr lang="en-US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或者  </a:t>
            </a:r>
            <a:r>
              <a:rPr lang="en-US" altLang="zh-CN" sz="2400" b="1" i="1" dirty="0" err="1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Const</a:t>
            </a:r>
            <a:r>
              <a:rPr lang="en-US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类名</a:t>
            </a:r>
            <a:r>
              <a:rPr lang="en-US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zh-CN" sz="2400" b="1" i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对象名</a:t>
            </a:r>
            <a:endParaRPr lang="en-US" altLang="zh-CN" sz="2400" b="1" i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800100" lvl="1" indent="-342900"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语法规定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zh-CN" sz="26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常对象只能调用常成员函数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，以保证常对象的数据成员不被修改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840662" y="1356849"/>
            <a:ext cx="4176464" cy="5262979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例如：</a:t>
            </a:r>
            <a:endParaRPr lang="en-US" altLang="zh-CN" sz="2400" b="1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class Point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{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public: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Point(</a:t>
            </a:r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i,intj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{x=</a:t>
            </a:r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i;y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=j;}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//…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private: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x,y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};</a:t>
            </a:r>
          </a:p>
          <a:p>
            <a:r>
              <a:rPr lang="en-US" altLang="zh-CN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//a</a:t>
            </a:r>
            <a:r>
              <a:rPr lang="zh-CN" altLang="en-US" sz="2400" b="1" dirty="0">
                <a:solidFill>
                  <a:srgbClr val="7030A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是常对象，不能被更新</a:t>
            </a:r>
            <a:endParaRPr lang="en-US" altLang="zh-CN" sz="2400" b="1" dirty="0">
              <a:solidFill>
                <a:srgbClr val="7030A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Point const a(3,4);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const</a:t>
            </a:r>
            <a:r>
              <a:rPr lang="en-US" altLang="zh-CN" sz="24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Point b(1,2);</a:t>
            </a:r>
            <a:endParaRPr lang="zh-CN" altLang="en-US" sz="2400" b="1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sz="2400" b="1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822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C9.2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内容占位符 2"/>
          <p:cNvSpPr txBox="1">
            <a:spLocks/>
          </p:cNvSpPr>
          <p:nvPr/>
        </p:nvSpPr>
        <p:spPr>
          <a:xfrm>
            <a:off x="856377" y="934677"/>
            <a:ext cx="10160000" cy="5034534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常成员函数</a:t>
            </a:r>
            <a:endParaRPr lang="en-US" altLang="zh-CN" sz="2400" b="1" i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类成员函数使用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关键字修饰，称为常成员函数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语法格式：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返回值类型说明符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函数名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参数表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</a:t>
            </a:r>
            <a:r>
              <a:rPr lang="zh-CN" altLang="en-US" i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zh-CN" i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是函数类型的一个组成部分，在函数实现时也要带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常成员函数不能更新对象的数据成员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mutable</a:t>
            </a:r>
            <a:r>
              <a:rPr lang="zh-CN" altLang="en-US" sz="24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类型的数据成员除外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也不能调用该类中的非常成员函数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常对象只能调用常成员函数，但是</a:t>
            </a:r>
            <a:r>
              <a:rPr lang="zh-CN" altLang="zh-CN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常成员函数可以被普通对象调用</a:t>
            </a:r>
            <a:endParaRPr lang="en-US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8C609C-AB12-4F19-89D3-06B6BB180987}"/>
              </a:ext>
            </a:extLst>
          </p:cNvPr>
          <p:cNvSpPr txBox="1"/>
          <p:nvPr/>
        </p:nvSpPr>
        <p:spPr>
          <a:xfrm>
            <a:off x="2237351" y="433585"/>
            <a:ext cx="3567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28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28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954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6732" y="1038077"/>
            <a:ext cx="10538536" cy="56323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800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private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</a:p>
          <a:p>
            <a:r>
              <a:rPr lang="en-US" altLang="zh-CN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mutable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bAbsComputed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real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image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构造函数</a:t>
            </a:r>
            <a:b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real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image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18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成员函数 返回值为常对象的引用</a:t>
            </a:r>
            <a:b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 abs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sz="18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bAbsComputed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可使用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mutable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类型的成员数据</a:t>
            </a:r>
            <a:b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180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 += 10;        //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错误 不可修改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mutable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类型的成员数据</a:t>
            </a:r>
            <a:b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//add(Complex(1,2));  //</a:t>
            </a:r>
            <a: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  <a:t>错误 不可调用非常成员函数</a:t>
            </a:r>
            <a:br>
              <a:rPr lang="zh-CN" altLang="en-US" sz="18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00627A"/>
                </a:solidFill>
                <a:latin typeface="consolas" panose="020B0609020204030204" pitchFamily="49" charset="0"/>
              </a:rPr>
              <a:t>sqrt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fReal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</a:rPr>
              <a:t>fImage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</a:rPr>
              <a:t>}};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  <a:endParaRPr lang="zh-CN" altLang="en-US" sz="18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917327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常成员函数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2367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3760939" y="1066552"/>
            <a:ext cx="4172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//Project - 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ConstMemberFunction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775520" y="4653133"/>
            <a:ext cx="7416824" cy="1943449"/>
            <a:chOff x="1749669" y="4775200"/>
            <a:chExt cx="7416824" cy="786710"/>
          </a:xfrm>
        </p:grpSpPr>
        <p:sp>
          <p:nvSpPr>
            <p:cNvPr id="4" name="矩形 3"/>
            <p:cNvSpPr/>
            <p:nvPr/>
          </p:nvSpPr>
          <p:spPr>
            <a:xfrm>
              <a:off x="1749669" y="5008392"/>
              <a:ext cx="7416824" cy="553518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4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线形标注 2 4"/>
            <p:cNvSpPr/>
            <p:nvPr/>
          </p:nvSpPr>
          <p:spPr>
            <a:xfrm>
              <a:off x="6431280" y="4775200"/>
              <a:ext cx="2032000" cy="149506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96783"/>
                <a:gd name="adj6" fmla="val -9549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常成员函数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533F3F9-02F4-48B2-88EE-55EF3D158DF7}"/>
              </a:ext>
            </a:extLst>
          </p:cNvPr>
          <p:cNvSpPr txBox="1"/>
          <p:nvPr/>
        </p:nvSpPr>
        <p:spPr>
          <a:xfrm>
            <a:off x="2237351" y="433585"/>
            <a:ext cx="3082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24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37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51583" y="1485356"/>
            <a:ext cx="6478091" cy="34778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2000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dirty="0" err="1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));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p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008080"/>
                </a:solidFill>
                <a:latin typeface="consolas" panose="020B0609020204030204" pitchFamily="49" charset="0"/>
              </a:rPr>
              <a:t>Complex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r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i="1" dirty="0">
                <a:solidFill>
                  <a:srgbClr val="8C8C8C"/>
                </a:solidFill>
                <a:latin typeface="consolas" panose="020B0609020204030204" pitchFamily="49" charset="0"/>
              </a:rPr>
              <a:t>//p-&gt;add(Complex(1,1)); </a:t>
            </a:r>
          </a:p>
          <a:p>
            <a:r>
              <a:rPr lang="en-US" altLang="zh-CN" sz="2000" i="1" dirty="0">
                <a:solidFill>
                  <a:srgbClr val="8C8C8C"/>
                </a:solidFill>
                <a:latin typeface="consolas" panose="020B0609020204030204" pitchFamily="49" charset="0"/>
              </a:rPr>
              <a:t> 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en-US" altLang="zh-CN" sz="2000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r.add</a:t>
            </a:r>
            <a:r>
              <a:rPr lang="en-US" altLang="zh-CN" sz="2000" i="1" dirty="0">
                <a:solidFill>
                  <a:srgbClr val="8C8C8C"/>
                </a:solidFill>
                <a:latin typeface="consolas" panose="020B0609020204030204" pitchFamily="49" charset="0"/>
              </a:rPr>
              <a:t>(Complex(1,1));  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007D17"/>
                </a:solidFill>
                <a:latin typeface="consolas" panose="020B0609020204030204" pitchFamily="49" charset="0"/>
              </a:rPr>
              <a:t>"abs(r) = "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en-US" altLang="zh-CN" sz="2000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000" dirty="0" err="1">
                <a:solidFill>
                  <a:srgbClr val="00627A"/>
                </a:solidFill>
                <a:latin typeface="consolas" panose="020B0609020204030204" pitchFamily="49" charset="0"/>
              </a:rPr>
              <a:t>abs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2000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00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000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endParaRPr lang="zh-CN" altLang="en-US" sz="20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常成员函数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8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37787F-4FFA-48FF-8D52-6E9DF02212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5300" r="78365" b="1"/>
          <a:stretch/>
        </p:blipFill>
        <p:spPr>
          <a:xfrm>
            <a:off x="4223792" y="6165304"/>
            <a:ext cx="2808312" cy="4320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EEC5466-AB0C-4EEE-8E4D-85B61A68AB09}"/>
              </a:ext>
            </a:extLst>
          </p:cNvPr>
          <p:cNvSpPr txBox="1"/>
          <p:nvPr/>
        </p:nvSpPr>
        <p:spPr>
          <a:xfrm>
            <a:off x="819365" y="5447070"/>
            <a:ext cx="57806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上述程序的执行结果为：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83EBD1-7824-4984-A16E-DBAE7E0E3085}"/>
              </a:ext>
            </a:extLst>
          </p:cNvPr>
          <p:cNvSpPr txBox="1"/>
          <p:nvPr/>
        </p:nvSpPr>
        <p:spPr>
          <a:xfrm>
            <a:off x="2237351" y="433585"/>
            <a:ext cx="3082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24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40555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常成员函数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1464697" y="2106281"/>
          <a:ext cx="81279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272156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305605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4652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常对象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一般对象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56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常成员函数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04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一般成员函数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×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008867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000072" y="371426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成员函数与对象之间的操作关系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6527E6-4586-4DE4-A5C9-ED06B31FDF86}"/>
              </a:ext>
            </a:extLst>
          </p:cNvPr>
          <p:cNvSpPr txBox="1"/>
          <p:nvPr/>
        </p:nvSpPr>
        <p:spPr>
          <a:xfrm>
            <a:off x="2237351" y="433585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5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常数据成员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内容占位符 2"/>
          <p:cNvSpPr txBox="1">
            <a:spLocks/>
          </p:cNvSpPr>
          <p:nvPr/>
        </p:nvSpPr>
        <p:spPr>
          <a:xfrm>
            <a:off x="789020" y="1320000"/>
            <a:ext cx="9868820" cy="5172239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const</a:t>
            </a:r>
            <a:r>
              <a:rPr lang="zh-CN" altLang="en-US" sz="2400" dirty="0"/>
              <a:t>说明的数据成员称为常数据成员</a:t>
            </a:r>
            <a:endParaRPr lang="en-US" altLang="zh-CN" sz="2400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常数据成员一经初始化就不能再被改变</a:t>
            </a:r>
            <a:endParaRPr lang="en-US" altLang="zh-CN" sz="2400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srgbClr val="FF0000"/>
                </a:solidFill>
              </a:rPr>
              <a:t>构造函数对常数据成员进行初始化</a:t>
            </a:r>
            <a:r>
              <a:rPr lang="zh-CN" altLang="zh-CN" sz="2400" dirty="0"/>
              <a:t>，</a:t>
            </a:r>
            <a:r>
              <a:rPr lang="zh-CN" altLang="zh-CN" sz="2400" dirty="0">
                <a:solidFill>
                  <a:srgbClr val="FF0000"/>
                </a:solidFill>
              </a:rPr>
              <a:t>只能通过初始化列表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初始化是在构造函数的函数头后面，用“：”连接的一组参数表</a:t>
            </a:r>
            <a:endParaRPr lang="en-US" altLang="zh-CN" sz="2400" dirty="0"/>
          </a:p>
          <a:p>
            <a:pPr lvl="1" algn="l">
              <a:lnSpc>
                <a:spcPct val="150000"/>
              </a:lnSpc>
            </a:pPr>
            <a:r>
              <a:rPr lang="zh-CN" altLang="en-US" sz="2400" dirty="0"/>
              <a:t>形式为：</a:t>
            </a:r>
            <a:r>
              <a:rPr lang="zh-CN" altLang="zh-CN" sz="2400" dirty="0"/>
              <a:t>类名</a:t>
            </a:r>
            <a:r>
              <a:rPr lang="en-US" altLang="zh-CN" sz="2400" dirty="0"/>
              <a:t>::</a:t>
            </a:r>
            <a:r>
              <a:rPr lang="zh-CN" altLang="zh-CN" sz="2400" dirty="0"/>
              <a:t>类名</a:t>
            </a:r>
            <a:r>
              <a:rPr lang="en-US" altLang="zh-CN" sz="2400" dirty="0"/>
              <a:t>(</a:t>
            </a:r>
            <a:r>
              <a:rPr lang="zh-CN" altLang="zh-CN" sz="2400" dirty="0"/>
              <a:t>参数表</a:t>
            </a:r>
            <a:r>
              <a:rPr lang="en-US" altLang="zh-CN" sz="2400" dirty="0"/>
              <a:t>):</a:t>
            </a:r>
            <a:r>
              <a:rPr lang="zh-CN" altLang="zh-CN" sz="2400" dirty="0"/>
              <a:t>初始化列表</a:t>
            </a:r>
          </a:p>
          <a:p>
            <a:pPr lvl="1" algn="l">
              <a:lnSpc>
                <a:spcPct val="150000"/>
              </a:lnSpc>
            </a:pPr>
            <a:r>
              <a:rPr lang="en-US" altLang="zh-CN" sz="2400" dirty="0"/>
              <a:t>			    {</a:t>
            </a:r>
            <a:endParaRPr lang="zh-CN" altLang="zh-CN" sz="2400" dirty="0"/>
          </a:p>
          <a:p>
            <a:pPr lvl="1" algn="l">
              <a:lnSpc>
                <a:spcPct val="150000"/>
              </a:lnSpc>
            </a:pPr>
            <a:r>
              <a:rPr lang="en-US" altLang="zh-CN" sz="2400" dirty="0"/>
              <a:t>				//</a:t>
            </a:r>
            <a:r>
              <a:rPr lang="zh-CN" altLang="zh-CN" sz="2400" dirty="0"/>
              <a:t>函数体</a:t>
            </a:r>
            <a:r>
              <a:rPr lang="en-US" altLang="zh-CN" sz="2400" dirty="0"/>
              <a:t> </a:t>
            </a:r>
            <a:endParaRPr lang="zh-CN" altLang="zh-CN" sz="2400" dirty="0"/>
          </a:p>
          <a:p>
            <a:pPr lvl="1" algn="l">
              <a:lnSpc>
                <a:spcPct val="150000"/>
              </a:lnSpc>
            </a:pPr>
            <a:r>
              <a:rPr lang="en-US" altLang="zh-CN" sz="2400" dirty="0"/>
              <a:t>			    }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/>
              <a:t>初始化列表的形式为：</a:t>
            </a:r>
            <a:r>
              <a:rPr lang="zh-CN" altLang="zh-CN" sz="2400" dirty="0">
                <a:solidFill>
                  <a:srgbClr val="FF0000"/>
                </a:solidFill>
              </a:rPr>
              <a:t>成员名</a:t>
            </a:r>
            <a:r>
              <a:rPr lang="en-US" altLang="zh-CN" sz="2400" dirty="0">
                <a:solidFill>
                  <a:srgbClr val="FF0000"/>
                </a:solidFill>
              </a:rPr>
              <a:t>1(</a:t>
            </a:r>
            <a:r>
              <a:rPr lang="zh-CN" altLang="zh-CN" sz="2400" dirty="0">
                <a:solidFill>
                  <a:srgbClr val="FF0000"/>
                </a:solidFill>
              </a:rPr>
              <a:t>初始值</a:t>
            </a:r>
            <a:r>
              <a:rPr lang="en-US" altLang="zh-CN" sz="2400" dirty="0">
                <a:solidFill>
                  <a:srgbClr val="FF0000"/>
                </a:solidFill>
              </a:rPr>
              <a:t>), </a:t>
            </a:r>
            <a:r>
              <a:rPr lang="zh-CN" altLang="zh-CN" sz="2400" dirty="0">
                <a:solidFill>
                  <a:srgbClr val="FF0000"/>
                </a:solidFill>
              </a:rPr>
              <a:t>成员名</a:t>
            </a:r>
            <a:r>
              <a:rPr lang="en-US" altLang="zh-CN" sz="2400" dirty="0">
                <a:solidFill>
                  <a:srgbClr val="FF0000"/>
                </a:solidFill>
              </a:rPr>
              <a:t>2(</a:t>
            </a:r>
            <a:r>
              <a:rPr lang="zh-CN" altLang="zh-CN" sz="2400" dirty="0">
                <a:solidFill>
                  <a:srgbClr val="FF0000"/>
                </a:solidFill>
              </a:rPr>
              <a:t>初始值</a:t>
            </a:r>
            <a:r>
              <a:rPr lang="en-US" altLang="zh-CN" sz="2400" dirty="0">
                <a:solidFill>
                  <a:srgbClr val="FF0000"/>
                </a:solidFill>
              </a:rPr>
              <a:t>), </a:t>
            </a:r>
            <a:r>
              <a:rPr lang="en-US" altLang="zh-CN" sz="2400" dirty="0"/>
              <a:t>…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7543358" y="3903038"/>
            <a:ext cx="4392488" cy="1200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  <a:ea typeface="宋体" pitchFamily="2" charset="-122"/>
              </a:rPr>
              <a:t>提示：</a:t>
            </a:r>
            <a:endParaRPr lang="en-US" altLang="zh-CN" sz="2400" b="1" dirty="0">
              <a:latin typeface="Times New Roman" pitchFamily="18" charset="0"/>
              <a:ea typeface="宋体" pitchFamily="2" charset="-122"/>
            </a:endParaRPr>
          </a:p>
          <a:p>
            <a:r>
              <a:rPr lang="zh-CN" altLang="zh-CN" sz="2400" b="1" dirty="0">
                <a:latin typeface="Times New Roman" pitchFamily="18" charset="0"/>
                <a:ea typeface="宋体" pitchFamily="2" charset="-122"/>
              </a:rPr>
              <a:t>通常把常数据成员定义为静态成员，使其成为</a:t>
            </a:r>
            <a:r>
              <a:rPr lang="zh-CN" altLang="zh-CN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类的一个常量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C33DC3-4E1C-4E34-A499-78BE267635FE}"/>
              </a:ext>
            </a:extLst>
          </p:cNvPr>
          <p:cNvSpPr txBox="1"/>
          <p:nvPr/>
        </p:nvSpPr>
        <p:spPr>
          <a:xfrm>
            <a:off x="2237351" y="433585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88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常数据成员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内容占位符 11"/>
          <p:cNvSpPr txBox="1">
            <a:spLocks/>
          </p:cNvSpPr>
          <p:nvPr/>
        </p:nvSpPr>
        <p:spPr>
          <a:xfrm>
            <a:off x="1228725" y="1375851"/>
            <a:ext cx="3553532" cy="372943"/>
          </a:xfrm>
          <a:prstGeom prst="rect">
            <a:avLst/>
          </a:prstGeom>
          <a:noFill/>
        </p:spPr>
        <p:txBody>
          <a:bodyPr vert="horz" lIns="252000" tIns="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i="0">
                <a:solidFill>
                  <a:schemeClr val="tx1"/>
                </a:solidFill>
              </a:rPr>
              <a:t>例：</a:t>
            </a:r>
            <a:r>
              <a:rPr lang="zh-CN" altLang="zh-CN" sz="2000" i="0">
                <a:solidFill>
                  <a:schemeClr val="tx1"/>
                </a:solidFill>
              </a:rPr>
              <a:t>常数据成员使用示例</a:t>
            </a:r>
            <a:endParaRPr lang="en-US" altLang="zh-CN" sz="2800" b="1" i="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1" name="TextBox 6"/>
          <p:cNvSpPr txBox="1"/>
          <p:nvPr/>
        </p:nvSpPr>
        <p:spPr>
          <a:xfrm>
            <a:off x="1390800" y="1901543"/>
            <a:ext cx="4654400" cy="470898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常数据成员示例</a:t>
            </a:r>
            <a:endParaRPr lang="en-US" altLang="zh-CN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#include &lt;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iostream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&gt;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using namespace std;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class Circle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public: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Circle(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r,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void print();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private: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radius;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     const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a;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 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常数据成员</a:t>
            </a:r>
            <a:endParaRPr lang="en-US" altLang="zh-CN" sz="20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    static const float PI;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	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静态常数据成员</a:t>
            </a:r>
            <a:endParaRPr lang="en-US" altLang="zh-CN" sz="2000" b="1" dirty="0">
              <a:solidFill>
                <a:srgbClr val="FF0000"/>
              </a:solidFill>
              <a:latin typeface="Times New Roman"/>
            </a:endParaRPr>
          </a:p>
          <a:p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};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6384032" y="2276872"/>
            <a:ext cx="5313208" cy="255454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静态常数据成员在类外说明和初始化</a:t>
            </a:r>
            <a:endParaRPr lang="en-US" altLang="zh-CN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const float Circle::PI = 3.14159;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	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	</a:t>
            </a:r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常数据成员只能通过初始化列表来获得初值</a:t>
            </a:r>
            <a:endParaRPr lang="en-US" altLang="zh-CN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Circle::Circle(int r, int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)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:a(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) 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	</a:t>
            </a:r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/*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因为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a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是常数据成员，不能把语句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a=</a:t>
            </a:r>
            <a:r>
              <a:rPr lang="en-US" altLang="zh-CN" sz="2000" b="1" dirty="0" err="1">
                <a:solidFill>
                  <a:srgbClr val="008000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;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写在构造函数体内*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</a:t>
            </a:r>
          </a:p>
          <a:p>
            <a:r>
              <a:rPr lang="en-US" altLang="zh-CN" sz="2000" dirty="0">
                <a:solidFill>
                  <a:srgbClr val="008000"/>
                </a:solidFill>
                <a:latin typeface="Times New Roman"/>
              </a:rPr>
              <a:t>radius=r;</a:t>
            </a:r>
            <a:endParaRPr lang="en-US" altLang="zh-CN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}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普通成员也可以在初始化列表中赋值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77C5E6-599E-4803-9B3B-A8C50AA41E40}"/>
              </a:ext>
            </a:extLst>
          </p:cNvPr>
          <p:cNvSpPr txBox="1"/>
          <p:nvPr/>
        </p:nvSpPr>
        <p:spPr>
          <a:xfrm>
            <a:off x="2237351" y="433585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25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animBg="1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常数据成员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911424" y="1280233"/>
            <a:ext cx="4851959" cy="53245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常数据成员示例</a:t>
            </a:r>
            <a:endParaRPr lang="en-US" altLang="zh-CN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#include &lt;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iostream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&gt;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using namespace std;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class Circle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public: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Circle(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r,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void print();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private: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radius;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     const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a;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 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常数据成员</a:t>
            </a:r>
            <a:endParaRPr lang="en-US" altLang="zh-CN" sz="2000" b="1" dirty="0">
              <a:solidFill>
                <a:srgbClr val="FF0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    static const float PI;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	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//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静态常数据成员</a:t>
            </a:r>
            <a:endParaRPr lang="en-US" altLang="zh-CN" sz="2000" b="1" dirty="0">
              <a:solidFill>
                <a:srgbClr val="FF0000"/>
              </a:solidFill>
              <a:latin typeface="Times New Roman"/>
            </a:endParaRPr>
          </a:p>
          <a:p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};</a:t>
            </a:r>
          </a:p>
          <a:p>
            <a:r>
              <a:rPr lang="en-US" altLang="zh-CN" sz="2000" b="1" dirty="0" err="1">
                <a:solidFill>
                  <a:srgbClr val="FF0000"/>
                </a:solidFill>
                <a:latin typeface="Times New Roman"/>
              </a:rPr>
              <a:t>const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 float Circle::PI = 3.14159;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	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	</a:t>
            </a:r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Circle::Circle(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r,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)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:a(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/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  <a:latin typeface="Times New Roman"/>
              </a:rPr>
              <a:t>),radius(r)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	</a:t>
            </a:r>
            <a:endParaRPr lang="zh-CN" altLang="en-US" sz="2000" b="1" dirty="0">
              <a:solidFill>
                <a:srgbClr val="008000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{}</a:t>
            </a:r>
          </a:p>
        </p:txBody>
      </p:sp>
      <p:sp>
        <p:nvSpPr>
          <p:cNvPr id="14" name="TextBox 6"/>
          <p:cNvSpPr txBox="1"/>
          <p:nvPr/>
        </p:nvSpPr>
        <p:spPr>
          <a:xfrm>
            <a:off x="6015355" y="1321123"/>
            <a:ext cx="5628640" cy="44012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void Circle::print()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   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cout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&lt;&lt;"radius="&lt;&lt;radius&lt;&lt;",        area="&lt;&lt;radius*radius*PI&lt;&lt;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endl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}</a:t>
            </a:r>
          </a:p>
          <a:p>
            <a:endParaRPr lang="en-US" altLang="zh-CN" sz="2000" b="1" dirty="0">
              <a:solidFill>
                <a:srgbClr val="0000FF"/>
              </a:solidFill>
              <a:latin typeface="Times New Roman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void main()</a:t>
            </a:r>
          </a:p>
          <a:p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/*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建立对象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x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，并以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100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和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0</a:t>
            </a:r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作为初值调用构造函数，</a:t>
            </a:r>
          </a:p>
          <a:p>
            <a:r>
              <a:rPr lang="zh-CN" altLang="en-US" sz="2000" b="1" dirty="0">
                <a:solidFill>
                  <a:srgbClr val="008000"/>
                </a:solidFill>
                <a:latin typeface="Times New Roman"/>
              </a:rPr>
              <a:t>通过构造函数的初始化列表给对象的常数据成员赋初值*</a:t>
            </a:r>
            <a:r>
              <a:rPr lang="en-US" altLang="zh-CN" sz="2000" b="1" dirty="0">
                <a:solidFill>
                  <a:srgbClr val="008000"/>
                </a:solidFill>
                <a:latin typeface="Times New Roman"/>
              </a:rPr>
              <a:t>/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{     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Circle x(100,0);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/>
              </a:rPr>
              <a:t>x.print</a:t>
            </a:r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();</a:t>
            </a:r>
          </a:p>
          <a:p>
            <a:r>
              <a:rPr lang="en-US" altLang="zh-CN" sz="2000" b="1" dirty="0">
                <a:solidFill>
                  <a:srgbClr val="0000FF"/>
                </a:solidFill>
                <a:latin typeface="Times New Roman"/>
              </a:rPr>
              <a:t>}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015355" y="5947733"/>
            <a:ext cx="4248472" cy="830997"/>
          </a:xfrm>
          <a:prstGeom prst="rect">
            <a:avLst/>
          </a:prstGeom>
          <a:solidFill>
            <a:srgbClr val="CCFF66"/>
          </a:solidFill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运行结果：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Radius=100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area=31415.9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FA22C0-F953-48B6-90DF-6D58023BD9DB}"/>
              </a:ext>
            </a:extLst>
          </p:cNvPr>
          <p:cNvSpPr txBox="1"/>
          <p:nvPr/>
        </p:nvSpPr>
        <p:spPr>
          <a:xfrm>
            <a:off x="2237351" y="433585"/>
            <a:ext cx="40511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9.8.2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常对象与常成员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532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9.9</a:t>
            </a:r>
            <a:r>
              <a:rPr lang="zh-CN" altLang="en-US" sz="32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友元</a:t>
            </a:r>
            <a:endParaRPr lang="en-US" altLang="zh-CN" sz="32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7358F60-0801-402D-AC55-580A5C8F67D8}"/>
              </a:ext>
            </a:extLst>
          </p:cNvPr>
          <p:cNvSpPr txBox="1"/>
          <p:nvPr/>
        </p:nvSpPr>
        <p:spPr>
          <a:xfrm>
            <a:off x="1228724" y="1510071"/>
            <a:ext cx="882754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使用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private 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访问控制符可以把对象成员私有。这种私有是对所有外部对象而言的，并不能达成我们对访问控制的所有需要。例如，多数家庭的银行账户密码对家庭以外成员是保密的，但对妻子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丈夫却是公开的。</a:t>
            </a:r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C++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通过友元（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friend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）语法实现这种存在例外的访问控制。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友元不属于类的成员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A367CC7-0FBD-430E-A3DE-943020BABA0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28724" y="4161967"/>
          <a:ext cx="8827543" cy="914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7476">
                  <a:extLst>
                    <a:ext uri="{9D8B030D-6E8A-4147-A177-3AD203B41FA5}">
                      <a16:colId xmlns:a16="http://schemas.microsoft.com/office/drawing/2014/main" val="1905583111"/>
                    </a:ext>
                  </a:extLst>
                </a:gridCol>
                <a:gridCol w="7690067">
                  <a:extLst>
                    <a:ext uri="{9D8B030D-6E8A-4147-A177-3AD203B41FA5}">
                      <a16:colId xmlns:a16="http://schemas.microsoft.com/office/drawing/2014/main" val="229790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不同于普通的实数，一个复数由实部和虚部两个部分构成。两个复数相加的结果等于另一个复数，结果复数的实部等于两个操作数的实部的和，虚部等于两个操作数的虚部的和。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450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60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2F2BFDF-E9F2-4569-A9F2-E1FFCB7FB82D}"/>
              </a:ext>
            </a:extLst>
          </p:cNvPr>
          <p:cNvSpPr txBox="1"/>
          <p:nvPr/>
        </p:nvSpPr>
        <p:spPr>
          <a:xfrm>
            <a:off x="10056269" y="6250496"/>
            <a:ext cx="1879577" cy="528794"/>
          </a:xfrm>
          <a:prstGeom prst="rect">
            <a:avLst/>
          </a:prstGeom>
          <a:noFill/>
        </p:spPr>
        <p:txBody>
          <a:bodyPr wrap="square" lIns="0" tIns="36000" rIns="0" bIns="0" rtlCol="0">
            <a:spAutoFit/>
          </a:bodyPr>
          <a:lstStyle/>
          <a:p>
            <a:pPr algn="r" rtl="0"/>
            <a:r>
              <a:rPr lang="en-US" altLang="zh-CN" sz="16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PROGRAMMING</a:t>
            </a:r>
            <a:endParaRPr lang="en-US" altLang="zh-CN" sz="1600" b="1" spc="-100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r" rtl="0"/>
            <a:r>
              <a:rPr lang="en-US" altLang="zh-CN" sz="1600" b="1" spc="-10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C/C++</a:t>
            </a:r>
            <a:endParaRPr lang="zh-CN" altLang="en-US" sz="1600" b="1" spc="-1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FABFA26-E01F-482D-8E1C-98161E703C27}"/>
              </a:ext>
            </a:extLst>
          </p:cNvPr>
          <p:cNvCxnSpPr>
            <a:cxnSpLocks/>
          </p:cNvCxnSpPr>
          <p:nvPr/>
        </p:nvCxnSpPr>
        <p:spPr>
          <a:xfrm>
            <a:off x="1228725" y="1228786"/>
            <a:ext cx="76009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8667F28-A0BC-4741-A26F-46E9D0350F4D}"/>
              </a:ext>
            </a:extLst>
          </p:cNvPr>
          <p:cNvSpPr txBox="1"/>
          <p:nvPr/>
        </p:nvSpPr>
        <p:spPr>
          <a:xfrm>
            <a:off x="2237351" y="433585"/>
            <a:ext cx="22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友元</a:t>
            </a:r>
            <a:r>
              <a:rPr lang="en-US" altLang="zh-CN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-</a:t>
            </a:r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友元函数</a:t>
            </a:r>
            <a:endParaRPr lang="en-US" altLang="zh-CN" sz="2400" dirty="0"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B14A1373-FEB5-4039-8DD5-59C9640D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725" y="143997"/>
            <a:ext cx="914400" cy="91440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3740A99-C6B1-4530-8DC6-D4F6B8B9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696" y="499621"/>
            <a:ext cx="2343150" cy="67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6B97B80-8240-4074-8610-C51E9778C4FB}"/>
              </a:ext>
            </a:extLst>
          </p:cNvPr>
          <p:cNvSpPr txBox="1"/>
          <p:nvPr/>
        </p:nvSpPr>
        <p:spPr>
          <a:xfrm>
            <a:off x="1203599" y="1218092"/>
            <a:ext cx="90688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下述 程序实现了复数类 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Complex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。在该类中，通过将 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add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 )及 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main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 )函数设定为该类的 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友元函数（friend </a:t>
            </a:r>
            <a:r>
              <a:rPr lang="en-US" altLang="zh-CN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function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），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允许这两个函数访问 </a:t>
            </a:r>
            <a:r>
              <a:rPr lang="zh-CN" altLang="en-US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Complex</a:t>
            </a:r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类的私有成员。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0D7315-3ED7-497B-922A-BAD0156D4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60" y="2382739"/>
            <a:ext cx="5125500" cy="32784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0D9AB75-A3C7-474F-A215-95ED65661E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818" y="2440491"/>
            <a:ext cx="5802526" cy="326853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32920C1-DBF4-447C-906E-D6CC143FC63D}"/>
              </a:ext>
            </a:extLst>
          </p:cNvPr>
          <p:cNvSpPr txBox="1"/>
          <p:nvPr/>
        </p:nvSpPr>
        <p:spPr>
          <a:xfrm>
            <a:off x="1228725" y="527976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上述代码的执行结果为：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4FD99A2-16B8-4A8C-BF6F-30B6AB37DD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725" y="5700871"/>
            <a:ext cx="4235663" cy="24783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04661" y="6037333"/>
            <a:ext cx="947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</a:rPr>
              <a:t>声明为友元的是一般函数或另一个类的成员函数。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</a:rPr>
              <a:t>友元函数可以在类内声明，也可以在类外定义，但在类外定义时不得指出函数所属的类。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E34054-B776-4AA6-B261-664EE67DF9DD}"/>
              </a:ext>
            </a:extLst>
          </p:cNvPr>
          <p:cNvSpPr txBox="1"/>
          <p:nvPr/>
        </p:nvSpPr>
        <p:spPr>
          <a:xfrm>
            <a:off x="2237351" y="433585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9.9</a:t>
            </a:r>
            <a:r>
              <a:rPr lang="zh-CN" altLang="en-US" sz="2400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友元</a:t>
            </a:r>
            <a:endParaRPr lang="en-US" altLang="zh-CN" sz="2400" dirty="0">
              <a:solidFill>
                <a:schemeClr val="tx1"/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018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808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/>
              <a:t>9. 10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模板 </a:t>
            </a:r>
          </a:p>
        </p:txBody>
      </p:sp>
      <p:sp>
        <p:nvSpPr>
          <p:cNvPr id="56323" name="文本占位符 80898"/>
          <p:cNvSpPr>
            <a:spLocks noGrp="1"/>
          </p:cNvSpPr>
          <p:nvPr>
            <p:ph idx="1"/>
          </p:nvPr>
        </p:nvSpPr>
        <p:spPr>
          <a:xfrm>
            <a:off x="838200" y="1655854"/>
            <a:ext cx="10515600" cy="4351338"/>
          </a:xfrm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kern="1200" baseline="0" dirty="0">
                <a:latin typeface="+mn-lt"/>
                <a:ea typeface="+mn-ea"/>
                <a:cs typeface="+mn-cs"/>
              </a:rPr>
              <a:t>模板：函数模板和类模板</a:t>
            </a:r>
            <a:endParaRPr lang="en-US" altLang="zh-CN" kern="1200" baseline="0" dirty="0">
              <a:latin typeface="+mn-lt"/>
              <a:ea typeface="+mn-ea"/>
              <a:cs typeface="+mn-cs"/>
            </a:endParaRPr>
          </a:p>
          <a:p>
            <a:pPr>
              <a:lnSpc>
                <a:spcPct val="140000"/>
              </a:lnSpc>
            </a:pPr>
            <a:r>
              <a:rPr lang="zh-CN" altLang="en-US" kern="1200" baseline="0" dirty="0">
                <a:latin typeface="+mn-lt"/>
                <a:ea typeface="+mn-ea"/>
                <a:cs typeface="+mn-cs"/>
              </a:rPr>
              <a:t>函数模板</a:t>
            </a:r>
            <a:endParaRPr lang="en-US" altLang="zh-CN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63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base"/>
            <a:fld id="{9A0DB2DC-4C9A-4742-B13C-FB6460FD3503}" type="slidenum">
              <a:rPr lang="zh-CN" altLang="en-US" sz="1600" b="0" dirty="0">
                <a:solidFill>
                  <a:schemeClr val="tx1"/>
                </a:solidFill>
              </a:rPr>
              <a:t>77</a:t>
            </a:fld>
            <a:endParaRPr lang="zh-CN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5440" y="3212976"/>
            <a:ext cx="8928992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get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get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get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get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343472" y="607724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可否只用一个函数？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808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kern="1200" baseline="0" dirty="0">
                <a:latin typeface="+mj-lt"/>
                <a:ea typeface="+mj-ea"/>
                <a:cs typeface="+mj-cs"/>
              </a:rPr>
              <a:t>9.10.1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函数</a:t>
            </a:r>
            <a:r>
              <a:rPr lang="en-US" altLang="zh-CN" kern="1200" baseline="0" dirty="0">
                <a:latin typeface="+mj-lt"/>
                <a:ea typeface="+mj-ea"/>
                <a:cs typeface="+mj-cs"/>
              </a:rPr>
              <a:t> 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模板 </a:t>
            </a:r>
          </a:p>
        </p:txBody>
      </p:sp>
      <p:sp>
        <p:nvSpPr>
          <p:cNvPr id="56323" name="文本占位符 80898"/>
          <p:cNvSpPr>
            <a:spLocks noGrp="1"/>
          </p:cNvSpPr>
          <p:nvPr>
            <p:ph idx="1"/>
          </p:nvPr>
        </p:nvSpPr>
        <p:spPr>
          <a:xfrm>
            <a:off x="838200" y="1655854"/>
            <a:ext cx="10515600" cy="4351338"/>
          </a:xfrm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kern="1200" baseline="0" dirty="0">
                <a:latin typeface="+mn-lt"/>
                <a:ea typeface="+mn-ea"/>
                <a:cs typeface="+mn-cs"/>
              </a:rPr>
              <a:t>函数模板</a:t>
            </a:r>
            <a:endParaRPr lang="en-US" altLang="zh-CN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63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base"/>
            <a:fld id="{9A0DB2DC-4C9A-4742-B13C-FB6460FD3503}" type="slidenum">
              <a:rPr lang="zh-CN" altLang="en-US" sz="1600" b="0" dirty="0">
                <a:solidFill>
                  <a:schemeClr val="tx1"/>
                </a:solidFill>
              </a:rPr>
              <a:t>78</a:t>
            </a:fld>
            <a:endParaRPr lang="zh-CN" altLang="en-US" sz="1600" b="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7688" y="3212976"/>
            <a:ext cx="3888432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函数模板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8" name="流程图: 过程 64515"/>
          <p:cNvSpPr/>
          <p:nvPr/>
        </p:nvSpPr>
        <p:spPr>
          <a:xfrm>
            <a:off x="8423276" y="6164263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</a:rPr>
              <a:t>10-15.cpp</a:t>
            </a:r>
          </a:p>
        </p:txBody>
      </p:sp>
    </p:spTree>
    <p:extLst>
      <p:ext uri="{BB962C8B-B14F-4D97-AF65-F5344CB8AC3E}">
        <p14:creationId xmlns:p14="http://schemas.microsoft.com/office/powerpoint/2010/main" val="17385967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808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kern="1200" baseline="0" dirty="0">
                <a:latin typeface="+mj-lt"/>
                <a:ea typeface="+mj-ea"/>
                <a:cs typeface="+mj-cs"/>
              </a:rPr>
              <a:t>9.10.2  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类模板 </a:t>
            </a:r>
          </a:p>
        </p:txBody>
      </p:sp>
      <p:sp>
        <p:nvSpPr>
          <p:cNvPr id="56323" name="文本占位符 80898"/>
          <p:cNvSpPr>
            <a:spLocks noGrp="1"/>
          </p:cNvSpPr>
          <p:nvPr>
            <p:ph idx="1"/>
          </p:nvPr>
        </p:nvSpPr>
        <p:spPr>
          <a:xfrm>
            <a:off x="838200" y="1571069"/>
            <a:ext cx="10515600" cy="4351338"/>
          </a:xfrm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kern="1200" baseline="0" dirty="0">
                <a:latin typeface="+mn-lt"/>
                <a:ea typeface="+mn-ea"/>
                <a:cs typeface="+mn-cs"/>
              </a:rPr>
              <a:t>类模板用于创建类属类和抽象数据类型，从而使程序员可以创建一般形式的类，而不必编写处理不同数据类型的类。</a:t>
            </a:r>
            <a:r>
              <a:rPr lang="en-US" altLang="zh-CN" kern="1200" baseline="0" dirty="0">
                <a:latin typeface="+mn-lt"/>
                <a:ea typeface="+mn-ea"/>
                <a:cs typeface="+mn-cs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 kern="1200" baseline="0" dirty="0">
                <a:latin typeface="+mn-lt"/>
                <a:ea typeface="+mn-ea"/>
                <a:cs typeface="+mn-cs"/>
              </a:rPr>
              <a:t>类模板的定义和实现</a:t>
            </a:r>
            <a:r>
              <a:rPr lang="zh-CN" altLang="en-US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必须在同一个文件中</a:t>
            </a:r>
            <a:r>
              <a:rPr lang="zh-CN" altLang="en-US" kern="1200" baseline="0" dirty="0">
                <a:latin typeface="+mn-lt"/>
                <a:ea typeface="+mn-ea"/>
                <a:cs typeface="+mn-cs"/>
              </a:rPr>
              <a:t>，通常是头文件。编译器看到模板实现时才展开模板。 </a:t>
            </a:r>
            <a:endParaRPr lang="en-US" altLang="zh-CN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63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base"/>
            <a:fld id="{9A0DB2DC-4C9A-4742-B13C-FB6460FD3503}" type="slidenum">
              <a:rPr lang="zh-CN" altLang="en-US" sz="1600" b="0" dirty="0">
                <a:solidFill>
                  <a:schemeClr val="tx1"/>
                </a:solidFill>
              </a:rPr>
              <a:t>79</a:t>
            </a:fld>
            <a:endParaRPr lang="zh-CN" altLang="en-US" sz="1600" b="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79576" y="3995678"/>
            <a:ext cx="106571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template &lt;class </a:t>
            </a:r>
            <a:r>
              <a:rPr lang="zh-CN" altLang="zh-CN" sz="2400" dirty="0">
                <a:solidFill>
                  <a:schemeClr val="tx1"/>
                </a:solidFill>
              </a:rPr>
              <a:t>参数化类型名</a:t>
            </a:r>
            <a:r>
              <a:rPr lang="en-US" altLang="zh-CN" sz="2400" dirty="0">
                <a:solidFill>
                  <a:schemeClr val="tx1"/>
                </a:solidFill>
              </a:rPr>
              <a:t>1,</a:t>
            </a:r>
            <a:r>
              <a:rPr lang="zh-CN" altLang="zh-CN" sz="2400" dirty="0">
                <a:solidFill>
                  <a:schemeClr val="tx1"/>
                </a:solidFill>
              </a:rPr>
              <a:t>…</a:t>
            </a:r>
            <a:r>
              <a:rPr lang="en-US" altLang="zh-CN" sz="2400" dirty="0">
                <a:solidFill>
                  <a:schemeClr val="tx1"/>
                </a:solidFill>
              </a:rPr>
              <a:t>, class </a:t>
            </a:r>
            <a:r>
              <a:rPr lang="zh-CN" altLang="zh-CN" sz="2400" dirty="0">
                <a:solidFill>
                  <a:schemeClr val="tx1"/>
                </a:solidFill>
              </a:rPr>
              <a:t>参数化类型名</a:t>
            </a:r>
            <a:r>
              <a:rPr lang="en-US" altLang="zh-CN" sz="2400" i="1" dirty="0">
                <a:solidFill>
                  <a:schemeClr val="tx1"/>
                </a:solidFill>
              </a:rPr>
              <a:t>n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class </a:t>
            </a:r>
            <a:r>
              <a:rPr lang="zh-CN" altLang="zh-CN" sz="2400" dirty="0">
                <a:solidFill>
                  <a:schemeClr val="tx1"/>
                </a:solidFill>
              </a:rPr>
              <a:t>类名</a:t>
            </a:r>
            <a:r>
              <a:rPr lang="en-US" altLang="zh-CN" sz="2400" dirty="0">
                <a:solidFill>
                  <a:schemeClr val="tx1"/>
                </a:solidFill>
              </a:rPr>
              <a:t> {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zh-CN" altLang="zh-CN" sz="2400" dirty="0">
                <a:solidFill>
                  <a:schemeClr val="tx1"/>
                </a:solidFill>
              </a:rPr>
              <a:t>数据成员定义</a:t>
            </a:r>
            <a:r>
              <a:rPr lang="en-US" altLang="zh-CN" sz="2400" dirty="0">
                <a:solidFill>
                  <a:schemeClr val="tx1"/>
                </a:solidFill>
              </a:rPr>
              <a:t>;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zh-CN" altLang="zh-CN" sz="2400" dirty="0">
                <a:solidFill>
                  <a:schemeClr val="tx1"/>
                </a:solidFill>
              </a:rPr>
              <a:t>成员函数原型</a:t>
            </a:r>
            <a:r>
              <a:rPr lang="en-US" altLang="zh-CN" sz="2400" dirty="0">
                <a:solidFill>
                  <a:schemeClr val="tx1"/>
                </a:solidFill>
              </a:rPr>
              <a:t>;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}; 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07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808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kern="1200" baseline="0" dirty="0">
                <a:latin typeface="+mj-lt"/>
                <a:ea typeface="+mj-ea"/>
                <a:cs typeface="+mj-cs"/>
              </a:rPr>
              <a:t>9.10 .2 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类模板 </a:t>
            </a:r>
          </a:p>
        </p:txBody>
      </p:sp>
      <p:sp>
        <p:nvSpPr>
          <p:cNvPr id="563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t" anchorCtr="0"/>
          <a:lstStyle>
            <a:lvl1pPr marL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fontAlgn="base"/>
            <a:fld id="{9A0DB2DC-4C9A-4742-B13C-FB6460FD3503}" type="slidenum">
              <a:rPr lang="zh-CN" altLang="en-US" sz="1600" b="0" dirty="0">
                <a:solidFill>
                  <a:schemeClr val="tx1"/>
                </a:solidFill>
              </a:rPr>
              <a:t>80</a:t>
            </a:fld>
            <a:endParaRPr lang="zh-CN" altLang="en-US" sz="1600" b="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9633" y="1609083"/>
            <a:ext cx="106571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例：</a:t>
            </a: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2454" y="2285791"/>
            <a:ext cx="5616624" cy="41549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Compare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-&gt;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altLang="zh-CN" dirty="0" err="1">
                <a:solidFill>
                  <a:srgbClr val="FFC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};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919536" y="1824126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不用类模板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300868" y="1793749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使用类模板</a:t>
            </a:r>
          </a:p>
        </p:txBody>
      </p:sp>
      <p:sp>
        <p:nvSpPr>
          <p:cNvPr id="5" name="矩形 4"/>
          <p:cNvSpPr/>
          <p:nvPr/>
        </p:nvSpPr>
        <p:spPr>
          <a:xfrm>
            <a:off x="6216601" y="2244942"/>
            <a:ext cx="5900098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template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Compare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Compare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-&gt;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-&gt;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         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FFC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min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         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)?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fr-FR" altLang="zh-CN" dirty="0">
                <a:solidFill>
                  <a:srgbClr val="40008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</a:p>
          <a:p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};</a:t>
            </a:r>
            <a:r>
              <a:rPr lang="fr-FR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2" name="流程图: 过程 64515"/>
          <p:cNvSpPr/>
          <p:nvPr/>
        </p:nvSpPr>
        <p:spPr>
          <a:xfrm>
            <a:off x="10252433" y="168633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</a:rPr>
              <a:t>10-16-1.cpp</a:t>
            </a:r>
          </a:p>
        </p:txBody>
      </p:sp>
      <p:sp>
        <p:nvSpPr>
          <p:cNvPr id="13" name="流程图: 过程 64515"/>
          <p:cNvSpPr/>
          <p:nvPr/>
        </p:nvSpPr>
        <p:spPr>
          <a:xfrm>
            <a:off x="3746170" y="177068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</a:rPr>
              <a:t>10-16.cpp</a:t>
            </a:r>
          </a:p>
        </p:txBody>
      </p:sp>
    </p:spTree>
    <p:extLst>
      <p:ext uri="{BB962C8B-B14F-4D97-AF65-F5344CB8AC3E}">
        <p14:creationId xmlns:p14="http://schemas.microsoft.com/office/powerpoint/2010/main" val="166787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1" grpId="0"/>
      <p:bldP spid="9" grpId="0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80897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kern="1200" baseline="0" dirty="0">
                <a:latin typeface="+mj-lt"/>
                <a:ea typeface="+mj-ea"/>
                <a:cs typeface="+mj-cs"/>
              </a:rPr>
              <a:t>9.10.2  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类模板 </a:t>
            </a:r>
          </a:p>
        </p:txBody>
      </p:sp>
      <p:sp>
        <p:nvSpPr>
          <p:cNvPr id="2" name="矩形 1"/>
          <p:cNvSpPr/>
          <p:nvPr/>
        </p:nvSpPr>
        <p:spPr>
          <a:xfrm>
            <a:off x="983432" y="2204864"/>
            <a:ext cx="105851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chemeClr val="accent4"/>
                </a:solidFill>
                <a:latin typeface="consolas" panose="020B0609020204030204" pitchFamily="49" charset="0"/>
              </a:rPr>
              <a:t>Compare&lt;float&gt;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1.2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4.5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定义对象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"max:"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 min:"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chemeClr val="accent4"/>
                </a:solidFill>
                <a:latin typeface="consolas" panose="020B0609020204030204" pitchFamily="49" charset="0"/>
              </a:rPr>
              <a:t>Compare&lt;string&gt;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"this is a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book"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"this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 is a desk"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"max:"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max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   min:"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10" name="流程图: 过程 64515"/>
          <p:cNvSpPr/>
          <p:nvPr/>
        </p:nvSpPr>
        <p:spPr>
          <a:xfrm>
            <a:off x="8423276" y="6164263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200" dirty="0">
                <a:solidFill>
                  <a:schemeClr val="tx1"/>
                </a:solidFill>
              </a:rPr>
              <a:t>10-16-1.cpp</a:t>
            </a:r>
          </a:p>
        </p:txBody>
      </p:sp>
    </p:spTree>
    <p:extLst>
      <p:ext uri="{BB962C8B-B14F-4D97-AF65-F5344CB8AC3E}">
        <p14:creationId xmlns:p14="http://schemas.microsoft.com/office/powerpoint/2010/main" val="29686029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680" y="1655854"/>
            <a:ext cx="10515600" cy="4351338"/>
          </a:xfrm>
        </p:spPr>
        <p:txBody>
          <a:bodyPr/>
          <a:lstStyle/>
          <a:p>
            <a:r>
              <a:rPr lang="zh-CN" altLang="en-US" dirty="0"/>
              <a:t>例：</a:t>
            </a:r>
            <a:r>
              <a:rPr lang="zh-CN" altLang="en-US" sz="2400" dirty="0"/>
              <a:t>定义一个学生类，包括学生的学号，</a:t>
            </a:r>
            <a:r>
              <a:rPr lang="en-US" altLang="zh-CN" sz="2400" dirty="0"/>
              <a:t>1</a:t>
            </a:r>
            <a:r>
              <a:rPr lang="zh-CN" altLang="en-US" sz="2400" dirty="0"/>
              <a:t>门课的分数。该类可以追加学生信息，查找学生信息，并显示所有学生信息，该类可容纳的学生人数有上限。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2636912"/>
            <a:ext cx="6513776" cy="4014724"/>
          </a:xfrm>
          <a:prstGeom prst="rect">
            <a:avLst/>
          </a:prstGeom>
        </p:spPr>
      </p:pic>
      <p:sp>
        <p:nvSpPr>
          <p:cNvPr id="6" name="标题 80897"/>
          <p:cNvSpPr>
            <a:spLocks noGrp="1"/>
          </p:cNvSpPr>
          <p:nvPr>
            <p:ph type="title"/>
          </p:nvPr>
        </p:nvSpPr>
        <p:spPr>
          <a:xfrm>
            <a:off x="838200" y="330291"/>
            <a:ext cx="10515600" cy="1325563"/>
          </a:xfrm>
        </p:spPr>
        <p:txBody>
          <a:bodyPr anchor="ctr" anchorCtr="0"/>
          <a:lstStyle/>
          <a:p>
            <a:r>
              <a:rPr lang="en-US" altLang="zh-CN" kern="1200" baseline="0" dirty="0">
                <a:latin typeface="+mj-lt"/>
                <a:ea typeface="+mj-ea"/>
                <a:cs typeface="+mj-cs"/>
              </a:rPr>
              <a:t>9.10.2   </a:t>
            </a:r>
            <a:r>
              <a:rPr lang="zh-CN" altLang="en-US" kern="1200" baseline="0" dirty="0">
                <a:latin typeface="+mj-lt"/>
                <a:ea typeface="+mj-ea"/>
                <a:cs typeface="+mj-cs"/>
              </a:rPr>
              <a:t>类模板 </a:t>
            </a:r>
          </a:p>
        </p:txBody>
      </p:sp>
    </p:spTree>
    <p:extLst>
      <p:ext uri="{BB962C8B-B14F-4D97-AF65-F5344CB8AC3E}">
        <p14:creationId xmlns:p14="http://schemas.microsoft.com/office/powerpoint/2010/main" val="20430110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3" y="260648"/>
            <a:ext cx="9056525" cy="3960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93" y="4581128"/>
            <a:ext cx="6813796" cy="2160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328" y="4725144"/>
            <a:ext cx="2804403" cy="66299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C286E7-5DF6-4042-8AD3-161B17A71D34}"/>
              </a:ext>
            </a:extLst>
          </p:cNvPr>
          <p:cNvSpPr/>
          <p:nvPr/>
        </p:nvSpPr>
        <p:spPr>
          <a:xfrm>
            <a:off x="9280592" y="6292470"/>
            <a:ext cx="2056335" cy="40011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template_stu.cpp</a:t>
            </a:r>
          </a:p>
        </p:txBody>
      </p:sp>
    </p:spTree>
    <p:extLst>
      <p:ext uri="{BB962C8B-B14F-4D97-AF65-F5344CB8AC3E}">
        <p14:creationId xmlns:p14="http://schemas.microsoft.com/office/powerpoint/2010/main" val="159379318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2872</TotalTime>
  <Words>8006</Words>
  <Application>Microsoft Office PowerPoint</Application>
  <PresentationFormat>宽屏</PresentationFormat>
  <Paragraphs>1017</Paragraphs>
  <Slides>83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102" baseType="lpstr">
      <vt:lpstr>Harmony</vt:lpstr>
      <vt:lpstr>Microsoft YaHei UI</vt:lpstr>
      <vt:lpstr>阿里巴巴普惠体 R</vt:lpstr>
      <vt:lpstr>等线</vt:lpstr>
      <vt:lpstr>等线 Light</vt:lpstr>
      <vt:lpstr>仿宋</vt:lpstr>
      <vt:lpstr>黑体</vt:lpstr>
      <vt:lpstr>华文楷体</vt:lpstr>
      <vt:lpstr>隶书</vt:lpstr>
      <vt:lpstr>宋体</vt:lpstr>
      <vt:lpstr>Arial</vt:lpstr>
      <vt:lpstr>Calibri</vt:lpstr>
      <vt:lpstr>Calibri Light</vt:lpstr>
      <vt:lpstr>consolas</vt:lpstr>
      <vt:lpstr>consolas</vt:lpstr>
      <vt:lpstr>Symbol</vt:lpstr>
      <vt:lpstr>Times New Roman</vt:lpstr>
      <vt:lpstr>Wingdings</vt:lpstr>
      <vt:lpstr>默认设计模板</vt:lpstr>
      <vt:lpstr>第 9 章   类的基础部分 </vt:lpstr>
      <vt:lpstr>9.1.1 过程化程序设计的缺陷 </vt:lpstr>
      <vt:lpstr>9.1.2 面向对象程序设计的基本思想 </vt:lpstr>
      <vt:lpstr>PowerPoint 演示文稿</vt:lpstr>
      <vt:lpstr>PowerPoint 演示文稿</vt:lpstr>
      <vt:lpstr>9.2.1 类的基本概念 </vt:lpstr>
      <vt:lpstr>PowerPoint 演示文稿</vt:lpstr>
      <vt:lpstr>PowerPoint 演示文稿</vt:lpstr>
      <vt:lpstr>PowerPoint 演示文稿</vt:lpstr>
      <vt:lpstr>9.2.2  定义成员函数 </vt:lpstr>
      <vt:lpstr>PowerPoint 演示文稿</vt:lpstr>
      <vt:lpstr>PowerPoint 演示文稿</vt:lpstr>
      <vt:lpstr>9.2.3   定义对象</vt:lpstr>
      <vt:lpstr>PowerPoint 演示文稿</vt:lpstr>
      <vt:lpstr>PowerPoint 演示文稿</vt:lpstr>
      <vt:lpstr>PowerPoint 演示文稿</vt:lpstr>
      <vt:lpstr>引入私有成员的原因 </vt:lpstr>
      <vt:lpstr>9.2.4  私有函数成员的作用 </vt:lpstr>
      <vt:lpstr>9.3 类的多文件组织 </vt:lpstr>
      <vt:lpstr>PowerPoint 演示文稿</vt:lpstr>
      <vt:lpstr>PowerPoint 演示文稿</vt:lpstr>
      <vt:lpstr>PowerPoint 演示文稿</vt:lpstr>
      <vt:lpstr>PowerPoint 演示文稿</vt:lpstr>
      <vt:lpstr>9.4  构造函数和析构函数 </vt:lpstr>
      <vt:lpstr>PowerPoint 演示文稿</vt:lpstr>
      <vt:lpstr>PowerPoint 演示文稿</vt:lpstr>
      <vt:lpstr>PowerPoint 演示文稿</vt:lpstr>
      <vt:lpstr>9.4.2   带参构造函数 </vt:lpstr>
      <vt:lpstr>PowerPoint 演示文稿</vt:lpstr>
      <vt:lpstr>9.4.4   缺省构造函数的表现形式 </vt:lpstr>
      <vt:lpstr>PowerPoint 演示文稿</vt:lpstr>
      <vt:lpstr>9.4.5构造函数的重载</vt:lpstr>
      <vt:lpstr>9.4.6    析构函数 </vt:lpstr>
      <vt:lpstr>PowerPoint 演示文稿</vt:lpstr>
      <vt:lpstr>PowerPoint 演示文稿</vt:lpstr>
      <vt:lpstr>9.4.6    析构函数</vt:lpstr>
      <vt:lpstr>PowerPoint 演示文稿</vt:lpstr>
      <vt:lpstr>PowerPoint 演示文稿</vt:lpstr>
      <vt:lpstr>PowerPoint 演示文稿</vt:lpstr>
      <vt:lpstr>PowerPoint 演示文稿</vt:lpstr>
      <vt:lpstr>构造函数应用举例—输入有效的对象 </vt:lpstr>
      <vt:lpstr>PowerPoint 演示文稿</vt:lpstr>
      <vt:lpstr>PowerPoint 演示文稿</vt:lpstr>
      <vt:lpstr>PowerPoint 演示文稿</vt:lpstr>
      <vt:lpstr>9.5  对象数组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 7对象指针</vt:lpstr>
      <vt:lpstr>PowerPoint 演示文稿</vt:lpstr>
      <vt:lpstr>9. 8类的特殊成员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 10 模板 </vt:lpstr>
      <vt:lpstr>9.10.1函数  模板 </vt:lpstr>
      <vt:lpstr>9.10.2   类模板 </vt:lpstr>
      <vt:lpstr>9.10 .2  类模板 </vt:lpstr>
      <vt:lpstr>9.10.2   类模板 </vt:lpstr>
      <vt:lpstr>9.10.2   类模板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教案</dc:title>
  <dc:subject>电子教案</dc:subject>
  <dc:creator>皮德常</dc:creator>
  <cp:lastModifiedBy>Alice</cp:lastModifiedBy>
  <cp:revision>762</cp:revision>
  <dcterms:created xsi:type="dcterms:W3CDTF">2021-09-21T08:42:00Z</dcterms:created>
  <dcterms:modified xsi:type="dcterms:W3CDTF">2024-11-30T14:55:49Z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5774DF0E93524C808382EBCE5DF16D41</vt:lpwstr>
  </property>
  <property fmtid="{D5CDD505-2E9C-101B-9397-08002B2CF9AE}" pid="3" name="KSOProductBuildVer">
    <vt:lpwstr>2052-11.1.0.11115</vt:lpwstr>
  </property>
</Properties>
</file>